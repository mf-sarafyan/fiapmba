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>
        <p:scale>
          <a:sx n="80" d="100"/>
          <a:sy n="80" d="100"/>
        </p:scale>
        <p:origin x="14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56EFF-D040-5375-493B-A723DB2F8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B389E8-9F35-66B4-FEE2-F2776953F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AA4716-5D7E-6E70-7A3A-179D6A92B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183889-09BC-20AB-81CB-382C58B3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E8E0F6-5D34-B482-5159-F310D02F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0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413EB-A5BB-DFDE-2240-18B3589F8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6A0C3D-529F-F167-21D4-BD6AC84C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46F251-1CDD-4939-47D9-C8B01D18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5D10E1-6F30-D737-988F-96EE0389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ABB6F2-F6E3-6E07-0930-37746640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81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EAD98-DFBF-EC89-A223-55D1621BB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4D8482-BF1F-3A4E-C0FF-F3EE181EE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304C58-6FF3-03D5-413E-6C3C1D42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9D0861-DA50-9EEA-73C2-18BA55E2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B06452-78E5-517E-E168-F938C969B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10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23F23-5EBA-3251-B9FD-2A81F260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880BD7-70CE-FBF8-1E83-B0267615A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76ABC2-3151-A90C-54E7-C6B62910F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382752-D973-1F2F-B781-81D7A6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CF26C3-A062-B632-E725-6F1D61567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9E172A-C117-56FE-E4F9-964CFF03E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73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6DB4D-0D07-1F30-3F35-330B527F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FBDC27-0911-F345-BAA1-3BFDE9737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F2174D-822E-24EF-1318-250D828C1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B4C6572-0CF9-8280-C7EB-D655ABA57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EE2A42-FA2E-E355-6E5E-B776F7268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431658-9352-55AB-48C1-1040D2B6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221567-6181-CE69-4CFC-9F525962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6577BD5-3E1D-534F-7C25-F89BCBB9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89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22BE0-A84F-E32B-9301-4F6BBF17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B9EDC9B-5FC3-3E8F-8D34-3EF025E4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8A5E53-774A-6784-67AC-545917DA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0E98D8-A310-0F3D-DEAE-71D90398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08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C85D31-D620-85B7-72A4-D80C8917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B14244E-C58E-5A8C-9791-2707051E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23D4E6-9F54-6408-EE7F-2BDD4C47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53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C35B4-DB0C-54C2-1FEA-4D0E789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ED7C14-C11D-73F1-BD4F-0DBACFBCB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604C3D-8A5A-41EE-7E81-A696CDFBB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BF2CC0-4B06-2CFF-34C7-EAAB824B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DA624F-B669-6E5B-CC42-0ABC539D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C535C6-FD8E-7272-E624-937BC65B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84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A7591-FD2C-76E6-E332-C9859948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AF8DD3D-4771-716D-AC47-B942B0C9C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446206-6DEA-C1F8-20E0-8A3447818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02DC4C-5903-5374-A0AD-6BD332AC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9A8720-3FA8-9CD1-582A-6A1292E0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B21313-1544-78FD-BB9C-8FBE7766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96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3CBD5-B7E0-4F5A-DD49-38032F84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195AC-8537-DB4E-DFE5-942006620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53651C-1652-5F64-0747-C0F834A2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DFCE0D-C47F-4299-B015-C0466F7D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266524-4F66-44F2-F439-08906BC3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88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EACD9D-01DE-0A8A-ADD4-5A4C76CFB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23D11E-53D6-D131-6508-DD570A25A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1F126F-A9B4-7497-54DD-63C8C756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1787EE-00FF-2595-AFC0-1F8316DD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E547DE-C5DC-2106-737E-0C981D72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11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B9AADFA-943E-2685-4696-4CB9E0E9C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898085-2777-A7F6-348B-55B106307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201D1E-580A-A48E-9D93-108F8161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3EE33-C5A7-4DA7-AC1B-343B52E4D449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F5112C-EA1A-F2F5-D4FB-2E66F1025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632F6-2264-C6BA-AE07-2EC205A1D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4017E-0616-4D6C-B600-031E0757E8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20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11BAAFA-EE09-37BF-D82A-8FAE0638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25" y="1907381"/>
            <a:ext cx="6450003" cy="30432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E4B5629-EDF5-8543-7E67-3AC2B5D53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824" y="2238374"/>
            <a:ext cx="2381251" cy="238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646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ED2665F-E270-08A7-A9DD-7C35FCCB7738}"/>
              </a:ext>
            </a:extLst>
          </p:cNvPr>
          <p:cNvSpPr txBox="1"/>
          <p:nvPr/>
        </p:nvSpPr>
        <p:spPr>
          <a:xfrm>
            <a:off x="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Cadastro de cliente com fotos e assinatura eletrônica, e informações dos contatos do cliente – Relacional + </a:t>
            </a:r>
            <a:r>
              <a:rPr lang="pt-BR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MongoDB</a:t>
            </a:r>
            <a:endParaRPr lang="pt-BR" sz="1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A6B46A-CB71-E0C8-D251-1376EA7D2EBE}"/>
              </a:ext>
            </a:extLst>
          </p:cNvPr>
          <p:cNvSpPr txBox="1"/>
          <p:nvPr/>
        </p:nvSpPr>
        <p:spPr>
          <a:xfrm>
            <a:off x="126693" y="5735582"/>
            <a:ext cx="5493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Relacional: </a:t>
            </a:r>
            <a:r>
              <a:rPr lang="pt-BR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Dados estruturados</a:t>
            </a:r>
            <a:r>
              <a:rPr lang="pt-BR" sz="12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como Nome, CPF e demais contatos devem ser feitos em Diagramas Relacionais pois garantem a integridade e unicidade dos dados, que é crucial para uma instituição financeira.</a:t>
            </a:r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5C103B-07F7-EBD7-12CD-ED6DA1EB4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4" y="1234542"/>
            <a:ext cx="5493055" cy="37897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aixa de Texto 2">
            <a:extLst>
              <a:ext uri="{FF2B5EF4-FFF2-40B4-BE49-F238E27FC236}">
                <a16:creationId xmlns:a16="http://schemas.microsoft.com/office/drawing/2014/main" id="{CB9CC811-4256-2B6E-AABC-831F8BACD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2694" y="323194"/>
            <a:ext cx="5715635" cy="1981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TIPO_CONTATO (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ID_Tipo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INT PRIMARY KEY,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Descricao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VARCHAR(50) NOT NULL UNIQUE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TIPO_CONTATO (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ID_Tipo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Descricao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 VALUES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(1, 'Email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Pessoal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'),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(2, 'Email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Comercial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'),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(3, '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Telefone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Celular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'),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(4, '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Telefone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Fixo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'),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(5, '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Endereço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Residencial'),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(6, '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Endereço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Comercial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');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9" name="Caixa de Texto 2">
            <a:extLst>
              <a:ext uri="{FF2B5EF4-FFF2-40B4-BE49-F238E27FC236}">
                <a16:creationId xmlns:a16="http://schemas.microsoft.com/office/drawing/2014/main" id="{4957CBD9-B755-571F-7FC1-ACB6A17CD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2694" y="2571600"/>
            <a:ext cx="5715635" cy="1838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CONTA (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ID_Conta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INT PRIMARY KEY,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-- Chave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Estrangeira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ligando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à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tabela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CLIENTE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ID_Cliente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INT NOT NULL,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Tipo_Conta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VARCHAR(50) NOT NULL,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Tipo_Cliente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VARCHAR(50),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Segmento_Cliente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VARCHAR(50),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Faixa_De_Risco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VARCHAR(50),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--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Definição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da Chave 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Estrangeira</a:t>
            </a:r>
            <a:endParaRPr lang="en-US" sz="10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FOREIGN KEY (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ID_Cliente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 REFERENCES CLIENTE(</a:t>
            </a:r>
            <a:r>
              <a:rPr lang="en-US" sz="10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ID_Cliente</a:t>
            </a: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sz="10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10" name="Caixa de Texto 5">
            <a:extLst>
              <a:ext uri="{FF2B5EF4-FFF2-40B4-BE49-F238E27FC236}">
                <a16:creationId xmlns:a16="http://schemas.microsoft.com/office/drawing/2014/main" id="{6DF335E8-D256-A901-7E88-779929078DF4}"/>
              </a:ext>
            </a:extLst>
          </p:cNvPr>
          <p:cNvSpPr txBox="1"/>
          <p:nvPr/>
        </p:nvSpPr>
        <p:spPr>
          <a:xfrm>
            <a:off x="6222694" y="4736989"/>
            <a:ext cx="5704840" cy="19971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defRPr sz="800" kern="100">
                <a:solidFill>
                  <a:schemeClr val="dk1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pt-BR" sz="1000" dirty="0"/>
              <a:t>CREATE TABLE CONTATO (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ID_Contato</a:t>
            </a:r>
            <a:r>
              <a:rPr lang="pt-BR" sz="1000" dirty="0"/>
              <a:t> INT PRIMARY KEY,</a:t>
            </a:r>
          </a:p>
          <a:p>
            <a:r>
              <a:rPr lang="pt-BR" sz="1000" dirty="0"/>
              <a:t>    -- Chaves Estrangeiras para definir o relacionamento: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ID_Cliente</a:t>
            </a:r>
            <a:r>
              <a:rPr lang="pt-BR" sz="1000" dirty="0"/>
              <a:t> INT NOT NULL,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ID_Tipo</a:t>
            </a:r>
            <a:r>
              <a:rPr lang="pt-BR" sz="1000" dirty="0"/>
              <a:t> INT NOT NULL,</a:t>
            </a:r>
          </a:p>
          <a:p>
            <a:r>
              <a:rPr lang="pt-BR" sz="1000" dirty="0"/>
              <a:t>    Valor VARCHAR(255) NOT NULL, -- O valor do contato (telefone, e-mail, </a:t>
            </a:r>
            <a:r>
              <a:rPr lang="pt-BR" sz="1000" dirty="0" err="1"/>
              <a:t>etc</a:t>
            </a:r>
            <a:r>
              <a:rPr lang="pt-BR" sz="1000" dirty="0"/>
              <a:t>)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Contato_Principal</a:t>
            </a:r>
            <a:r>
              <a:rPr lang="pt-BR" sz="1000" dirty="0"/>
              <a:t> BOOLEAN, -- Flag para indicar qual é o contato preferencial</a:t>
            </a:r>
          </a:p>
          <a:p>
            <a:r>
              <a:rPr lang="pt-BR" sz="1000" dirty="0"/>
              <a:t>    -- Chaves Estrangeiras</a:t>
            </a:r>
          </a:p>
          <a:p>
            <a:r>
              <a:rPr lang="pt-BR" sz="1000" dirty="0"/>
              <a:t>    FOREIGN KEY (</a:t>
            </a:r>
            <a:r>
              <a:rPr lang="pt-BR" sz="1000" dirty="0" err="1"/>
              <a:t>ID_Cliente</a:t>
            </a:r>
            <a:r>
              <a:rPr lang="pt-BR" sz="1000" dirty="0"/>
              <a:t>) REFERENCES CLIENTE(</a:t>
            </a:r>
            <a:r>
              <a:rPr lang="pt-BR" sz="1000" dirty="0" err="1"/>
              <a:t>ID_Cliente</a:t>
            </a:r>
            <a:r>
              <a:rPr lang="pt-BR" sz="1000" dirty="0"/>
              <a:t>),</a:t>
            </a:r>
          </a:p>
          <a:p>
            <a:r>
              <a:rPr lang="pt-BR" sz="1000" dirty="0"/>
              <a:t>FOREIGN KEY (</a:t>
            </a:r>
            <a:r>
              <a:rPr lang="pt-BR" sz="1000" dirty="0" err="1"/>
              <a:t>ID_Tipo</a:t>
            </a:r>
            <a:r>
              <a:rPr lang="pt-BR" sz="1000" dirty="0"/>
              <a:t>) REFERENCES TIPO_CONTATO(</a:t>
            </a:r>
            <a:r>
              <a:rPr lang="pt-BR" sz="1000" dirty="0" err="1"/>
              <a:t>ID_Tipo</a:t>
            </a:r>
            <a:r>
              <a:rPr lang="pt-BR" sz="1000" dirty="0"/>
              <a:t>)</a:t>
            </a:r>
          </a:p>
          <a:p>
            <a:r>
              <a:rPr lang="pt-BR" sz="1000" dirty="0"/>
              <a:t>);</a:t>
            </a:r>
          </a:p>
          <a:p>
            <a:r>
              <a:rPr lang="pt-BR" sz="1000" dirty="0"/>
              <a:t> </a:t>
            </a:r>
          </a:p>
          <a:p>
            <a:r>
              <a:rPr lang="pt-BR" sz="1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3981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83FA1-6C81-FCCA-63A2-63E1E434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02619E7-7E36-FE2E-47B2-B1641D7A8C72}"/>
              </a:ext>
            </a:extLst>
          </p:cNvPr>
          <p:cNvSpPr txBox="1"/>
          <p:nvPr/>
        </p:nvSpPr>
        <p:spPr>
          <a:xfrm>
            <a:off x="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Cadastro de cliente com fotos e assinatura eletrônica, e informações dos contatos do cliente – Relacional + </a:t>
            </a:r>
            <a:r>
              <a:rPr lang="pt-BR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MongoDB</a:t>
            </a:r>
            <a:endParaRPr lang="pt-BR" sz="1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17536A-A852-FCC3-54E4-EEFB5BCB9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4" y="831705"/>
            <a:ext cx="5493055" cy="37897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5C4D79-786A-E90A-5474-A06E5EB28017}"/>
              </a:ext>
            </a:extLst>
          </p:cNvPr>
          <p:cNvSpPr txBox="1"/>
          <p:nvPr/>
        </p:nvSpPr>
        <p:spPr>
          <a:xfrm>
            <a:off x="127964" y="4929908"/>
            <a:ext cx="5491785" cy="166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Mongo</a:t>
            </a:r>
            <a:r>
              <a:rPr lang="pt-BR" sz="12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principal motivo é a flexibilidade do seu modelo orientado a documentos e a alta performance de leitura para dados complexos e dinâmicos. Para armazenar informações de assinatura eletrônica e fotos de clientes no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MongoDB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 recomendado armazenar o arquivo em um serviço de armazenamento de objetos (como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Amazon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S3, Google Cloud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Storage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ou Azure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Blob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Storage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e guardar no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MongoDB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apenas a </a:t>
            </a: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referência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(o link ou o caminho) para esse arquivo. Isso mantém o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MongoDB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rápido e evita documentos muito grandes.</a:t>
            </a:r>
          </a:p>
        </p:txBody>
      </p:sp>
      <p:sp>
        <p:nvSpPr>
          <p:cNvPr id="2" name="Caixa de Texto 6">
            <a:extLst>
              <a:ext uri="{FF2B5EF4-FFF2-40B4-BE49-F238E27FC236}">
                <a16:creationId xmlns:a16="http://schemas.microsoft.com/office/drawing/2014/main" id="{4A5CF013-802D-EF6E-E523-E0E77DF9B4BD}"/>
              </a:ext>
            </a:extLst>
          </p:cNvPr>
          <p:cNvSpPr txBox="1"/>
          <p:nvPr/>
        </p:nvSpPr>
        <p:spPr>
          <a:xfrm>
            <a:off x="6365546" y="261609"/>
            <a:ext cx="5321629" cy="5291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defRPr sz="800" kern="100">
                <a:solidFill>
                  <a:schemeClr val="dk1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pt-BR" sz="1000" dirty="0" err="1"/>
              <a:t>db.clientes.insertOne</a:t>
            </a:r>
            <a:r>
              <a:rPr lang="pt-BR" sz="1000" dirty="0"/>
              <a:t>(</a:t>
            </a:r>
          </a:p>
          <a:p>
            <a:r>
              <a:rPr lang="pt-BR" sz="1000" dirty="0"/>
              <a:t>  {</a:t>
            </a:r>
          </a:p>
          <a:p>
            <a:r>
              <a:rPr lang="pt-BR" sz="1000" dirty="0"/>
              <a:t>    // --- DADOS BÁSICOS (Estruturados, link com o diagrama relacional Cliente) ---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Id_Cliente</a:t>
            </a:r>
            <a:r>
              <a:rPr lang="pt-BR" sz="1000" dirty="0"/>
              <a:t>: "111",</a:t>
            </a:r>
          </a:p>
          <a:p>
            <a:r>
              <a:rPr lang="pt-BR" sz="1000" dirty="0"/>
              <a:t>    CPF: "123.456.789-00",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DataNascimento</a:t>
            </a:r>
            <a:r>
              <a:rPr lang="pt-BR" sz="1000" dirty="0"/>
              <a:t>: new Date("1985-10-22"),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Endereco</a:t>
            </a:r>
            <a:r>
              <a:rPr lang="pt-BR" sz="1000" dirty="0"/>
              <a:t>: "Rua XXX, 100",</a:t>
            </a:r>
          </a:p>
          <a:p>
            <a:r>
              <a:rPr lang="pt-BR" sz="1000" dirty="0"/>
              <a:t>// --- FOTOS E ASSINATURAS ---</a:t>
            </a:r>
          </a:p>
          <a:p>
            <a:r>
              <a:rPr lang="pt-BR" sz="1000" dirty="0"/>
              <a:t>    // Campo para a foto do cliente (</a:t>
            </a:r>
            <a:r>
              <a:rPr lang="pt-BR" sz="1000" dirty="0" err="1"/>
              <a:t>ex</a:t>
            </a:r>
            <a:r>
              <a:rPr lang="pt-BR" sz="1000" dirty="0"/>
              <a:t>: foto de perfil ou documento)</a:t>
            </a:r>
          </a:p>
          <a:p>
            <a:r>
              <a:rPr lang="pt-BR" sz="1000" dirty="0"/>
              <a:t>    documentos: {</a:t>
            </a:r>
          </a:p>
          <a:p>
            <a:r>
              <a:rPr lang="pt-BR" sz="1000" dirty="0"/>
              <a:t>      </a:t>
            </a:r>
            <a:r>
              <a:rPr lang="pt-BR" sz="1000" dirty="0" err="1"/>
              <a:t>fotoPerfilUrl</a:t>
            </a:r>
            <a:r>
              <a:rPr lang="pt-BR" sz="1000" dirty="0"/>
              <a:t>: "https://seu-servico-storage.com/clientes/12345/foto_perfil.jpg",</a:t>
            </a:r>
          </a:p>
          <a:p>
            <a:r>
              <a:rPr lang="pt-BR" sz="1000" dirty="0"/>
              <a:t>      </a:t>
            </a:r>
            <a:r>
              <a:rPr lang="pt-BR" sz="1000" dirty="0" err="1"/>
              <a:t>documentoFrenteUrl</a:t>
            </a:r>
            <a:r>
              <a:rPr lang="pt-BR" sz="1000" dirty="0"/>
              <a:t>: "https://seu-servico-storage.com/clientes/12345/doc_frente.jpg",</a:t>
            </a:r>
          </a:p>
          <a:p>
            <a:r>
              <a:rPr lang="pt-BR" sz="1000" dirty="0"/>
              <a:t>      // Armazena metadados do arquivo, como o nome </a:t>
            </a:r>
          </a:p>
          <a:p>
            <a:r>
              <a:rPr lang="pt-BR" sz="1000" dirty="0"/>
              <a:t>      </a:t>
            </a:r>
            <a:r>
              <a:rPr lang="pt-BR" sz="1000" dirty="0" err="1"/>
              <a:t>metadadosFotoPerfil</a:t>
            </a:r>
            <a:r>
              <a:rPr lang="pt-BR" sz="1000" dirty="0"/>
              <a:t>: {</a:t>
            </a:r>
          </a:p>
          <a:p>
            <a:r>
              <a:rPr lang="pt-BR" sz="1000" dirty="0"/>
              <a:t>          </a:t>
            </a:r>
            <a:r>
              <a:rPr lang="pt-BR" sz="1000" dirty="0" err="1"/>
              <a:t>nomeOriginal</a:t>
            </a:r>
            <a:r>
              <a:rPr lang="pt-BR" sz="1000" dirty="0"/>
              <a:t>: "foto_cliente_joao.jpg",</a:t>
            </a:r>
          </a:p>
          <a:p>
            <a:r>
              <a:rPr lang="pt-BR" sz="1000" dirty="0"/>
              <a:t>          </a:t>
            </a:r>
            <a:r>
              <a:rPr lang="pt-BR" sz="1000" dirty="0" err="1"/>
              <a:t>DataUpload</a:t>
            </a:r>
            <a:r>
              <a:rPr lang="pt-BR" sz="1000" dirty="0"/>
              <a:t>: new Date()</a:t>
            </a:r>
          </a:p>
          <a:p>
            <a:r>
              <a:rPr lang="pt-BR" sz="1000" dirty="0"/>
              <a:t>      }</a:t>
            </a:r>
          </a:p>
          <a:p>
            <a:r>
              <a:rPr lang="pt-BR" sz="1000" dirty="0"/>
              <a:t>    },</a:t>
            </a:r>
          </a:p>
          <a:p>
            <a:r>
              <a:rPr lang="pt-BR" sz="1000" dirty="0"/>
              <a:t>    // Campo para a assinatura eletrônica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assinaturaEletronica</a:t>
            </a:r>
            <a:r>
              <a:rPr lang="pt-BR" sz="1000" dirty="0"/>
              <a:t>: {</a:t>
            </a:r>
          </a:p>
          <a:p>
            <a:r>
              <a:rPr lang="pt-BR" sz="1000" dirty="0"/>
              <a:t>      // URL para a imagem da assinatura</a:t>
            </a:r>
          </a:p>
          <a:p>
            <a:r>
              <a:rPr lang="pt-BR" sz="1000" dirty="0"/>
              <a:t>      </a:t>
            </a:r>
            <a:r>
              <a:rPr lang="pt-BR" sz="1000" dirty="0" err="1"/>
              <a:t>urlAssinatura</a:t>
            </a:r>
            <a:r>
              <a:rPr lang="pt-BR" sz="1000" dirty="0"/>
              <a:t>: "https://seu-servico-storage.com/clientes/12345/assinatura.png",</a:t>
            </a:r>
          </a:p>
          <a:p>
            <a:r>
              <a:rPr lang="pt-BR" sz="1000" dirty="0"/>
              <a:t>      // </a:t>
            </a:r>
            <a:r>
              <a:rPr lang="pt-BR" sz="1000" dirty="0" err="1"/>
              <a:t>Hash</a:t>
            </a:r>
            <a:r>
              <a:rPr lang="pt-BR" sz="1000" dirty="0"/>
              <a:t> para garantir a integridade e autenticidade legal da assinatura</a:t>
            </a:r>
          </a:p>
          <a:p>
            <a:r>
              <a:rPr lang="pt-BR" sz="1000" dirty="0"/>
              <a:t>      </a:t>
            </a:r>
            <a:r>
              <a:rPr lang="pt-BR" sz="1000" dirty="0" err="1"/>
              <a:t>hashVerificacao</a:t>
            </a:r>
            <a:r>
              <a:rPr lang="pt-BR" sz="1000" dirty="0"/>
              <a:t>: "sha256-abcdef1234567890...", </a:t>
            </a:r>
          </a:p>
          <a:p>
            <a:r>
              <a:rPr lang="pt-BR" sz="1000" dirty="0"/>
              <a:t>      // Data e hora de quando a assinatura foi capturada</a:t>
            </a:r>
          </a:p>
          <a:p>
            <a:r>
              <a:rPr lang="pt-BR" sz="1000" dirty="0"/>
              <a:t>      </a:t>
            </a:r>
            <a:r>
              <a:rPr lang="en-US" sz="1000" dirty="0" err="1"/>
              <a:t>dataCaptura</a:t>
            </a:r>
            <a:r>
              <a:rPr lang="en-US" sz="1000" dirty="0"/>
              <a:t>: new Date("2025-10-22T11:00:00Z"),</a:t>
            </a:r>
            <a:endParaRPr lang="pt-BR" sz="1000" dirty="0"/>
          </a:p>
          <a:p>
            <a:r>
              <a:rPr lang="en-US" sz="1000" dirty="0"/>
              <a:t>      </a:t>
            </a:r>
            <a:r>
              <a:rPr lang="pt-BR" sz="1000" dirty="0"/>
              <a:t>// Dados técnicos como IP e dispositivo (para auditoria)</a:t>
            </a:r>
          </a:p>
          <a:p>
            <a:r>
              <a:rPr lang="pt-BR" sz="1000" dirty="0"/>
              <a:t>      </a:t>
            </a:r>
            <a:r>
              <a:rPr lang="pt-BR" sz="1000" dirty="0" err="1"/>
              <a:t>ipCaptura</a:t>
            </a:r>
            <a:r>
              <a:rPr lang="pt-BR" sz="1000" dirty="0"/>
              <a:t>: "203.0.113.45" </a:t>
            </a:r>
          </a:p>
          <a:p>
            <a:r>
              <a:rPr lang="pt-BR" sz="1000" dirty="0"/>
              <a:t>    },</a:t>
            </a:r>
          </a:p>
          <a:p>
            <a:r>
              <a:rPr lang="pt-BR" sz="1000" dirty="0"/>
              <a:t> </a:t>
            </a:r>
          </a:p>
        </p:txBody>
      </p:sp>
      <p:sp>
        <p:nvSpPr>
          <p:cNvPr id="6" name="Caixa de Texto 7">
            <a:extLst>
              <a:ext uri="{FF2B5EF4-FFF2-40B4-BE49-F238E27FC236}">
                <a16:creationId xmlns:a16="http://schemas.microsoft.com/office/drawing/2014/main" id="{78E2F2A4-0288-8B7D-64CA-F2BCAE27486C}"/>
              </a:ext>
            </a:extLst>
          </p:cNvPr>
          <p:cNvSpPr txBox="1"/>
          <p:nvPr/>
        </p:nvSpPr>
        <p:spPr>
          <a:xfrm>
            <a:off x="6365545" y="5696875"/>
            <a:ext cx="5321629" cy="899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defRPr sz="800" kern="100">
                <a:solidFill>
                  <a:schemeClr val="dk1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pt-BR" sz="1000" dirty="0"/>
              <a:t>    // --- STATUS DO CADASTRO ---</a:t>
            </a:r>
          </a:p>
          <a:p>
            <a:r>
              <a:rPr lang="pt-BR" sz="1000" dirty="0"/>
              <a:t>    status: "Ativo",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dataCriacao</a:t>
            </a:r>
            <a:r>
              <a:rPr lang="pt-BR" sz="1000" dirty="0"/>
              <a:t>: new Date()</a:t>
            </a:r>
          </a:p>
          <a:p>
            <a:r>
              <a:rPr lang="pt-BR" sz="1000" dirty="0"/>
              <a:t>  }</a:t>
            </a:r>
          </a:p>
          <a:p>
            <a:r>
              <a:rPr lang="pt-BR" sz="1000" dirty="0"/>
              <a:t>)</a:t>
            </a:r>
          </a:p>
          <a:p>
            <a:r>
              <a:rPr lang="pt-BR" sz="1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4837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5E1E34B-72FB-C194-2D67-2FAA01A5C788}"/>
              </a:ext>
            </a:extLst>
          </p:cNvPr>
          <p:cNvSpPr txBox="1"/>
          <p:nvPr/>
        </p:nvSpPr>
        <p:spPr>
          <a:xfrm>
            <a:off x="0" y="-19665"/>
            <a:ext cx="6096000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Processo de transações (Doc, TED, Pix) - Relacional</a:t>
            </a: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D39468FE-E00D-020A-DDFD-7ECE67FA8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31" y="704983"/>
            <a:ext cx="5400040" cy="23482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1AD906F-CB58-DDCC-4C7A-9D8015F6EFD5}"/>
              </a:ext>
            </a:extLst>
          </p:cNvPr>
          <p:cNvSpPr txBox="1"/>
          <p:nvPr/>
        </p:nvSpPr>
        <p:spPr>
          <a:xfrm>
            <a:off x="82940" y="6160592"/>
            <a:ext cx="6120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Relacional: </a:t>
            </a:r>
            <a:r>
              <a:rPr lang="pt-BR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Operações bancárias precisam de </a:t>
            </a:r>
            <a:r>
              <a:rPr lang="pt-BR" sz="12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rollback</a:t>
            </a:r>
            <a:r>
              <a:rPr lang="pt-BR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seguro em caso de falha, ferramentas de auditoria e controle já se baseiam em modelos relacionais.</a:t>
            </a:r>
            <a:endParaRPr lang="pt-BR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A2F683-202C-73E5-877E-6DA003310EC2}"/>
              </a:ext>
            </a:extLst>
          </p:cNvPr>
          <p:cNvSpPr txBox="1"/>
          <p:nvPr/>
        </p:nvSpPr>
        <p:spPr>
          <a:xfrm>
            <a:off x="180831" y="361671"/>
            <a:ext cx="754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</a:t>
            </a:r>
            <a:endParaRPr lang="pt-BR" sz="1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AB1472-7E2B-6E23-FFE0-7D116A3F87E7}"/>
              </a:ext>
            </a:extLst>
          </p:cNvPr>
          <p:cNvSpPr txBox="1"/>
          <p:nvPr/>
        </p:nvSpPr>
        <p:spPr>
          <a:xfrm>
            <a:off x="180831" y="3119526"/>
            <a:ext cx="754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pt-BR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</a:t>
            </a:r>
            <a:endParaRPr lang="pt-BR" sz="1200" dirty="0"/>
          </a:p>
        </p:txBody>
      </p:sp>
      <p:pic>
        <p:nvPicPr>
          <p:cNvPr id="10" name="Imagem 9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201110D-EA27-0CCA-302B-CB0E3B5F2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31" y="3462838"/>
            <a:ext cx="5400040" cy="2631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aixa de Texto 2">
            <a:extLst>
              <a:ext uri="{FF2B5EF4-FFF2-40B4-BE49-F238E27FC236}">
                <a16:creationId xmlns:a16="http://schemas.microsoft.com/office/drawing/2014/main" id="{4FA6299E-9F7E-9A08-62C1-2FE055B93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155" y="190978"/>
            <a:ext cx="5715635" cy="13987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</a:pP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`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clientes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(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`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id_cliente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integer PRIMARY KEY COMMENT '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Identificador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único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do 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cliente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',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`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nome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varchar(255) NOT NULL,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`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cpf_cnpj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varchar(255) UNIQUE NOT NULL COMMENT 'CPF 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ou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CNPJ do 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cliente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',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</a:t>
            </a: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</a:t>
            </a:r>
            <a:r>
              <a:rPr lang="pt-BR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data_nascimento</a:t>
            </a: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date,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`</a:t>
            </a:r>
            <a:r>
              <a:rPr lang="pt-BR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endereco</a:t>
            </a: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</a:t>
            </a:r>
            <a:r>
              <a:rPr lang="pt-BR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text</a:t>
            </a: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telefone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varchar(255),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`email` varchar(255),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 `</a:t>
            </a:r>
            <a:r>
              <a:rPr lang="en-US" sz="800" kern="100" dirty="0" err="1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created_at</a:t>
            </a:r>
            <a:r>
              <a:rPr lang="en-US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` timestamp DEFAULT (now())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pt-B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pt-BR" sz="1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Caixa de Texto 2">
            <a:extLst>
              <a:ext uri="{FF2B5EF4-FFF2-40B4-BE49-F238E27FC236}">
                <a16:creationId xmlns:a16="http://schemas.microsoft.com/office/drawing/2014/main" id="{C74AEB05-4382-87CD-E1EA-F58A8558B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520" y="1660285"/>
            <a:ext cx="5716270" cy="12570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defRPr sz="800" kern="10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CREATE TABLE `contas` (</a:t>
            </a:r>
          </a:p>
          <a:p>
            <a:r>
              <a:rPr lang="pt-BR" dirty="0"/>
              <a:t>  `</a:t>
            </a:r>
            <a:r>
              <a:rPr lang="pt-BR" dirty="0" err="1"/>
              <a:t>id_conta</a:t>
            </a:r>
            <a:r>
              <a:rPr lang="pt-BR" dirty="0"/>
              <a:t>` </a:t>
            </a:r>
            <a:r>
              <a:rPr lang="pt-BR" dirty="0" err="1"/>
              <a:t>integer</a:t>
            </a:r>
            <a:r>
              <a:rPr lang="pt-BR" dirty="0"/>
              <a:t> PRIMARY KEY COMMENT 'Identificador único da conta',</a:t>
            </a:r>
          </a:p>
          <a:p>
            <a:r>
              <a:rPr lang="pt-BR" dirty="0"/>
              <a:t>  `</a:t>
            </a:r>
            <a:r>
              <a:rPr lang="pt-BR" dirty="0" err="1"/>
              <a:t>id_cliente</a:t>
            </a:r>
            <a:r>
              <a:rPr lang="pt-BR" dirty="0"/>
              <a:t>` </a:t>
            </a:r>
            <a:r>
              <a:rPr lang="pt-BR" dirty="0" err="1"/>
              <a:t>integer</a:t>
            </a:r>
            <a:r>
              <a:rPr lang="pt-BR" dirty="0"/>
              <a:t> NOT NULL,</a:t>
            </a:r>
          </a:p>
          <a:p>
            <a:r>
              <a:rPr lang="pt-BR" dirty="0"/>
              <a:t>  </a:t>
            </a:r>
            <a:r>
              <a:rPr lang="en-US" dirty="0"/>
              <a:t>`</a:t>
            </a:r>
            <a:r>
              <a:rPr lang="en-US" dirty="0" err="1"/>
              <a:t>numero_conta</a:t>
            </a:r>
            <a:r>
              <a:rPr lang="en-US" dirty="0"/>
              <a:t>` varchar(255) UNIQUE NOT NULL,</a:t>
            </a:r>
            <a:endParaRPr lang="pt-BR" dirty="0"/>
          </a:p>
          <a:p>
            <a:r>
              <a:rPr lang="en-US" dirty="0"/>
              <a:t>  `</a:t>
            </a:r>
            <a:r>
              <a:rPr lang="en-US" dirty="0" err="1"/>
              <a:t>agencia</a:t>
            </a:r>
            <a:r>
              <a:rPr lang="en-US" dirty="0"/>
              <a:t>` varchar(255) NOT NULL,</a:t>
            </a:r>
            <a:endParaRPr lang="pt-BR" dirty="0"/>
          </a:p>
          <a:p>
            <a:r>
              <a:rPr lang="en-US" dirty="0"/>
              <a:t>  `</a:t>
            </a:r>
            <a:r>
              <a:rPr lang="en-US" dirty="0" err="1"/>
              <a:t>saldo_atual</a:t>
            </a:r>
            <a:r>
              <a:rPr lang="en-US" dirty="0"/>
              <a:t>` numeric(18,2) DEFAULT 0,</a:t>
            </a:r>
            <a:endParaRPr lang="pt-BR" dirty="0"/>
          </a:p>
          <a:p>
            <a:r>
              <a:rPr lang="en-US" dirty="0"/>
              <a:t>  `</a:t>
            </a:r>
            <a:r>
              <a:rPr lang="en-US" dirty="0" err="1"/>
              <a:t>data_abertura</a:t>
            </a:r>
            <a:r>
              <a:rPr lang="en-US" dirty="0"/>
              <a:t>` date DEFAULT (</a:t>
            </a:r>
            <a:r>
              <a:rPr lang="en-US" dirty="0" err="1"/>
              <a:t>current_date</a:t>
            </a:r>
            <a:r>
              <a:rPr lang="en-US" dirty="0"/>
              <a:t>),</a:t>
            </a:r>
            <a:endParaRPr lang="pt-BR" dirty="0"/>
          </a:p>
          <a:p>
            <a:r>
              <a:rPr lang="en-US" dirty="0"/>
              <a:t>  `status` varchar(255) DEFAULT 'ATIVA'</a:t>
            </a:r>
            <a:endParaRPr lang="pt-BR" dirty="0"/>
          </a:p>
          <a:p>
            <a:r>
              <a:rPr lang="pt-BR" dirty="0"/>
              <a:t>);</a:t>
            </a:r>
          </a:p>
        </p:txBody>
      </p:sp>
      <p:sp>
        <p:nvSpPr>
          <p:cNvPr id="13" name="Caixa de Texto 2">
            <a:extLst>
              <a:ext uri="{FF2B5EF4-FFF2-40B4-BE49-F238E27FC236}">
                <a16:creationId xmlns:a16="http://schemas.microsoft.com/office/drawing/2014/main" id="{D69DA6B0-9C85-0F22-C3A0-4B50805B9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520" y="2987801"/>
            <a:ext cx="5716270" cy="14082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defRPr sz="800" kern="10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CREATE TABLE `</a:t>
            </a:r>
            <a:r>
              <a:rPr lang="pt-BR" dirty="0" err="1"/>
              <a:t>transacoes</a:t>
            </a:r>
            <a:r>
              <a:rPr lang="pt-BR" dirty="0"/>
              <a:t>` (</a:t>
            </a:r>
          </a:p>
          <a:p>
            <a:r>
              <a:rPr lang="pt-BR" dirty="0"/>
              <a:t>  `</a:t>
            </a:r>
            <a:r>
              <a:rPr lang="pt-BR" dirty="0" err="1"/>
              <a:t>id_transacao</a:t>
            </a:r>
            <a:r>
              <a:rPr lang="pt-BR" dirty="0"/>
              <a:t>` </a:t>
            </a:r>
            <a:r>
              <a:rPr lang="pt-BR" dirty="0" err="1"/>
              <a:t>integer</a:t>
            </a:r>
            <a:r>
              <a:rPr lang="pt-BR" dirty="0"/>
              <a:t> PRIMARY KEY AUTO_INCREMENT COMMENT 'Identificador único da transação',</a:t>
            </a:r>
          </a:p>
          <a:p>
            <a:r>
              <a:rPr lang="pt-BR" dirty="0"/>
              <a:t>  `</a:t>
            </a:r>
            <a:r>
              <a:rPr lang="pt-BR" dirty="0" err="1"/>
              <a:t>id_conta_origem</a:t>
            </a:r>
            <a:r>
              <a:rPr lang="pt-BR" dirty="0"/>
              <a:t>` </a:t>
            </a:r>
            <a:r>
              <a:rPr lang="pt-BR" dirty="0" err="1"/>
              <a:t>integer</a:t>
            </a:r>
            <a:r>
              <a:rPr lang="pt-BR" dirty="0"/>
              <a:t> NOT NULL COMMENT 'Conta de origem da transação',</a:t>
            </a:r>
          </a:p>
          <a:p>
            <a:r>
              <a:rPr lang="pt-BR" dirty="0"/>
              <a:t>  `</a:t>
            </a:r>
            <a:r>
              <a:rPr lang="pt-BR" dirty="0" err="1"/>
              <a:t>id_conta_destino</a:t>
            </a:r>
            <a:r>
              <a:rPr lang="pt-BR" dirty="0"/>
              <a:t>` </a:t>
            </a:r>
            <a:r>
              <a:rPr lang="pt-BR" dirty="0" err="1"/>
              <a:t>integer</a:t>
            </a:r>
            <a:r>
              <a:rPr lang="pt-BR" dirty="0"/>
              <a:t> NOT NULL COMMENT 'Conta de destino da transação',</a:t>
            </a:r>
          </a:p>
          <a:p>
            <a:r>
              <a:rPr lang="pt-BR" dirty="0"/>
              <a:t>  </a:t>
            </a:r>
            <a:r>
              <a:rPr lang="en-US" dirty="0"/>
              <a:t>`</a:t>
            </a:r>
            <a:r>
              <a:rPr lang="en-US" dirty="0" err="1"/>
              <a:t>tipo_transacao</a:t>
            </a:r>
            <a:r>
              <a:rPr lang="en-US" dirty="0"/>
              <a:t>` varchar(255) NOT NULL COMMENT '</a:t>
            </a:r>
            <a:r>
              <a:rPr lang="en-US" dirty="0" err="1"/>
              <a:t>Tipos</a:t>
            </a:r>
            <a:r>
              <a:rPr lang="en-US" dirty="0"/>
              <a:t>: DOC, TED, PIX',</a:t>
            </a:r>
            <a:endParaRPr lang="pt-BR" dirty="0"/>
          </a:p>
          <a:p>
            <a:r>
              <a:rPr lang="en-US" dirty="0"/>
              <a:t>  `valor` numeric(18,2) NOT NULL,</a:t>
            </a:r>
            <a:endParaRPr lang="pt-BR" dirty="0"/>
          </a:p>
          <a:p>
            <a:r>
              <a:rPr lang="en-US" dirty="0"/>
              <a:t>  `</a:t>
            </a:r>
            <a:r>
              <a:rPr lang="en-US" dirty="0" err="1"/>
              <a:t>data_transacao</a:t>
            </a:r>
            <a:r>
              <a:rPr lang="en-US" dirty="0"/>
              <a:t>` timestamp DEFAULT (now()),</a:t>
            </a:r>
            <a:endParaRPr lang="pt-BR" dirty="0"/>
          </a:p>
          <a:p>
            <a:r>
              <a:rPr lang="en-US" dirty="0"/>
              <a:t>  `status` varchar(255) DEFAULT 'PENDENTE',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`</a:t>
            </a:r>
            <a:r>
              <a:rPr lang="pt-BR" dirty="0" err="1"/>
              <a:t>codigo_autorizacao</a:t>
            </a:r>
            <a:r>
              <a:rPr lang="pt-BR" dirty="0"/>
              <a:t>` </a:t>
            </a:r>
            <a:r>
              <a:rPr lang="pt-BR" dirty="0" err="1"/>
              <a:t>varchar</a:t>
            </a:r>
            <a:r>
              <a:rPr lang="pt-BR" dirty="0"/>
              <a:t>(255)</a:t>
            </a:r>
          </a:p>
          <a:p>
            <a:r>
              <a:rPr lang="pt-BR" dirty="0"/>
              <a:t>);</a:t>
            </a:r>
          </a:p>
        </p:txBody>
      </p:sp>
      <p:sp>
        <p:nvSpPr>
          <p:cNvPr id="14" name="Caixa de Texto 2">
            <a:extLst>
              <a:ext uri="{FF2B5EF4-FFF2-40B4-BE49-F238E27FC236}">
                <a16:creationId xmlns:a16="http://schemas.microsoft.com/office/drawing/2014/main" id="{84E9C93E-FCBF-8687-BA76-9ACFC45A2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520" y="4466526"/>
            <a:ext cx="5716270" cy="96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defRPr sz="800" kern="10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CREATE TABLE `</a:t>
            </a:r>
            <a:r>
              <a:rPr lang="en-US" dirty="0" err="1"/>
              <a:t>log_transacoes</a:t>
            </a:r>
            <a:r>
              <a:rPr lang="en-US" dirty="0"/>
              <a:t>` (</a:t>
            </a:r>
            <a:endParaRPr lang="pt-BR" dirty="0"/>
          </a:p>
          <a:p>
            <a:r>
              <a:rPr lang="en-US" dirty="0"/>
              <a:t>  `</a:t>
            </a:r>
            <a:r>
              <a:rPr lang="en-US" dirty="0" err="1"/>
              <a:t>id_log</a:t>
            </a:r>
            <a:r>
              <a:rPr lang="en-US" dirty="0"/>
              <a:t>` integer PRIMARY KEY </a:t>
            </a:r>
            <a:r>
              <a:rPr lang="pt-BR" dirty="0"/>
              <a:t>AUTO_INCREMENT</a:t>
            </a:r>
            <a:r>
              <a:rPr lang="en-US" dirty="0"/>
              <a:t>,</a:t>
            </a:r>
            <a:endParaRPr lang="pt-BR" dirty="0"/>
          </a:p>
          <a:p>
            <a:r>
              <a:rPr lang="en-US" dirty="0"/>
              <a:t>  `</a:t>
            </a:r>
            <a:r>
              <a:rPr lang="en-US" dirty="0" err="1"/>
              <a:t>id_transacao</a:t>
            </a:r>
            <a:r>
              <a:rPr lang="en-US" dirty="0"/>
              <a:t>` integer NOT NULL,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`evento` </a:t>
            </a:r>
            <a:r>
              <a:rPr lang="pt-BR" dirty="0" err="1"/>
              <a:t>varchar</a:t>
            </a:r>
            <a:r>
              <a:rPr lang="pt-BR" dirty="0"/>
              <a:t>(255) NOT NULL COMMENT '</a:t>
            </a:r>
            <a:r>
              <a:rPr lang="pt-BR" dirty="0" err="1"/>
              <a:t>Ex</a:t>
            </a:r>
            <a:r>
              <a:rPr lang="pt-BR" dirty="0"/>
              <a:t>: Iniciada, Autorizada, Liquidada',</a:t>
            </a:r>
          </a:p>
          <a:p>
            <a:r>
              <a:rPr lang="pt-BR" dirty="0"/>
              <a:t>  </a:t>
            </a:r>
            <a:r>
              <a:rPr lang="en-US" dirty="0"/>
              <a:t>`</a:t>
            </a:r>
            <a:r>
              <a:rPr lang="en-US" dirty="0" err="1"/>
              <a:t>data_evento</a:t>
            </a:r>
            <a:r>
              <a:rPr lang="en-US" dirty="0"/>
              <a:t>` timestamp DEFAULT (now()),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`</a:t>
            </a:r>
            <a:r>
              <a:rPr lang="pt-BR" dirty="0" err="1"/>
              <a:t>usuario_sistema</a:t>
            </a:r>
            <a:r>
              <a:rPr lang="pt-BR" dirty="0"/>
              <a:t>` </a:t>
            </a:r>
            <a:r>
              <a:rPr lang="pt-BR" dirty="0" err="1"/>
              <a:t>varchar</a:t>
            </a:r>
            <a:r>
              <a:rPr lang="pt-BR" dirty="0"/>
              <a:t>(255)</a:t>
            </a:r>
          </a:p>
          <a:p>
            <a:r>
              <a:rPr lang="pt-BR" dirty="0"/>
              <a:t>);</a:t>
            </a:r>
          </a:p>
        </p:txBody>
      </p:sp>
      <p:sp>
        <p:nvSpPr>
          <p:cNvPr id="15" name="Caixa de Texto 2">
            <a:extLst>
              <a:ext uri="{FF2B5EF4-FFF2-40B4-BE49-F238E27FC236}">
                <a16:creationId xmlns:a16="http://schemas.microsoft.com/office/drawing/2014/main" id="{C0DCED3F-3022-496E-7FEA-904188D81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520" y="5497484"/>
            <a:ext cx="5716270" cy="112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defRPr sz="800" kern="10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ALTER TABLE `</a:t>
            </a:r>
            <a:r>
              <a:rPr lang="en-US" dirty="0" err="1"/>
              <a:t>contas`</a:t>
            </a:r>
            <a:r>
              <a:rPr lang="en-US" dirty="0"/>
              <a:t> ADD FOREIGN KEY (`</a:t>
            </a:r>
            <a:r>
              <a:rPr lang="en-US" dirty="0" err="1"/>
              <a:t>id_cliente</a:t>
            </a:r>
            <a:r>
              <a:rPr lang="en-US" dirty="0"/>
              <a:t>`) REFERENCES `</a:t>
            </a:r>
            <a:r>
              <a:rPr lang="en-US" dirty="0" err="1"/>
              <a:t>clientes</a:t>
            </a:r>
            <a:r>
              <a:rPr lang="en-US" dirty="0"/>
              <a:t>` (`</a:t>
            </a:r>
            <a:r>
              <a:rPr lang="en-US" dirty="0" err="1"/>
              <a:t>id_cliente</a:t>
            </a:r>
            <a:r>
              <a:rPr lang="en-US" dirty="0"/>
              <a:t>`);</a:t>
            </a:r>
            <a:endParaRPr lang="pt-BR" dirty="0"/>
          </a:p>
          <a:p>
            <a:r>
              <a:rPr lang="en-US" dirty="0"/>
              <a:t> </a:t>
            </a:r>
            <a:endParaRPr lang="pt-BR" dirty="0"/>
          </a:p>
          <a:p>
            <a:r>
              <a:rPr lang="en-US" dirty="0"/>
              <a:t>ALTER TABLE `</a:t>
            </a:r>
            <a:r>
              <a:rPr lang="en-US" dirty="0" err="1"/>
              <a:t>transacoes</a:t>
            </a:r>
            <a:r>
              <a:rPr lang="en-US" dirty="0"/>
              <a:t>` ADD FOREIGN KEY (`</a:t>
            </a:r>
            <a:r>
              <a:rPr lang="en-US" dirty="0" err="1"/>
              <a:t>id_conta_origem</a:t>
            </a:r>
            <a:r>
              <a:rPr lang="en-US" dirty="0"/>
              <a:t>`) REFERENCES `</a:t>
            </a:r>
            <a:r>
              <a:rPr lang="en-US" dirty="0" err="1"/>
              <a:t>contas`</a:t>
            </a:r>
            <a:r>
              <a:rPr lang="en-US" dirty="0"/>
              <a:t> (`</a:t>
            </a:r>
            <a:r>
              <a:rPr lang="en-US" dirty="0" err="1"/>
              <a:t>id_conta</a:t>
            </a:r>
            <a:r>
              <a:rPr lang="en-US" dirty="0"/>
              <a:t>`);</a:t>
            </a:r>
            <a:endParaRPr lang="pt-BR" dirty="0"/>
          </a:p>
          <a:p>
            <a:r>
              <a:rPr lang="en-US" dirty="0"/>
              <a:t> </a:t>
            </a:r>
            <a:endParaRPr lang="pt-BR" dirty="0"/>
          </a:p>
          <a:p>
            <a:r>
              <a:rPr lang="en-US" dirty="0"/>
              <a:t>ALTER TABLE `</a:t>
            </a:r>
            <a:r>
              <a:rPr lang="en-US" dirty="0" err="1"/>
              <a:t>transacoes</a:t>
            </a:r>
            <a:r>
              <a:rPr lang="en-US" dirty="0"/>
              <a:t>` ADD FOREIGN KEY (`</a:t>
            </a:r>
            <a:r>
              <a:rPr lang="en-US" dirty="0" err="1"/>
              <a:t>id_conta_destino</a:t>
            </a:r>
            <a:r>
              <a:rPr lang="en-US" dirty="0"/>
              <a:t>`) REFERENCES `</a:t>
            </a:r>
            <a:r>
              <a:rPr lang="en-US" dirty="0" err="1"/>
              <a:t>contas`</a:t>
            </a:r>
            <a:r>
              <a:rPr lang="en-US" dirty="0"/>
              <a:t> (`</a:t>
            </a:r>
            <a:r>
              <a:rPr lang="en-US" dirty="0" err="1"/>
              <a:t>id_conta</a:t>
            </a:r>
            <a:r>
              <a:rPr lang="en-US" dirty="0"/>
              <a:t>`);</a:t>
            </a:r>
            <a:endParaRPr lang="pt-BR" dirty="0"/>
          </a:p>
          <a:p>
            <a:r>
              <a:rPr lang="en-US" dirty="0"/>
              <a:t> </a:t>
            </a:r>
            <a:endParaRPr lang="pt-BR" dirty="0"/>
          </a:p>
          <a:p>
            <a:r>
              <a:rPr lang="en-US" dirty="0"/>
              <a:t>ALTER TABLE `</a:t>
            </a:r>
            <a:r>
              <a:rPr lang="en-US" dirty="0" err="1"/>
              <a:t>log_transacoes</a:t>
            </a:r>
            <a:r>
              <a:rPr lang="en-US" dirty="0"/>
              <a:t>` ADD FOREIGN KEY (`</a:t>
            </a:r>
            <a:r>
              <a:rPr lang="en-US" dirty="0" err="1"/>
              <a:t>id_transacao</a:t>
            </a:r>
            <a:r>
              <a:rPr lang="en-US" dirty="0"/>
              <a:t>`) REFERENCES `</a:t>
            </a:r>
            <a:r>
              <a:rPr lang="en-US" dirty="0" err="1"/>
              <a:t>transacoes</a:t>
            </a:r>
            <a:r>
              <a:rPr lang="en-US" dirty="0"/>
              <a:t>` (`</a:t>
            </a:r>
            <a:r>
              <a:rPr lang="en-US" dirty="0" err="1"/>
              <a:t>id_transacao</a:t>
            </a:r>
            <a:r>
              <a:rPr lang="en-US" dirty="0"/>
              <a:t>`);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789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B01F9D6-EC8B-61EA-C507-442A768E10CC}"/>
              </a:ext>
            </a:extLst>
          </p:cNvPr>
          <p:cNvSpPr txBox="1"/>
          <p:nvPr/>
        </p:nvSpPr>
        <p:spPr>
          <a:xfrm>
            <a:off x="0" y="0"/>
            <a:ext cx="6096000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Recomendação de produtos de crédito para a Home - Grafo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DE74114-F404-7BAC-0522-E851EC4D4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79" y="418760"/>
            <a:ext cx="6425979" cy="48584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 de Texto 2">
            <a:extLst>
              <a:ext uri="{FF2B5EF4-FFF2-40B4-BE49-F238E27FC236}">
                <a16:creationId xmlns:a16="http://schemas.microsoft.com/office/drawing/2014/main" id="{D13F81E0-7A34-30FB-8AAC-AA7FCE5BF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716" y="0"/>
            <a:ext cx="4509954" cy="2076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1000" dirty="0"/>
              <a:t># </a:t>
            </a:r>
            <a:r>
              <a:rPr lang="pt-BR" sz="1000" dirty="0" err="1"/>
              <a:t>Users</a:t>
            </a:r>
            <a:endParaRPr lang="pt-BR" sz="1000" dirty="0"/>
          </a:p>
          <a:p>
            <a:r>
              <a:rPr lang="pt-BR" sz="1000" dirty="0" err="1"/>
              <a:t>list_users</a:t>
            </a:r>
            <a:r>
              <a:rPr lang="pt-BR" sz="1000" dirty="0"/>
              <a:t> = ["Matheus", "Camila", "Olívia", "Outro Matheus", "Eduardo"]</a:t>
            </a:r>
          </a:p>
          <a:p>
            <a:r>
              <a:rPr lang="pt-BR" sz="1000" dirty="0" err="1"/>
              <a:t>list_products</a:t>
            </a:r>
            <a:r>
              <a:rPr lang="pt-BR" sz="1000" dirty="0"/>
              <a:t> = ["Empréstimo Pessoal", "Consignado",</a:t>
            </a:r>
          </a:p>
          <a:p>
            <a:r>
              <a:rPr lang="pt-BR" sz="1000" dirty="0"/>
              <a:t>                 "Financiamento imobiliário", "Financiamento de veículo"]</a:t>
            </a:r>
          </a:p>
          <a:p>
            <a:r>
              <a:rPr lang="pt-BR" sz="1000" dirty="0" err="1"/>
              <a:t>list_relations</a:t>
            </a:r>
            <a:r>
              <a:rPr lang="pt-BR" sz="1000" dirty="0"/>
              <a:t> = [(0, 0),</a:t>
            </a:r>
          </a:p>
          <a:p>
            <a:r>
              <a:rPr lang="pt-BR" sz="1000" dirty="0"/>
              <a:t>                  (0, 1),</a:t>
            </a:r>
          </a:p>
          <a:p>
            <a:r>
              <a:rPr lang="pt-BR" sz="1000" dirty="0"/>
              <a:t>                  (1, 1),</a:t>
            </a:r>
          </a:p>
          <a:p>
            <a:r>
              <a:rPr lang="pt-BR" sz="1000" dirty="0"/>
              <a:t>                  (1, 2),</a:t>
            </a:r>
          </a:p>
          <a:p>
            <a:r>
              <a:rPr lang="pt-BR" sz="1000" dirty="0"/>
              <a:t>                  (2, 1),</a:t>
            </a:r>
          </a:p>
          <a:p>
            <a:r>
              <a:rPr lang="pt-BR" sz="1000" dirty="0"/>
              <a:t>                  (3, 2),</a:t>
            </a:r>
          </a:p>
          <a:p>
            <a:r>
              <a:rPr lang="pt-BR" sz="1000" dirty="0"/>
              <a:t>                  (3, 3),</a:t>
            </a:r>
          </a:p>
          <a:p>
            <a:r>
              <a:rPr lang="pt-BR" sz="1000" dirty="0"/>
              <a:t>                  (4, 0),</a:t>
            </a:r>
          </a:p>
          <a:p>
            <a:r>
              <a:rPr lang="pt-BR" sz="1000" dirty="0"/>
              <a:t>                  (4, 3)]</a:t>
            </a:r>
          </a:p>
          <a:p>
            <a:endParaRPr lang="pt-BR" sz="1000" dirty="0"/>
          </a:p>
        </p:txBody>
      </p:sp>
      <p:sp>
        <p:nvSpPr>
          <p:cNvPr id="10" name="Caixa de Texto 2">
            <a:extLst>
              <a:ext uri="{FF2B5EF4-FFF2-40B4-BE49-F238E27FC236}">
                <a16:creationId xmlns:a16="http://schemas.microsoft.com/office/drawing/2014/main" id="{2314AAB7-675B-4FCB-3DC7-5376A856E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716" y="2209797"/>
            <a:ext cx="4509954" cy="4648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1000" dirty="0" err="1"/>
              <a:t>import</a:t>
            </a:r>
            <a:r>
              <a:rPr lang="pt-BR" sz="1000" dirty="0"/>
              <a:t> </a:t>
            </a:r>
            <a:r>
              <a:rPr lang="pt-BR" sz="1000" dirty="0" err="1"/>
              <a:t>networkx</a:t>
            </a:r>
            <a:r>
              <a:rPr lang="pt-BR" sz="1000" dirty="0"/>
              <a:t> as </a:t>
            </a:r>
            <a:r>
              <a:rPr lang="pt-BR" sz="1000" dirty="0" err="1"/>
              <a:t>nx</a:t>
            </a:r>
            <a:endParaRPr lang="pt-BR" sz="1000" dirty="0"/>
          </a:p>
          <a:p>
            <a:r>
              <a:rPr lang="pt-BR" sz="1000" dirty="0" err="1"/>
              <a:t>import</a:t>
            </a:r>
            <a:r>
              <a:rPr lang="pt-BR" sz="1000" dirty="0"/>
              <a:t> </a:t>
            </a:r>
            <a:r>
              <a:rPr lang="pt-BR" sz="1000" dirty="0" err="1"/>
              <a:t>matplotlib.pyplot</a:t>
            </a:r>
            <a:r>
              <a:rPr lang="pt-BR" sz="1000" dirty="0"/>
              <a:t> as </a:t>
            </a:r>
            <a:r>
              <a:rPr lang="pt-BR" sz="1000" dirty="0" err="1"/>
              <a:t>plt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/>
              <a:t># </a:t>
            </a:r>
            <a:r>
              <a:rPr lang="pt-BR" sz="1000" dirty="0" err="1"/>
              <a:t>Create</a:t>
            </a:r>
            <a:r>
              <a:rPr lang="pt-BR" sz="1000" dirty="0"/>
              <a:t> a </a:t>
            </a:r>
            <a:r>
              <a:rPr lang="pt-BR" sz="1000" dirty="0" err="1"/>
              <a:t>directed</a:t>
            </a:r>
            <a:r>
              <a:rPr lang="pt-BR" sz="1000" dirty="0"/>
              <a:t> </a:t>
            </a:r>
            <a:r>
              <a:rPr lang="pt-BR" sz="1000" dirty="0" err="1"/>
              <a:t>graph</a:t>
            </a:r>
            <a:endParaRPr lang="pt-BR" sz="1000" dirty="0"/>
          </a:p>
          <a:p>
            <a:r>
              <a:rPr lang="pt-BR" sz="1000" dirty="0"/>
              <a:t>G = </a:t>
            </a:r>
            <a:r>
              <a:rPr lang="pt-BR" sz="1000" dirty="0" err="1"/>
              <a:t>nx.DiGraph</a:t>
            </a:r>
            <a:r>
              <a:rPr lang="pt-BR" sz="1000" dirty="0"/>
              <a:t>()</a:t>
            </a:r>
          </a:p>
          <a:p>
            <a:endParaRPr lang="pt-BR" sz="1000" dirty="0"/>
          </a:p>
          <a:p>
            <a:r>
              <a:rPr lang="pt-BR" sz="1000" dirty="0"/>
              <a:t># </a:t>
            </a:r>
            <a:r>
              <a:rPr lang="pt-BR" sz="1000" dirty="0" err="1"/>
              <a:t>Add</a:t>
            </a:r>
            <a:r>
              <a:rPr lang="pt-BR" sz="1000" dirty="0"/>
              <a:t> </a:t>
            </a:r>
            <a:r>
              <a:rPr lang="pt-BR" sz="1000" dirty="0" err="1"/>
              <a:t>users</a:t>
            </a:r>
            <a:r>
              <a:rPr lang="pt-BR" sz="1000" dirty="0"/>
              <a:t> as nodes </a:t>
            </a:r>
            <a:r>
              <a:rPr lang="pt-BR" sz="1000" dirty="0" err="1"/>
              <a:t>with</a:t>
            </a:r>
            <a:r>
              <a:rPr lang="pt-BR" sz="1000" dirty="0"/>
              <a:t> a </a:t>
            </a:r>
            <a:r>
              <a:rPr lang="pt-BR" sz="1000" dirty="0" err="1"/>
              <a:t>specific</a:t>
            </a:r>
            <a:r>
              <a:rPr lang="pt-BR" sz="1000" dirty="0"/>
              <a:t> color</a:t>
            </a:r>
          </a:p>
          <a:p>
            <a:r>
              <a:rPr lang="pt-BR" sz="1000" dirty="0" err="1"/>
              <a:t>user_nodes</a:t>
            </a:r>
            <a:r>
              <a:rPr lang="pt-BR" sz="1000" dirty="0"/>
              <a:t> = [(</a:t>
            </a:r>
            <a:r>
              <a:rPr lang="pt-BR" sz="1000" dirty="0" err="1"/>
              <a:t>user</a:t>
            </a:r>
            <a:r>
              <a:rPr lang="pt-BR" sz="1000" dirty="0"/>
              <a:t>, {'color': 'blue'}) for </a:t>
            </a:r>
            <a:r>
              <a:rPr lang="pt-BR" sz="1000" dirty="0" err="1"/>
              <a:t>user</a:t>
            </a:r>
            <a:r>
              <a:rPr lang="pt-BR" sz="1000" dirty="0"/>
              <a:t> in </a:t>
            </a:r>
            <a:r>
              <a:rPr lang="pt-BR" sz="1000" dirty="0" err="1"/>
              <a:t>list_users</a:t>
            </a:r>
            <a:r>
              <a:rPr lang="pt-BR" sz="1000" dirty="0"/>
              <a:t>]</a:t>
            </a:r>
          </a:p>
          <a:p>
            <a:r>
              <a:rPr lang="pt-BR" sz="1000" dirty="0" err="1"/>
              <a:t>G.add_nodes_from</a:t>
            </a:r>
            <a:r>
              <a:rPr lang="pt-BR" sz="1000" dirty="0"/>
              <a:t>(</a:t>
            </a:r>
            <a:r>
              <a:rPr lang="pt-BR" sz="1000" dirty="0" err="1"/>
              <a:t>user_nodes</a:t>
            </a:r>
            <a:r>
              <a:rPr lang="pt-BR" sz="1000" dirty="0"/>
              <a:t>)</a:t>
            </a:r>
          </a:p>
          <a:p>
            <a:br>
              <a:rPr lang="pt-BR" sz="1000" dirty="0"/>
            </a:br>
            <a:r>
              <a:rPr lang="pt-BR" sz="1000" dirty="0"/>
              <a:t># </a:t>
            </a:r>
            <a:r>
              <a:rPr lang="pt-BR" sz="1000" dirty="0" err="1"/>
              <a:t>Add</a:t>
            </a:r>
            <a:r>
              <a:rPr lang="pt-BR" sz="1000" dirty="0"/>
              <a:t> </a:t>
            </a:r>
            <a:r>
              <a:rPr lang="pt-BR" sz="1000" dirty="0" err="1"/>
              <a:t>products</a:t>
            </a:r>
            <a:r>
              <a:rPr lang="pt-BR" sz="1000" dirty="0"/>
              <a:t> as nodes </a:t>
            </a:r>
            <a:r>
              <a:rPr lang="pt-BR" sz="1000" dirty="0" err="1"/>
              <a:t>with</a:t>
            </a:r>
            <a:r>
              <a:rPr lang="pt-BR" sz="1000" dirty="0"/>
              <a:t> a </a:t>
            </a:r>
            <a:r>
              <a:rPr lang="pt-BR" sz="1000" dirty="0" err="1"/>
              <a:t>different</a:t>
            </a:r>
            <a:r>
              <a:rPr lang="pt-BR" sz="1000" dirty="0"/>
              <a:t> color</a:t>
            </a:r>
          </a:p>
          <a:p>
            <a:r>
              <a:rPr lang="pt-BR" sz="1000" dirty="0" err="1"/>
              <a:t>product_nodes</a:t>
            </a:r>
            <a:r>
              <a:rPr lang="pt-BR" sz="1000" dirty="0"/>
              <a:t> = [(</a:t>
            </a:r>
            <a:r>
              <a:rPr lang="pt-BR" sz="1000" dirty="0" err="1"/>
              <a:t>product</a:t>
            </a:r>
            <a:r>
              <a:rPr lang="pt-BR" sz="1000" dirty="0"/>
              <a:t>, {'color': '</a:t>
            </a:r>
            <a:r>
              <a:rPr lang="pt-BR" sz="1000" dirty="0" err="1"/>
              <a:t>red</a:t>
            </a:r>
            <a:r>
              <a:rPr lang="pt-BR" sz="1000" dirty="0"/>
              <a:t>'}) for </a:t>
            </a:r>
            <a:r>
              <a:rPr lang="pt-BR" sz="1000" dirty="0" err="1"/>
              <a:t>product</a:t>
            </a:r>
            <a:r>
              <a:rPr lang="pt-BR" sz="1000" dirty="0"/>
              <a:t> in </a:t>
            </a:r>
            <a:r>
              <a:rPr lang="pt-BR" sz="1000" dirty="0" err="1"/>
              <a:t>list_products</a:t>
            </a:r>
            <a:r>
              <a:rPr lang="pt-BR" sz="1000" dirty="0"/>
              <a:t>]</a:t>
            </a:r>
          </a:p>
          <a:p>
            <a:r>
              <a:rPr lang="pt-BR" sz="1000" dirty="0" err="1"/>
              <a:t>G.add_nodes_from</a:t>
            </a:r>
            <a:r>
              <a:rPr lang="pt-BR" sz="1000" dirty="0"/>
              <a:t>(</a:t>
            </a:r>
            <a:r>
              <a:rPr lang="pt-BR" sz="1000" dirty="0" err="1"/>
              <a:t>product_nodes</a:t>
            </a:r>
            <a:r>
              <a:rPr lang="pt-BR" sz="1000" dirty="0"/>
              <a:t>)</a:t>
            </a:r>
          </a:p>
          <a:p>
            <a:br>
              <a:rPr lang="pt-BR" sz="1000" dirty="0"/>
            </a:br>
            <a:r>
              <a:rPr lang="pt-BR" sz="1000" dirty="0"/>
              <a:t># </a:t>
            </a:r>
            <a:r>
              <a:rPr lang="pt-BR" sz="1000" dirty="0" err="1"/>
              <a:t>Add</a:t>
            </a:r>
            <a:r>
              <a:rPr lang="pt-BR" sz="1000" dirty="0"/>
              <a:t> </a:t>
            </a:r>
            <a:r>
              <a:rPr lang="pt-BR" sz="1000" dirty="0" err="1"/>
              <a:t>edges</a:t>
            </a:r>
            <a:r>
              <a:rPr lang="pt-BR" sz="1000" dirty="0"/>
              <a:t> </a:t>
            </a:r>
            <a:r>
              <a:rPr lang="pt-BR" sz="1000" dirty="0" err="1"/>
              <a:t>based</a:t>
            </a:r>
            <a:r>
              <a:rPr lang="pt-BR" sz="1000" dirty="0"/>
              <a:t>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relationships</a:t>
            </a:r>
            <a:endParaRPr lang="pt-BR" sz="1000" dirty="0"/>
          </a:p>
          <a:p>
            <a:r>
              <a:rPr lang="pt-BR" sz="1000" dirty="0" err="1"/>
              <a:t>edges</a:t>
            </a:r>
            <a:r>
              <a:rPr lang="pt-BR" sz="1000" dirty="0"/>
              <a:t> = []</a:t>
            </a:r>
          </a:p>
          <a:p>
            <a:r>
              <a:rPr lang="pt-BR" sz="1000" dirty="0"/>
              <a:t>for </a:t>
            </a:r>
            <a:r>
              <a:rPr lang="pt-BR" sz="1000" dirty="0" err="1"/>
              <a:t>u_idx</a:t>
            </a:r>
            <a:r>
              <a:rPr lang="pt-BR" sz="1000" dirty="0"/>
              <a:t>, </a:t>
            </a:r>
            <a:r>
              <a:rPr lang="pt-BR" sz="1000" dirty="0" err="1"/>
              <a:t>p_idx</a:t>
            </a:r>
            <a:r>
              <a:rPr lang="pt-BR" sz="1000" dirty="0"/>
              <a:t> in </a:t>
            </a:r>
            <a:r>
              <a:rPr lang="pt-BR" sz="1000" dirty="0" err="1"/>
              <a:t>list_relations</a:t>
            </a:r>
            <a:r>
              <a:rPr lang="pt-BR" sz="1000" dirty="0"/>
              <a:t>: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edges.append</a:t>
            </a:r>
            <a:r>
              <a:rPr lang="pt-BR" sz="1000" dirty="0"/>
              <a:t>((</a:t>
            </a:r>
            <a:r>
              <a:rPr lang="pt-BR" sz="1000" dirty="0" err="1"/>
              <a:t>list_users</a:t>
            </a:r>
            <a:r>
              <a:rPr lang="pt-BR" sz="1000" dirty="0"/>
              <a:t>[</a:t>
            </a:r>
            <a:r>
              <a:rPr lang="pt-BR" sz="1000" dirty="0" err="1"/>
              <a:t>u_idx</a:t>
            </a:r>
            <a:r>
              <a:rPr lang="pt-BR" sz="1000" dirty="0"/>
              <a:t>], </a:t>
            </a:r>
            <a:r>
              <a:rPr lang="pt-BR" sz="1000" dirty="0" err="1"/>
              <a:t>list_products</a:t>
            </a:r>
            <a:r>
              <a:rPr lang="pt-BR" sz="1000" dirty="0"/>
              <a:t>[</a:t>
            </a:r>
            <a:r>
              <a:rPr lang="pt-BR" sz="1000" dirty="0" err="1"/>
              <a:t>p_idx</a:t>
            </a:r>
            <a:r>
              <a:rPr lang="pt-BR" sz="1000" dirty="0"/>
              <a:t>]))</a:t>
            </a:r>
          </a:p>
          <a:p>
            <a:r>
              <a:rPr lang="pt-BR" sz="1000" dirty="0" err="1"/>
              <a:t>G.add_edges_from</a:t>
            </a:r>
            <a:r>
              <a:rPr lang="pt-BR" sz="1000" dirty="0"/>
              <a:t>(</a:t>
            </a:r>
            <a:r>
              <a:rPr lang="pt-BR" sz="1000" dirty="0" err="1"/>
              <a:t>edges</a:t>
            </a:r>
            <a:r>
              <a:rPr lang="pt-BR" sz="1000" dirty="0"/>
              <a:t>)</a:t>
            </a:r>
          </a:p>
          <a:p>
            <a:endParaRPr lang="pt-BR" sz="1000" dirty="0"/>
          </a:p>
          <a:p>
            <a:r>
              <a:rPr lang="pt-BR" sz="1000" dirty="0"/>
              <a:t># </a:t>
            </a:r>
            <a:r>
              <a:rPr lang="pt-BR" sz="1000" dirty="0" err="1"/>
              <a:t>Get</a:t>
            </a:r>
            <a:r>
              <a:rPr lang="pt-BR" sz="1000" dirty="0"/>
              <a:t> node </a:t>
            </a:r>
            <a:r>
              <a:rPr lang="pt-BR" sz="1000" dirty="0" err="1"/>
              <a:t>colors</a:t>
            </a:r>
            <a:r>
              <a:rPr lang="pt-BR" sz="1000" dirty="0"/>
              <a:t> for </a:t>
            </a:r>
            <a:r>
              <a:rPr lang="pt-BR" sz="1000" dirty="0" err="1"/>
              <a:t>plotting</a:t>
            </a:r>
            <a:endParaRPr lang="pt-BR" sz="1000" dirty="0"/>
          </a:p>
          <a:p>
            <a:r>
              <a:rPr lang="pt-BR" sz="1000" dirty="0" err="1"/>
              <a:t>node_colors</a:t>
            </a:r>
            <a:r>
              <a:rPr lang="pt-BR" sz="1000" dirty="0"/>
              <a:t> = [node[1]['color'] for node in </a:t>
            </a:r>
            <a:r>
              <a:rPr lang="pt-BR" sz="1000" dirty="0" err="1"/>
              <a:t>G.nodes</a:t>
            </a:r>
            <a:r>
              <a:rPr lang="pt-BR" sz="1000" dirty="0"/>
              <a:t>(data=</a:t>
            </a:r>
            <a:r>
              <a:rPr lang="pt-BR" sz="1000" dirty="0" err="1"/>
              <a:t>True</a:t>
            </a:r>
            <a:r>
              <a:rPr lang="pt-BR" sz="1000" dirty="0"/>
              <a:t>)]</a:t>
            </a:r>
          </a:p>
          <a:p>
            <a:br>
              <a:rPr lang="pt-BR" sz="1000" dirty="0"/>
            </a:br>
            <a:r>
              <a:rPr lang="pt-BR" sz="1000" dirty="0"/>
              <a:t># Draw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graph</a:t>
            </a:r>
            <a:endParaRPr lang="pt-BR" sz="1000" dirty="0"/>
          </a:p>
          <a:p>
            <a:r>
              <a:rPr lang="pt-BR" sz="1000" dirty="0" err="1"/>
              <a:t>pos</a:t>
            </a:r>
            <a:r>
              <a:rPr lang="pt-BR" sz="1000" dirty="0"/>
              <a:t> = </a:t>
            </a:r>
            <a:r>
              <a:rPr lang="pt-BR" sz="1000" dirty="0" err="1"/>
              <a:t>nx.circular_layout</a:t>
            </a:r>
            <a:r>
              <a:rPr lang="pt-BR" sz="1000" dirty="0"/>
              <a:t>(G)  # </a:t>
            </a:r>
            <a:r>
              <a:rPr lang="pt-BR" sz="1000" dirty="0" err="1"/>
              <a:t>or</a:t>
            </a:r>
            <a:r>
              <a:rPr lang="pt-BR" sz="1000" dirty="0"/>
              <a:t> use </a:t>
            </a:r>
            <a:r>
              <a:rPr lang="pt-BR" sz="1000" dirty="0" err="1"/>
              <a:t>other</a:t>
            </a:r>
            <a:r>
              <a:rPr lang="pt-BR" sz="1000" dirty="0"/>
              <a:t> layouts like </a:t>
            </a:r>
            <a:r>
              <a:rPr lang="pt-BR" sz="1000" dirty="0" err="1"/>
              <a:t>circular_layout</a:t>
            </a:r>
            <a:r>
              <a:rPr lang="pt-BR" sz="1000" dirty="0"/>
              <a:t>, </a:t>
            </a:r>
            <a:r>
              <a:rPr lang="pt-BR" sz="1000" dirty="0" err="1"/>
              <a:t>shell_layout</a:t>
            </a:r>
            <a:r>
              <a:rPr lang="pt-BR" sz="1000" dirty="0"/>
              <a:t>, etc.</a:t>
            </a:r>
          </a:p>
          <a:p>
            <a:r>
              <a:rPr lang="pt-BR" sz="1000" dirty="0" err="1"/>
              <a:t>nx.draw</a:t>
            </a:r>
            <a:r>
              <a:rPr lang="pt-BR" sz="1000" dirty="0"/>
              <a:t>(G, </a:t>
            </a:r>
            <a:r>
              <a:rPr lang="pt-BR" sz="1000" dirty="0" err="1"/>
              <a:t>pos</a:t>
            </a:r>
            <a:r>
              <a:rPr lang="pt-BR" sz="1000" dirty="0"/>
              <a:t>, </a:t>
            </a:r>
            <a:r>
              <a:rPr lang="pt-BR" sz="1000" dirty="0" err="1"/>
              <a:t>with_labels</a:t>
            </a:r>
            <a:r>
              <a:rPr lang="pt-BR" sz="1000" dirty="0"/>
              <a:t>=</a:t>
            </a:r>
            <a:r>
              <a:rPr lang="pt-BR" sz="1000" dirty="0" err="1"/>
              <a:t>True</a:t>
            </a:r>
            <a:r>
              <a:rPr lang="pt-BR" sz="1000" dirty="0"/>
              <a:t>, </a:t>
            </a:r>
            <a:r>
              <a:rPr lang="pt-BR" sz="1000" dirty="0" err="1"/>
              <a:t>node_color</a:t>
            </a:r>
            <a:r>
              <a:rPr lang="pt-BR" sz="1000" dirty="0"/>
              <a:t>=</a:t>
            </a:r>
            <a:r>
              <a:rPr lang="pt-BR" sz="1000" dirty="0" err="1"/>
              <a:t>node_colors</a:t>
            </a:r>
            <a:r>
              <a:rPr lang="pt-BR" sz="1000" dirty="0"/>
              <a:t>, </a:t>
            </a:r>
            <a:r>
              <a:rPr lang="pt-BR" sz="1000" dirty="0" err="1"/>
              <a:t>node_size</a:t>
            </a:r>
            <a:r>
              <a:rPr lang="pt-BR" sz="1000" dirty="0"/>
              <a:t>=2000, </a:t>
            </a:r>
            <a:r>
              <a:rPr lang="pt-BR" sz="1000" dirty="0" err="1"/>
              <a:t>font_size</a:t>
            </a:r>
            <a:r>
              <a:rPr lang="pt-BR" sz="1000" dirty="0"/>
              <a:t>=10, </a:t>
            </a:r>
            <a:r>
              <a:rPr lang="pt-BR" sz="1000" dirty="0" err="1"/>
              <a:t>font_weight</a:t>
            </a:r>
            <a:r>
              <a:rPr lang="pt-BR" sz="1000" dirty="0"/>
              <a:t>='</a:t>
            </a:r>
            <a:r>
              <a:rPr lang="pt-BR" sz="1000" dirty="0" err="1"/>
              <a:t>bold</a:t>
            </a:r>
            <a:r>
              <a:rPr lang="pt-BR" sz="1000" dirty="0"/>
              <a:t>', </a:t>
            </a:r>
            <a:r>
              <a:rPr lang="pt-BR" sz="1000" dirty="0" err="1"/>
              <a:t>arrows</a:t>
            </a:r>
            <a:r>
              <a:rPr lang="pt-BR" sz="1000" dirty="0"/>
              <a:t>=</a:t>
            </a:r>
            <a:r>
              <a:rPr lang="pt-BR" sz="1000" dirty="0" err="1"/>
              <a:t>True</a:t>
            </a:r>
            <a:r>
              <a:rPr lang="pt-BR" sz="1000" dirty="0"/>
              <a:t>)</a:t>
            </a:r>
          </a:p>
          <a:p>
            <a:br>
              <a:rPr lang="pt-BR" sz="1000" dirty="0"/>
            </a:br>
            <a:r>
              <a:rPr lang="pt-BR" sz="1000" dirty="0" err="1"/>
              <a:t>plt.show</a:t>
            </a:r>
            <a:r>
              <a:rPr lang="pt-BR" sz="1000" dirty="0"/>
              <a:t>()</a:t>
            </a:r>
          </a:p>
          <a:p>
            <a:endParaRPr lang="pt-BR" sz="1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935237-4B93-65BC-E2DB-FF561BB1C84A}"/>
              </a:ext>
            </a:extLst>
          </p:cNvPr>
          <p:cNvSpPr txBox="1"/>
          <p:nvPr/>
        </p:nvSpPr>
        <p:spPr>
          <a:xfrm>
            <a:off x="159878" y="5380927"/>
            <a:ext cx="64259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u="sng" dirty="0"/>
              <a:t>Grafo: </a:t>
            </a:r>
            <a:r>
              <a:rPr lang="pt-BR" sz="1200" dirty="0"/>
              <a:t>Recomendações financeiras frequentemente dependem da análise de </a:t>
            </a:r>
            <a:r>
              <a:rPr lang="pt-BR" sz="1200" b="1" dirty="0"/>
              <a:t>relacionamentos complexos</a:t>
            </a:r>
            <a:r>
              <a:rPr lang="pt-BR" sz="1200" dirty="0"/>
              <a:t> (</a:t>
            </a:r>
            <a:r>
              <a:rPr lang="pt-BR" sz="1200" dirty="0" err="1"/>
              <a:t>ex</a:t>
            </a:r>
            <a:r>
              <a:rPr lang="pt-BR" sz="1200" dirty="0"/>
              <a:t>: Clientes semelhantes ao Cliente A contrataram o Produto X; Cliente A é vizinho/contato de Cliente B, que usa Produto Y; Cliente A tem um score de risco semelhante ao de outros clusters). O modelo de Grafos é o mais performático para percorrer milhões de conexões (arestas/</a:t>
            </a:r>
            <a:r>
              <a:rPr lang="pt-BR" sz="1200" dirty="0" err="1"/>
              <a:t>edges</a:t>
            </a:r>
            <a:r>
              <a:rPr lang="pt-BR" sz="1200" dirty="0"/>
              <a:t>) rapidamente, identificando caminhos, comunidades e similaridades que são a base da recomendação.</a:t>
            </a:r>
          </a:p>
        </p:txBody>
      </p:sp>
    </p:spTree>
    <p:extLst>
      <p:ext uri="{BB962C8B-B14F-4D97-AF65-F5344CB8AC3E}">
        <p14:creationId xmlns:p14="http://schemas.microsoft.com/office/powerpoint/2010/main" val="407001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D3823E5-DF3C-8E2D-2AA0-C179EE9793F8}"/>
              </a:ext>
            </a:extLst>
          </p:cNvPr>
          <p:cNvSpPr txBox="1"/>
          <p:nvPr/>
        </p:nvSpPr>
        <p:spPr>
          <a:xfrm>
            <a:off x="0" y="0"/>
            <a:ext cx="6096000" cy="54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Telas e relatórios para análise das transações da conta (exemplo: análise por período e por tipo de movimento) - Dimensional</a:t>
            </a:r>
          </a:p>
        </p:txBody>
      </p:sp>
      <p:sp>
        <p:nvSpPr>
          <p:cNvPr id="6" name="Caixa de Texto 2">
            <a:extLst>
              <a:ext uri="{FF2B5EF4-FFF2-40B4-BE49-F238E27FC236}">
                <a16:creationId xmlns:a16="http://schemas.microsoft.com/office/drawing/2014/main" id="{E738BE6B-F017-0085-F3D9-4207B34C0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38" y="28575"/>
            <a:ext cx="4509954" cy="847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  <a:tabLst>
                <a:tab pos="1135380" algn="l"/>
              </a:tabLst>
            </a:pP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CREATE TABLE `</a:t>
            </a:r>
            <a:r>
              <a:rPr lang="pt-BR" sz="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Dim_Cliente</a:t>
            </a: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` (</a:t>
            </a:r>
          </a:p>
          <a:p>
            <a:pPr>
              <a:buNone/>
              <a:tabLst>
                <a:tab pos="1135380" algn="l"/>
              </a:tabLst>
            </a:pP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`</a:t>
            </a:r>
            <a:r>
              <a:rPr lang="pt-BR" sz="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sk_dim_cliente</a:t>
            </a: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` INT,</a:t>
            </a:r>
          </a:p>
          <a:p>
            <a:pPr>
              <a:buNone/>
              <a:tabLst>
                <a:tab pos="1135380" algn="l"/>
              </a:tabLst>
            </a:pP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`nome` VARCHAR(100),</a:t>
            </a:r>
          </a:p>
          <a:p>
            <a:pPr>
              <a:buNone/>
              <a:tabLst>
                <a:tab pos="1135380" algn="l"/>
              </a:tabLst>
            </a:pP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`</a:t>
            </a:r>
            <a:r>
              <a:rPr lang="pt-BR" sz="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cpf</a:t>
            </a: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` CHAR(11),</a:t>
            </a:r>
          </a:p>
          <a:p>
            <a:pPr>
              <a:buNone/>
              <a:tabLst>
                <a:tab pos="1135380" algn="l"/>
              </a:tabLst>
            </a:pP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`</a:t>
            </a:r>
            <a:r>
              <a:rPr lang="pt-BR" sz="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` VARCHAR(100),</a:t>
            </a:r>
          </a:p>
          <a:p>
            <a:pPr>
              <a:buNone/>
              <a:tabLst>
                <a:tab pos="1135380" algn="l"/>
              </a:tabLst>
            </a:pPr>
            <a:r>
              <a:rPr lang="pt-BR" sz="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`telefone` VARCHAR(20) );</a:t>
            </a:r>
            <a:r>
              <a:rPr lang="pt-BR" sz="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 de Texto 2">
            <a:extLst>
              <a:ext uri="{FF2B5EF4-FFF2-40B4-BE49-F238E27FC236}">
                <a16:creationId xmlns:a16="http://schemas.microsoft.com/office/drawing/2014/main" id="{FC22C202-F12F-DE05-EBB8-4DD0B6E7E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38" y="1006377"/>
            <a:ext cx="4509954" cy="10568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CREATE TABLE `</a:t>
            </a:r>
            <a:r>
              <a:rPr lang="pt-BR" dirty="0" err="1"/>
              <a:t>Dim_Tempo</a:t>
            </a:r>
            <a:r>
              <a:rPr lang="pt-BR" dirty="0"/>
              <a:t>` (</a:t>
            </a:r>
          </a:p>
          <a:p>
            <a:r>
              <a:rPr lang="pt-BR" dirty="0"/>
              <a:t>  `</a:t>
            </a:r>
            <a:r>
              <a:rPr lang="pt-BR" dirty="0" err="1"/>
              <a:t>sk_dim_tempo</a:t>
            </a:r>
            <a:r>
              <a:rPr lang="pt-BR" dirty="0"/>
              <a:t>` INT,</a:t>
            </a:r>
          </a:p>
          <a:p>
            <a:r>
              <a:rPr lang="pt-BR" dirty="0"/>
              <a:t>  `data` DATE,</a:t>
            </a:r>
          </a:p>
          <a:p>
            <a:r>
              <a:rPr lang="pt-BR" dirty="0"/>
              <a:t>  `ano` INT,</a:t>
            </a:r>
          </a:p>
          <a:p>
            <a:r>
              <a:rPr lang="pt-BR" dirty="0"/>
              <a:t>  `</a:t>
            </a:r>
            <a:r>
              <a:rPr lang="pt-BR" dirty="0" err="1"/>
              <a:t>mes</a:t>
            </a:r>
            <a:r>
              <a:rPr lang="pt-BR" dirty="0"/>
              <a:t>` INT,</a:t>
            </a:r>
          </a:p>
          <a:p>
            <a:r>
              <a:rPr lang="pt-BR" dirty="0"/>
              <a:t>  `dia` INT,</a:t>
            </a:r>
          </a:p>
          <a:p>
            <a:r>
              <a:rPr lang="pt-BR" dirty="0"/>
              <a:t>  `trimestre` INT,</a:t>
            </a:r>
          </a:p>
          <a:p>
            <a:r>
              <a:rPr lang="pt-BR" dirty="0"/>
              <a:t>  `</a:t>
            </a:r>
            <a:r>
              <a:rPr lang="pt-BR" dirty="0" err="1"/>
              <a:t>dia_da_semana</a:t>
            </a:r>
            <a:r>
              <a:rPr lang="pt-BR" dirty="0"/>
              <a:t>` VARCHAR(10) );</a:t>
            </a:r>
          </a:p>
        </p:txBody>
      </p:sp>
      <p:sp>
        <p:nvSpPr>
          <p:cNvPr id="8" name="Caixa de Texto 2">
            <a:extLst>
              <a:ext uri="{FF2B5EF4-FFF2-40B4-BE49-F238E27FC236}">
                <a16:creationId xmlns:a16="http://schemas.microsoft.com/office/drawing/2014/main" id="{8269754A-0C6A-C40C-CC06-32F8785B2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38" y="2193064"/>
            <a:ext cx="4509954" cy="5767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CREATE TABLE `</a:t>
            </a:r>
            <a:r>
              <a:rPr lang="pt-BR" dirty="0" err="1"/>
              <a:t>Dim_TipoMovimento</a:t>
            </a:r>
            <a:r>
              <a:rPr lang="pt-BR" dirty="0"/>
              <a:t>` (</a:t>
            </a:r>
          </a:p>
          <a:p>
            <a:r>
              <a:rPr lang="pt-BR" dirty="0"/>
              <a:t>  `</a:t>
            </a:r>
            <a:r>
              <a:rPr lang="pt-BR" dirty="0" err="1"/>
              <a:t>sk_tipo_movimento</a:t>
            </a:r>
            <a:r>
              <a:rPr lang="pt-BR" dirty="0"/>
              <a:t>` INT,</a:t>
            </a:r>
          </a:p>
          <a:p>
            <a:r>
              <a:rPr lang="pt-BR" dirty="0"/>
              <a:t>  `</a:t>
            </a:r>
            <a:r>
              <a:rPr lang="pt-BR" dirty="0" err="1"/>
              <a:t>codigo_tipo</a:t>
            </a:r>
            <a:r>
              <a:rPr lang="pt-BR" dirty="0"/>
              <a:t>` VARCHAR(20),</a:t>
            </a:r>
          </a:p>
          <a:p>
            <a:r>
              <a:rPr lang="pt-BR" dirty="0"/>
              <a:t>  `</a:t>
            </a:r>
            <a:r>
              <a:rPr lang="pt-BR" dirty="0" err="1"/>
              <a:t>descricao</a:t>
            </a:r>
            <a:r>
              <a:rPr lang="pt-BR" dirty="0"/>
              <a:t>` VARCHAR(50) ); </a:t>
            </a:r>
          </a:p>
        </p:txBody>
      </p:sp>
      <p:sp>
        <p:nvSpPr>
          <p:cNvPr id="10" name="Caixa de Texto 2">
            <a:extLst>
              <a:ext uri="{FF2B5EF4-FFF2-40B4-BE49-F238E27FC236}">
                <a16:creationId xmlns:a16="http://schemas.microsoft.com/office/drawing/2014/main" id="{77377EEB-E5C8-8AC8-2C3E-C306FA416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38" y="2899719"/>
            <a:ext cx="4509954" cy="5767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CREATE TABLE `</a:t>
            </a:r>
            <a:r>
              <a:rPr lang="en-US" dirty="0" err="1"/>
              <a:t>Dim_TipoPagamento</a:t>
            </a:r>
            <a:r>
              <a:rPr lang="en-US" dirty="0"/>
              <a:t>` (</a:t>
            </a:r>
          </a:p>
          <a:p>
            <a:r>
              <a:rPr lang="en-US" dirty="0"/>
              <a:t>  `</a:t>
            </a:r>
            <a:r>
              <a:rPr lang="en-US" dirty="0" err="1"/>
              <a:t>sk_tipo_pagamento</a:t>
            </a:r>
            <a:r>
              <a:rPr lang="en-US" dirty="0"/>
              <a:t>` INT,</a:t>
            </a:r>
          </a:p>
          <a:p>
            <a:r>
              <a:rPr lang="en-US" dirty="0"/>
              <a:t>  `</a:t>
            </a:r>
            <a:r>
              <a:rPr lang="en-US" dirty="0" err="1"/>
              <a:t>codigo_tipo</a:t>
            </a:r>
            <a:r>
              <a:rPr lang="en-US" dirty="0"/>
              <a:t>` VARCHAR(20),</a:t>
            </a:r>
          </a:p>
          <a:p>
            <a:r>
              <a:rPr lang="en-US" dirty="0"/>
              <a:t>  `</a:t>
            </a:r>
            <a:r>
              <a:rPr lang="en-US" dirty="0" err="1"/>
              <a:t>descricao</a:t>
            </a:r>
            <a:r>
              <a:rPr lang="en-US" dirty="0"/>
              <a:t>` VARCHAR(50) );</a:t>
            </a:r>
            <a:endParaRPr lang="pt-BR" dirty="0"/>
          </a:p>
        </p:txBody>
      </p:sp>
      <p:sp>
        <p:nvSpPr>
          <p:cNvPr id="12" name="Caixa de Texto 2">
            <a:extLst>
              <a:ext uri="{FF2B5EF4-FFF2-40B4-BE49-F238E27FC236}">
                <a16:creationId xmlns:a16="http://schemas.microsoft.com/office/drawing/2014/main" id="{A8E2D424-C7E8-0BDD-2D60-DC2DE9699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38" y="4434915"/>
            <a:ext cx="4509954" cy="1421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CREATE TABLE `</a:t>
            </a:r>
            <a:r>
              <a:rPr lang="pt-BR" dirty="0" err="1"/>
              <a:t>Fato_Transacoes</a:t>
            </a:r>
            <a:r>
              <a:rPr lang="pt-BR" dirty="0"/>
              <a:t>` (</a:t>
            </a:r>
          </a:p>
          <a:p>
            <a:r>
              <a:rPr lang="pt-BR" dirty="0"/>
              <a:t>  `</a:t>
            </a:r>
            <a:r>
              <a:rPr lang="pt-BR" dirty="0" err="1"/>
              <a:t>sk_transacao</a:t>
            </a:r>
            <a:r>
              <a:rPr lang="pt-BR" dirty="0"/>
              <a:t>` BIGINT,</a:t>
            </a:r>
          </a:p>
          <a:p>
            <a:r>
              <a:rPr lang="pt-BR" dirty="0"/>
              <a:t>  `</a:t>
            </a:r>
            <a:r>
              <a:rPr lang="pt-BR" dirty="0" err="1"/>
              <a:t>sk_dim_cliente</a:t>
            </a:r>
            <a:r>
              <a:rPr lang="pt-BR" dirty="0"/>
              <a:t>` INT,</a:t>
            </a:r>
          </a:p>
          <a:p>
            <a:r>
              <a:rPr lang="pt-BR" dirty="0"/>
              <a:t>  `</a:t>
            </a:r>
            <a:r>
              <a:rPr lang="pt-BR" dirty="0" err="1"/>
              <a:t>sk_conta_origem</a:t>
            </a:r>
            <a:r>
              <a:rPr lang="pt-BR" dirty="0"/>
              <a:t>` INT,</a:t>
            </a:r>
          </a:p>
          <a:p>
            <a:r>
              <a:rPr lang="pt-BR" dirty="0"/>
              <a:t>  `</a:t>
            </a:r>
            <a:r>
              <a:rPr lang="pt-BR" dirty="0" err="1"/>
              <a:t>sk_conta_destino</a:t>
            </a:r>
            <a:r>
              <a:rPr lang="pt-BR" dirty="0"/>
              <a:t>` INT,</a:t>
            </a:r>
          </a:p>
          <a:p>
            <a:r>
              <a:rPr lang="pt-BR" dirty="0"/>
              <a:t>  `</a:t>
            </a:r>
            <a:r>
              <a:rPr lang="pt-BR" dirty="0" err="1"/>
              <a:t>sk_dim_tempo</a:t>
            </a:r>
            <a:r>
              <a:rPr lang="pt-BR" dirty="0"/>
              <a:t>` INT,</a:t>
            </a:r>
          </a:p>
          <a:p>
            <a:r>
              <a:rPr lang="pt-BR" dirty="0"/>
              <a:t>  `</a:t>
            </a:r>
            <a:r>
              <a:rPr lang="pt-BR" dirty="0" err="1"/>
              <a:t>sk_tipo_movi</a:t>
            </a:r>
            <a:r>
              <a:rPr lang="pt-BR" dirty="0"/>
              <a:t>` INT,</a:t>
            </a:r>
          </a:p>
          <a:p>
            <a:r>
              <a:rPr lang="pt-BR" dirty="0"/>
              <a:t>  `</a:t>
            </a:r>
            <a:r>
              <a:rPr lang="pt-BR" dirty="0" err="1"/>
              <a:t>sk_tipo_pag</a:t>
            </a:r>
            <a:r>
              <a:rPr lang="pt-BR" dirty="0"/>
              <a:t>` INT,</a:t>
            </a:r>
          </a:p>
          <a:p>
            <a:r>
              <a:rPr lang="pt-BR" dirty="0"/>
              <a:t>  `valor` DECIMAL(15,2),</a:t>
            </a:r>
          </a:p>
          <a:p>
            <a:r>
              <a:rPr lang="pt-BR" dirty="0"/>
              <a:t>  `taxa` DECIMAL(10,2),</a:t>
            </a:r>
          </a:p>
          <a:p>
            <a:r>
              <a:rPr lang="pt-BR" dirty="0"/>
              <a:t>  `</a:t>
            </a:r>
            <a:r>
              <a:rPr lang="pt-BR" dirty="0" err="1"/>
              <a:t>saldo_pos_transacao</a:t>
            </a:r>
            <a:r>
              <a:rPr lang="pt-BR" dirty="0"/>
              <a:t>` DECIMAL(15,2) ); 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F425965-5829-2F86-EBF5-CA3C672A9E07}"/>
              </a:ext>
            </a:extLst>
          </p:cNvPr>
          <p:cNvSpPr txBox="1"/>
          <p:nvPr/>
        </p:nvSpPr>
        <p:spPr>
          <a:xfrm>
            <a:off x="245808" y="4921428"/>
            <a:ext cx="68164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Dimensional: </a:t>
            </a:r>
            <a:r>
              <a:rPr lang="pt-BR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Relatórios e análises (BI) focam em analisar grandes volumes de dados utilizando-se de várias informações distintas (dimensões) e o formato de banco dimensional consegue processar bem as informações OLAP.</a:t>
            </a:r>
            <a:endParaRPr lang="pt-BR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3F675C-1C2C-B156-C866-F7753744C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" b="1580"/>
          <a:stretch>
            <a:fillRect/>
          </a:stretch>
        </p:blipFill>
        <p:spPr bwMode="auto">
          <a:xfrm>
            <a:off x="245808" y="703412"/>
            <a:ext cx="6816435" cy="406013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 de Texto 2">
            <a:extLst>
              <a:ext uri="{FF2B5EF4-FFF2-40B4-BE49-F238E27FC236}">
                <a16:creationId xmlns:a16="http://schemas.microsoft.com/office/drawing/2014/main" id="{63FB6AE3-6232-00B5-916B-B14A435AE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238" y="3606375"/>
            <a:ext cx="4509954" cy="698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CREATE TABLE `</a:t>
            </a:r>
            <a:r>
              <a:rPr lang="en-US" dirty="0" err="1"/>
              <a:t>Dim_Conta</a:t>
            </a:r>
            <a:r>
              <a:rPr lang="en-US" dirty="0"/>
              <a:t>` (</a:t>
            </a:r>
          </a:p>
          <a:p>
            <a:r>
              <a:rPr lang="en-US" dirty="0"/>
              <a:t>  `</a:t>
            </a:r>
            <a:r>
              <a:rPr lang="en-US" dirty="0" err="1"/>
              <a:t>sk_dim_conta</a:t>
            </a:r>
            <a:r>
              <a:rPr lang="en-US" dirty="0"/>
              <a:t>` int,</a:t>
            </a:r>
          </a:p>
          <a:p>
            <a:r>
              <a:rPr lang="en-US" dirty="0"/>
              <a:t>  `</a:t>
            </a:r>
            <a:r>
              <a:rPr lang="en-US" dirty="0" err="1"/>
              <a:t>numero_conta</a:t>
            </a:r>
            <a:r>
              <a:rPr lang="en-US" dirty="0"/>
              <a:t>` VARCHAR(20),</a:t>
            </a:r>
          </a:p>
          <a:p>
            <a:r>
              <a:rPr lang="en-US" dirty="0"/>
              <a:t>  `</a:t>
            </a:r>
            <a:r>
              <a:rPr lang="en-US" dirty="0" err="1"/>
              <a:t>agencia</a:t>
            </a:r>
            <a:r>
              <a:rPr lang="en-US" dirty="0"/>
              <a:t>` VARCHAR(10),</a:t>
            </a:r>
          </a:p>
          <a:p>
            <a:r>
              <a:rPr lang="en-US" dirty="0"/>
              <a:t>  `</a:t>
            </a:r>
            <a:r>
              <a:rPr lang="en-US" dirty="0" err="1"/>
              <a:t>tipo_conta</a:t>
            </a:r>
            <a:r>
              <a:rPr lang="en-US" dirty="0"/>
              <a:t>` VARCHAR(20) );</a:t>
            </a:r>
            <a:endParaRPr lang="pt-BR" dirty="0"/>
          </a:p>
        </p:txBody>
      </p:sp>
      <p:sp>
        <p:nvSpPr>
          <p:cNvPr id="5" name="Caixa de Texto 2">
            <a:extLst>
              <a:ext uri="{FF2B5EF4-FFF2-40B4-BE49-F238E27FC236}">
                <a16:creationId xmlns:a16="http://schemas.microsoft.com/office/drawing/2014/main" id="{80543AAB-8B35-4A4E-1436-F44F911F8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0360" y="5986694"/>
            <a:ext cx="6105832" cy="8332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>
            <a:defPPr>
              <a:defRPr lang="pt-BR"/>
            </a:defPPr>
            <a:lvl1pPr>
              <a:buNone/>
              <a:tabLst>
                <a:tab pos="1135380" algn="l"/>
              </a:tabLst>
              <a:defRPr sz="800" kern="100">
                <a:effectLst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ALTER TABLE `</a:t>
            </a:r>
            <a:r>
              <a:rPr lang="pt-BR" dirty="0" err="1"/>
              <a:t>Fato_Transacoes</a:t>
            </a:r>
            <a:r>
              <a:rPr lang="pt-BR" dirty="0"/>
              <a:t>` ADD FOREIGN KEY (`</a:t>
            </a:r>
            <a:r>
              <a:rPr lang="pt-BR" dirty="0" err="1"/>
              <a:t>sk_dim_cliente</a:t>
            </a:r>
            <a:r>
              <a:rPr lang="pt-BR" dirty="0"/>
              <a:t>`) REFERENCES `</a:t>
            </a:r>
            <a:r>
              <a:rPr lang="pt-BR" dirty="0" err="1"/>
              <a:t>Dim_Cliente</a:t>
            </a:r>
            <a:r>
              <a:rPr lang="pt-BR" dirty="0"/>
              <a:t>` (`</a:t>
            </a:r>
            <a:r>
              <a:rPr lang="pt-BR" dirty="0" err="1"/>
              <a:t>sk_dim_cliente</a:t>
            </a:r>
            <a:r>
              <a:rPr lang="pt-BR" dirty="0"/>
              <a:t>`);</a:t>
            </a:r>
          </a:p>
          <a:p>
            <a:r>
              <a:rPr lang="pt-BR" dirty="0"/>
              <a:t>ALTER TABLE `</a:t>
            </a:r>
            <a:r>
              <a:rPr lang="pt-BR" dirty="0" err="1"/>
              <a:t>Fato_Transacoes</a:t>
            </a:r>
            <a:r>
              <a:rPr lang="pt-BR" dirty="0"/>
              <a:t>` ADD FOREIGN KEY (`</a:t>
            </a:r>
            <a:r>
              <a:rPr lang="pt-BR" dirty="0" err="1"/>
              <a:t>sk_dim_tempo</a:t>
            </a:r>
            <a:r>
              <a:rPr lang="pt-BR" dirty="0"/>
              <a:t>`) REFERENCES `</a:t>
            </a:r>
            <a:r>
              <a:rPr lang="pt-BR" dirty="0" err="1"/>
              <a:t>Dim_Tempo</a:t>
            </a:r>
            <a:r>
              <a:rPr lang="pt-BR" dirty="0"/>
              <a:t>` (`</a:t>
            </a:r>
            <a:r>
              <a:rPr lang="pt-BR" dirty="0" err="1"/>
              <a:t>sk_dim_tempo</a:t>
            </a:r>
            <a:r>
              <a:rPr lang="pt-BR" dirty="0"/>
              <a:t>`);</a:t>
            </a:r>
          </a:p>
          <a:p>
            <a:r>
              <a:rPr lang="pt-BR" dirty="0"/>
              <a:t>ALTER TABLE `</a:t>
            </a:r>
            <a:r>
              <a:rPr lang="pt-BR" dirty="0" err="1"/>
              <a:t>Fato_Transacoes</a:t>
            </a:r>
            <a:r>
              <a:rPr lang="pt-BR" dirty="0"/>
              <a:t>` ADD FOREIGN KEY (`</a:t>
            </a:r>
            <a:r>
              <a:rPr lang="pt-BR" dirty="0" err="1"/>
              <a:t>sk_conta_origem</a:t>
            </a:r>
            <a:r>
              <a:rPr lang="pt-BR" dirty="0"/>
              <a:t>`) REFERENCES `</a:t>
            </a:r>
            <a:r>
              <a:rPr lang="pt-BR" dirty="0" err="1"/>
              <a:t>Dim_Conta</a:t>
            </a:r>
            <a:r>
              <a:rPr lang="pt-BR" dirty="0"/>
              <a:t>` (`</a:t>
            </a:r>
            <a:r>
              <a:rPr lang="pt-BR" dirty="0" err="1"/>
              <a:t>sk_dim_conta</a:t>
            </a:r>
            <a:r>
              <a:rPr lang="pt-BR" dirty="0"/>
              <a:t>`);</a:t>
            </a:r>
          </a:p>
          <a:p>
            <a:r>
              <a:rPr lang="pt-BR" dirty="0"/>
              <a:t>ALTER TABLE `</a:t>
            </a:r>
            <a:r>
              <a:rPr lang="pt-BR" dirty="0" err="1"/>
              <a:t>Fato_Transacoes</a:t>
            </a:r>
            <a:r>
              <a:rPr lang="pt-BR" dirty="0"/>
              <a:t>` ADD FOREIGN KEY (`</a:t>
            </a:r>
            <a:r>
              <a:rPr lang="pt-BR" dirty="0" err="1"/>
              <a:t>sk_conta_destino</a:t>
            </a:r>
            <a:r>
              <a:rPr lang="pt-BR" dirty="0"/>
              <a:t>`) REFERENCES `</a:t>
            </a:r>
            <a:r>
              <a:rPr lang="pt-BR" dirty="0" err="1"/>
              <a:t>Dim_Conta</a:t>
            </a:r>
            <a:r>
              <a:rPr lang="pt-BR" dirty="0"/>
              <a:t>` (`</a:t>
            </a:r>
            <a:r>
              <a:rPr lang="pt-BR" dirty="0" err="1"/>
              <a:t>sk_dim_conta</a:t>
            </a:r>
            <a:r>
              <a:rPr lang="pt-BR" dirty="0"/>
              <a:t>`);</a:t>
            </a:r>
          </a:p>
          <a:p>
            <a:r>
              <a:rPr lang="pt-BR" dirty="0"/>
              <a:t>ALTER TABLE `</a:t>
            </a:r>
            <a:r>
              <a:rPr lang="pt-BR" dirty="0" err="1"/>
              <a:t>Fato_Transacoes</a:t>
            </a:r>
            <a:r>
              <a:rPr lang="pt-BR" dirty="0"/>
              <a:t>` ADD FOREIGN KEY (`</a:t>
            </a:r>
            <a:r>
              <a:rPr lang="pt-BR" dirty="0" err="1"/>
              <a:t>sk_tipo_movi</a:t>
            </a:r>
            <a:r>
              <a:rPr lang="pt-BR" dirty="0"/>
              <a:t>`) REFERENCES `</a:t>
            </a:r>
            <a:r>
              <a:rPr lang="pt-BR" dirty="0" err="1"/>
              <a:t>Dim_TipoMovimento</a:t>
            </a:r>
            <a:r>
              <a:rPr lang="pt-BR" dirty="0"/>
              <a:t>` (`</a:t>
            </a:r>
            <a:r>
              <a:rPr lang="pt-BR" dirty="0" err="1"/>
              <a:t>sk_tipo_movimento</a:t>
            </a:r>
            <a:r>
              <a:rPr lang="pt-BR" dirty="0"/>
              <a:t>`);</a:t>
            </a:r>
          </a:p>
          <a:p>
            <a:r>
              <a:rPr lang="pt-BR" dirty="0"/>
              <a:t>ALTER TABLE `</a:t>
            </a:r>
            <a:r>
              <a:rPr lang="pt-BR" dirty="0" err="1"/>
              <a:t>Fato_Transacoes</a:t>
            </a:r>
            <a:r>
              <a:rPr lang="pt-BR" dirty="0"/>
              <a:t>` ADD FOREIGN KEY (`</a:t>
            </a:r>
            <a:r>
              <a:rPr lang="pt-BR" dirty="0" err="1"/>
              <a:t>sk_tipo_pag</a:t>
            </a:r>
            <a:r>
              <a:rPr lang="pt-BR" dirty="0"/>
              <a:t>`) REFERENCES `</a:t>
            </a:r>
            <a:r>
              <a:rPr lang="pt-BR" dirty="0" err="1"/>
              <a:t>Dim_TipoPagamento</a:t>
            </a:r>
            <a:r>
              <a:rPr lang="pt-BR" dirty="0"/>
              <a:t>` (`</a:t>
            </a:r>
            <a:r>
              <a:rPr lang="pt-BR" dirty="0" err="1"/>
              <a:t>sk_tipo_pagamento</a:t>
            </a:r>
            <a:r>
              <a:rPr lang="pt-BR" dirty="0"/>
              <a:t>`);</a:t>
            </a:r>
          </a:p>
        </p:txBody>
      </p:sp>
    </p:spTree>
    <p:extLst>
      <p:ext uri="{BB962C8B-B14F-4D97-AF65-F5344CB8AC3E}">
        <p14:creationId xmlns:p14="http://schemas.microsoft.com/office/powerpoint/2010/main" val="13914963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2282</Words>
  <Application>Microsoft Office PowerPoint</Application>
  <PresentationFormat>Widescreen</PresentationFormat>
  <Paragraphs>209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boffo</dc:creator>
  <cp:lastModifiedBy>Camila Jenifer Mattos</cp:lastModifiedBy>
  <cp:revision>3</cp:revision>
  <dcterms:created xsi:type="dcterms:W3CDTF">2025-10-27T23:26:41Z</dcterms:created>
  <dcterms:modified xsi:type="dcterms:W3CDTF">2025-12-20T20:30:25Z</dcterms:modified>
</cp:coreProperties>
</file>