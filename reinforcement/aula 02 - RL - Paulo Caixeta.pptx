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994" r:id="rId1"/>
    <p:sldMasterId id="2147484987" r:id="rId2"/>
    <p:sldMasterId id="2147484787" r:id="rId3"/>
  </p:sldMasterIdLst>
  <p:notesMasterIdLst>
    <p:notesMasterId r:id="rId47"/>
  </p:notesMasterIdLst>
  <p:handoutMasterIdLst>
    <p:handoutMasterId r:id="rId48"/>
  </p:handoutMasterIdLst>
  <p:sldIdLst>
    <p:sldId id="470" r:id="rId4"/>
    <p:sldId id="471" r:id="rId5"/>
    <p:sldId id="473" r:id="rId6"/>
    <p:sldId id="472" r:id="rId7"/>
    <p:sldId id="482" r:id="rId8"/>
    <p:sldId id="483" r:id="rId9"/>
    <p:sldId id="487" r:id="rId10"/>
    <p:sldId id="490" r:id="rId11"/>
    <p:sldId id="491" r:id="rId12"/>
    <p:sldId id="492" r:id="rId13"/>
    <p:sldId id="494" r:id="rId14"/>
    <p:sldId id="495" r:id="rId15"/>
    <p:sldId id="496" r:id="rId16"/>
    <p:sldId id="497" r:id="rId17"/>
    <p:sldId id="516" r:id="rId18"/>
    <p:sldId id="500" r:id="rId19"/>
    <p:sldId id="501" r:id="rId20"/>
    <p:sldId id="502" r:id="rId21"/>
    <p:sldId id="503" r:id="rId22"/>
    <p:sldId id="504" r:id="rId23"/>
    <p:sldId id="505" r:id="rId24"/>
    <p:sldId id="506" r:id="rId25"/>
    <p:sldId id="507" r:id="rId26"/>
    <p:sldId id="517" r:id="rId27"/>
    <p:sldId id="518" r:id="rId28"/>
    <p:sldId id="520" r:id="rId29"/>
    <p:sldId id="523" r:id="rId30"/>
    <p:sldId id="513" r:id="rId31"/>
    <p:sldId id="524" r:id="rId32"/>
    <p:sldId id="525" r:id="rId33"/>
    <p:sldId id="526" r:id="rId34"/>
    <p:sldId id="527" r:id="rId35"/>
    <p:sldId id="528" r:id="rId36"/>
    <p:sldId id="529" r:id="rId37"/>
    <p:sldId id="530" r:id="rId38"/>
    <p:sldId id="531" r:id="rId39"/>
    <p:sldId id="533" r:id="rId40"/>
    <p:sldId id="521" r:id="rId41"/>
    <p:sldId id="532" r:id="rId42"/>
    <p:sldId id="522" r:id="rId43"/>
    <p:sldId id="514" r:id="rId44"/>
    <p:sldId id="515" r:id="rId45"/>
    <p:sldId id="444" r:id="rId46"/>
  </p:sldIdLst>
  <p:sldSz cx="9144000" cy="6858000" type="screen4x3"/>
  <p:notesSz cx="7315200" cy="96012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70" autoAdjust="0"/>
    <p:restoredTop sz="98940" autoAdjust="0"/>
  </p:normalViewPr>
  <p:slideViewPr>
    <p:cSldViewPr>
      <p:cViewPr varScale="1">
        <p:scale>
          <a:sx n="122" d="100"/>
          <a:sy n="122" d="100"/>
        </p:scale>
        <p:origin x="1302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760"/>
    </p:cViewPr>
  </p:sorterViewPr>
  <p:notesViewPr>
    <p:cSldViewPr>
      <p:cViewPr>
        <p:scale>
          <a:sx n="90" d="100"/>
          <a:sy n="90" d="100"/>
        </p:scale>
        <p:origin x="2688" y="-618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146" descr="top ppt">
            <a:extLst>
              <a:ext uri="{FF2B5EF4-FFF2-40B4-BE49-F238E27FC236}">
                <a16:creationId xmlns:a16="http://schemas.microsoft.com/office/drawing/2014/main" id="{19DA04EB-A64F-EDAF-925A-3777DCBB44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1450"/>
            <a:ext cx="6837363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" name="Group 147">
            <a:extLst>
              <a:ext uri="{FF2B5EF4-FFF2-40B4-BE49-F238E27FC236}">
                <a16:creationId xmlns:a16="http://schemas.microsoft.com/office/drawing/2014/main" id="{9CD97429-32FB-98BD-78F0-70D59698AA2E}"/>
              </a:ext>
            </a:extLst>
          </p:cNvPr>
          <p:cNvGraphicFramePr>
            <a:graphicFrameLocks noGrp="1"/>
          </p:cNvGraphicFramePr>
          <p:nvPr/>
        </p:nvGraphicFramePr>
        <p:xfrm>
          <a:off x="344488" y="8931275"/>
          <a:ext cx="6615112" cy="327025"/>
        </p:xfrm>
        <a:graphic>
          <a:graphicData uri="http://schemas.openxmlformats.org/drawingml/2006/table">
            <a:tbl>
              <a:tblPr/>
              <a:tblGrid>
                <a:gridCol w="5670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45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kumimoji="0" lang="pt-B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quare721 BT" pitchFamily="34" charset="0"/>
                          <a:cs typeface="Times New Roman" pitchFamily="18" charset="0"/>
                        </a:rPr>
                        <a:t>MBA em Engenharia de Software Orientada a Serviços (SOA)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  <a:cs typeface="Times New Roman" pitchFamily="18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r>
                        <a:rPr lang="pt-BR" sz="800" dirty="0" err="1">
                          <a:latin typeface="Square721 BT" pitchFamily="34" charset="0"/>
                          <a:cs typeface="Calibri" pitchFamily="34" charset="0"/>
                        </a:rPr>
                        <a:t>Profª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. </a:t>
                      </a:r>
                      <a:r>
                        <a:rPr lang="en-US" sz="800" dirty="0" err="1">
                          <a:latin typeface="Square721 BT" pitchFamily="34" charset="0"/>
                          <a:cs typeface="Calibri" pitchFamily="34" charset="0"/>
                        </a:rPr>
                        <a:t>MSc</a:t>
                      </a:r>
                      <a:r>
                        <a:rPr lang="en-US" sz="800" dirty="0">
                          <a:latin typeface="Square721 BT" pitchFamily="34" charset="0"/>
                          <a:cs typeface="Calibri" pitchFamily="34" charset="0"/>
                        </a:rPr>
                        <a:t> </a:t>
                      </a:r>
                      <a:r>
                        <a:rPr lang="pt-BR" sz="800" dirty="0">
                          <a:latin typeface="Square721 BT" pitchFamily="34" charset="0"/>
                          <a:cs typeface="Calibri" pitchFamily="34" charset="0"/>
                        </a:rPr>
                        <a:t>Susanne Anjos Andrade</a:t>
                      </a:r>
                      <a:endParaRPr kumimoji="0" 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Square721 BT" pitchFamily="34" charset="0"/>
                      </a:endParaRPr>
                    </a:p>
                  </a:txBody>
                  <a:tcPr marT="35541" marB="35541" anchor="ctr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806700" algn="ctr"/>
                          <a:tab pos="5611813" algn="r"/>
                        </a:tabLst>
                      </a:pPr>
                      <a:endParaRPr kumimoji="0" lang="pt-B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35541" marB="35541" anchor="ctr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Rectangle 135">
            <a:extLst>
              <a:ext uri="{FF2B5EF4-FFF2-40B4-BE49-F238E27FC236}">
                <a16:creationId xmlns:a16="http://schemas.microsoft.com/office/drawing/2014/main" id="{5002E253-BD59-15F4-CBF9-CB5BF3DD7B1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2550" y="8777288"/>
            <a:ext cx="3076575" cy="398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Square721 BT" pitchFamily="34" charset="0"/>
              </a:defRPr>
            </a:lvl1pPr>
          </a:lstStyle>
          <a:p>
            <a:r>
              <a:rPr lang="pt-BR" altLang="pt-BR"/>
              <a:t>Página - </a:t>
            </a:r>
            <a:fld id="{4678FB55-7743-47D9-89AB-7ABD2D1CC3B1}" type="slidenum">
              <a:rPr lang="pt-BR" altLang="pt-BR"/>
              <a:pPr/>
              <a:t>‹nº›</a:t>
            </a:fld>
            <a:r>
              <a:rPr lang="pt-BR" altLang="pt-BR"/>
              <a:t> -</a:t>
            </a: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B6819238-38F0-A6AC-BC38-9F333C33C8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7651925-AFB6-98A3-EFAD-231215AA218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112334" tIns="56167" rIns="112334" bIns="56167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fld id="{F2105B12-0433-4D82-B4DF-A7A986D10E8A}" type="datetimeFigureOut">
              <a:rPr lang="pt-BR"/>
              <a:pPr>
                <a:defRPr/>
              </a:pPr>
              <a:t>15/04/2026</a:t>
            </a:fld>
            <a:endParaRPr lang="pt-BR"/>
          </a:p>
        </p:txBody>
      </p:sp>
      <p:sp>
        <p:nvSpPr>
          <p:cNvPr id="4" name="Espaço Reservado para Imagem de Slide 3">
            <a:extLst>
              <a:ext uri="{FF2B5EF4-FFF2-40B4-BE49-F238E27FC236}">
                <a16:creationId xmlns:a16="http://schemas.microsoft.com/office/drawing/2014/main" id="{DBFC9356-E936-81BD-2921-057DDB1E3C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19138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12334" tIns="56167" rIns="112334" bIns="56167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>
            <a:extLst>
              <a:ext uri="{FF2B5EF4-FFF2-40B4-BE49-F238E27FC236}">
                <a16:creationId xmlns:a16="http://schemas.microsoft.com/office/drawing/2014/main" id="{2BF5EA26-0608-494E-5894-DEF5E7D4A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31838" y="4560888"/>
            <a:ext cx="5851525" cy="4321175"/>
          </a:xfrm>
          <a:prstGeom prst="rect">
            <a:avLst/>
          </a:prstGeom>
        </p:spPr>
        <p:txBody>
          <a:bodyPr vert="horz" lIns="112334" tIns="56167" rIns="112334" bIns="56167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F9297AA-8744-5609-D19F-50BCBCEC95A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112334" tIns="56167" rIns="112334" bIns="5616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5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E780533-4FC2-52F8-D7F3-2D0AD0437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112334" tIns="56167" rIns="112334" bIns="5616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500">
                <a:latin typeface="Calibri" panose="020F0502020204030204" pitchFamily="34" charset="0"/>
              </a:defRPr>
            </a:lvl1pPr>
          </a:lstStyle>
          <a:p>
            <a:fld id="{A36BD8A2-5271-4551-B0D7-8952F12223F1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AAD97B2A-7E37-2065-3647-51C72D62CD0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268413" y="727075"/>
            <a:ext cx="4778375" cy="3584575"/>
          </a:xfrm>
          <a:noFill/>
          <a:ln cap="flat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29" tIns="45715" rIns="91429" bIns="45715" numCol="1" anchor="ctr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1259C7E1-F666-181D-9124-D010A364D3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004888" y="4573588"/>
            <a:ext cx="5297487" cy="38004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7544" y="116632"/>
            <a:ext cx="7128792" cy="7920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5054" y="1340768"/>
            <a:ext cx="8283409" cy="5256584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31389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808" cy="5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34040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157483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>
              <a:defRPr sz="24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4135553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8015" y="26035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686984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67544" y="188640"/>
            <a:ext cx="7272337" cy="5048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3968264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2526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64704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635896" y="764704"/>
            <a:ext cx="5111750" cy="5853113"/>
          </a:xfrm>
        </p:spPr>
        <p:txBody>
          <a:bodyPr/>
          <a:lstStyle>
            <a:lvl1pPr>
              <a:defRPr sz="3200">
                <a:solidFill>
                  <a:schemeClr val="bg1"/>
                </a:solidFill>
              </a:defRPr>
            </a:lvl1pPr>
            <a:lvl2pPr>
              <a:defRPr sz="2800">
                <a:solidFill>
                  <a:schemeClr val="bg1"/>
                </a:solidFill>
              </a:defRPr>
            </a:lvl2pPr>
            <a:lvl3pPr>
              <a:defRPr sz="24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20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199" y="1926754"/>
            <a:ext cx="3008313" cy="46910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65860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</p:spTree>
    <p:extLst>
      <p:ext uri="{BB962C8B-B14F-4D97-AF65-F5344CB8AC3E}">
        <p14:creationId xmlns:p14="http://schemas.microsoft.com/office/powerpoint/2010/main" val="506942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67544" y="836712"/>
            <a:ext cx="8229600" cy="56355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778611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9673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5131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44545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120076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0" y="3212976"/>
            <a:ext cx="9144000" cy="79273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800" b="1" baseline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375548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928866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93700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23928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30281414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6"/>
          <p:cNvSpPr>
            <a:spLocks noGrp="1"/>
          </p:cNvSpPr>
          <p:nvPr>
            <p:ph type="body" sz="quarter" idx="10"/>
          </p:nvPr>
        </p:nvSpPr>
        <p:spPr>
          <a:xfrm>
            <a:off x="3995936" y="2708920"/>
            <a:ext cx="3529012" cy="79273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BR"/>
              <a:t>Clique para editar o texto mestre</a:t>
            </a:r>
          </a:p>
        </p:txBody>
      </p:sp>
    </p:spTree>
    <p:extLst>
      <p:ext uri="{BB962C8B-B14F-4D97-AF65-F5344CB8AC3E}">
        <p14:creationId xmlns:p14="http://schemas.microsoft.com/office/powerpoint/2010/main" val="802510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2.jpe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9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4.jpeg"/><Relationship Id="rId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Espaço Reservado para Título 1">
            <a:extLst>
              <a:ext uri="{FF2B5EF4-FFF2-40B4-BE49-F238E27FC236}">
                <a16:creationId xmlns:a16="http://schemas.microsoft.com/office/drawing/2014/main" id="{04DFF012-0D2F-3B9A-183F-FD197C8F604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95288" y="260350"/>
            <a:ext cx="7272337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2051" name="Espaço Reservado para Texto 2">
            <a:extLst>
              <a:ext uri="{FF2B5EF4-FFF2-40B4-BE49-F238E27FC236}">
                <a16:creationId xmlns:a16="http://schemas.microsoft.com/office/drawing/2014/main" id="{2DF84761-2464-42EE-59B8-CE77C392959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395288" y="1165225"/>
            <a:ext cx="8497887" cy="5359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2052" name="CaixaDeTexto 5">
            <a:extLst>
              <a:ext uri="{FF2B5EF4-FFF2-40B4-BE49-F238E27FC236}">
                <a16:creationId xmlns:a16="http://schemas.microsoft.com/office/drawing/2014/main" id="{23515DBA-2F64-E775-9E83-D50FE4EBDD8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779838" y="3252788"/>
            <a:ext cx="17637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pt-BR" altLang="pt-BR" sz="2000" b="1"/>
              <a:t>TEMPLATE 2</a:t>
            </a:r>
          </a:p>
        </p:txBody>
      </p:sp>
      <p:pic>
        <p:nvPicPr>
          <p:cNvPr id="2053" name="Imagem 2">
            <a:extLst>
              <a:ext uri="{FF2B5EF4-FFF2-40B4-BE49-F238E27FC236}">
                <a16:creationId xmlns:a16="http://schemas.microsoft.com/office/drawing/2014/main" id="{A6EC88DD-E8A3-57F6-FBF1-32CA0E06A88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22" r:id="rId1"/>
    <p:sldLayoutId id="2147485023" r:id="rId2"/>
    <p:sldLayoutId id="2147485024" r:id="rId3"/>
    <p:sldLayoutId id="2147485025" r:id="rId4"/>
    <p:sldLayoutId id="2147485026" r:id="rId5"/>
    <p:sldLayoutId id="2147485027" r:id="rId6"/>
    <p:sldLayoutId id="2147485028" r:id="rId7"/>
    <p:sldLayoutId id="2147485029" r:id="rId8"/>
    <p:sldLayoutId id="2147485030" r:id="rId9"/>
    <p:sldLayoutId id="2147485035" r:id="rId10"/>
    <p:sldLayoutId id="214748503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Espaço Reservado para Título 1">
            <a:extLst>
              <a:ext uri="{FF2B5EF4-FFF2-40B4-BE49-F238E27FC236}">
                <a16:creationId xmlns:a16="http://schemas.microsoft.com/office/drawing/2014/main" id="{8E6F7967-E512-4F5F-4E5B-3016238A752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3075" name="Espaço Reservado para Texto 2">
            <a:extLst>
              <a:ext uri="{FF2B5EF4-FFF2-40B4-BE49-F238E27FC236}">
                <a16:creationId xmlns:a16="http://schemas.microsoft.com/office/drawing/2014/main" id="{B7B56926-032C-E792-C480-2EB3D53806E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9F6003-D600-01A5-93F8-F7C43F9CC0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EAE81409-DF25-4C41-8081-FF5F6EA8F23C}" type="datetimeFigureOut">
              <a:rPr lang="pt-BR"/>
              <a:pPr>
                <a:defRPr/>
              </a:pPr>
              <a:t>15/04/2026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D1D9EDB-4ACA-9277-3A31-F321386BE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B0A06FD-AC9C-EBCC-0964-C14A4F7099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fld id="{E24C5999-26B5-4C36-97AE-8D929FCBD8E3}" type="slidenum">
              <a:rPr lang="pt-BR" altLang="pt-BR"/>
              <a:pPr/>
              <a:t>‹nº›</a:t>
            </a:fld>
            <a:endParaRPr lang="pt-BR" altLang="pt-BR"/>
          </a:p>
        </p:txBody>
      </p:sp>
      <p:pic>
        <p:nvPicPr>
          <p:cNvPr id="3079" name="Picture 2" descr="C:\Users\cl0817\Desktop\CoringasLogos.jpg">
            <a:extLst>
              <a:ext uri="{FF2B5EF4-FFF2-40B4-BE49-F238E27FC236}">
                <a16:creationId xmlns:a16="http://schemas.microsoft.com/office/drawing/2014/main" id="{71260921-3A81-9DD5-7EF4-453B5ADF0F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Imagem 7">
            <a:extLst>
              <a:ext uri="{FF2B5EF4-FFF2-40B4-BE49-F238E27FC236}">
                <a16:creationId xmlns:a16="http://schemas.microsoft.com/office/drawing/2014/main" id="{62257E3A-26E5-4580-D94E-927389BE5D7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6146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1" name="Imagem 8">
            <a:extLst>
              <a:ext uri="{FF2B5EF4-FFF2-40B4-BE49-F238E27FC236}">
                <a16:creationId xmlns:a16="http://schemas.microsoft.com/office/drawing/2014/main" id="{8A35E6AC-D70A-6172-E423-DE9F607BC632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92275"/>
            <a:ext cx="9161463" cy="390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36" r:id="rId1"/>
    <p:sldLayoutId id="2147485037" r:id="rId2"/>
    <p:sldLayoutId id="2147485038" r:id="rId3"/>
    <p:sldLayoutId id="2147485039" r:id="rId4"/>
    <p:sldLayoutId id="2147485040" r:id="rId5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m 1">
            <a:extLst>
              <a:ext uri="{FF2B5EF4-FFF2-40B4-BE49-F238E27FC236}">
                <a16:creationId xmlns:a16="http://schemas.microsoft.com/office/drawing/2014/main" id="{30499838-F273-7FC1-741B-8781EE0395F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032" r:id="rId1"/>
    <p:sldLayoutId id="2147485033" r:id="rId2"/>
    <p:sldLayoutId id="2147485034" r:id="rId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avidstarsilver.wordpress.com/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m 4">
            <a:extLst>
              <a:ext uri="{FF2B5EF4-FFF2-40B4-BE49-F238E27FC236}">
                <a16:creationId xmlns:a16="http://schemas.microsoft.com/office/drawing/2014/main" id="{334AD4A4-E094-ECF5-A21A-383E21B2A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400"/>
            <a:ext cx="9144000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Espaço Reservado para Texto 1">
            <a:extLst>
              <a:ext uri="{FF2B5EF4-FFF2-40B4-BE49-F238E27FC236}">
                <a16:creationId xmlns:a16="http://schemas.microsoft.com/office/drawing/2014/main" id="{054E42A6-282F-A7F2-5376-3A8F9830620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3924300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pt-BR" altLang="pt-BR" dirty="0"/>
              <a:t>MBA em Data Science &amp; Artificial </a:t>
            </a:r>
            <a:r>
              <a:rPr lang="pt-BR" altLang="pt-BR" dirty="0" err="1"/>
              <a:t>Intelligence</a:t>
            </a:r>
            <a:endParaRPr lang="pt-BR" altLang="pt-B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m 2">
            <a:extLst>
              <a:ext uri="{FF2B5EF4-FFF2-40B4-BE49-F238E27FC236}">
                <a16:creationId xmlns:a16="http://schemas.microsoft.com/office/drawing/2014/main" id="{ADC7C468-EBB7-B5B9-0FA3-F0F5D1A97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5400"/>
            <a:ext cx="9144000" cy="688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Espaço Reservado para Texto 1">
            <a:extLst>
              <a:ext uri="{FF2B5EF4-FFF2-40B4-BE49-F238E27FC236}">
                <a16:creationId xmlns:a16="http://schemas.microsoft.com/office/drawing/2014/main" id="{190B0B74-4982-E55A-BBDF-765BAD6C786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auto">
          <a:xfrm>
            <a:off x="4067175" y="2781300"/>
            <a:ext cx="3529013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pt-BR" altLang="pt-BR" dirty="0"/>
              <a:t>REINFORCEMENT </a:t>
            </a:r>
          </a:p>
          <a:p>
            <a:r>
              <a:rPr lang="pt-BR" altLang="pt-BR" dirty="0"/>
              <a:t>LEARNING</a:t>
            </a:r>
            <a:endParaRPr lang="en-US" altLang="pt-BR" dirty="0"/>
          </a:p>
          <a:p>
            <a:endParaRPr lang="pt-BR" altLang="pt-BR" dirty="0"/>
          </a:p>
        </p:txBody>
      </p:sp>
      <p:sp>
        <p:nvSpPr>
          <p:cNvPr id="14340" name="Espaço Reservado para Texto 4">
            <a:extLst>
              <a:ext uri="{FF2B5EF4-FFF2-40B4-BE49-F238E27FC236}">
                <a16:creationId xmlns:a16="http://schemas.microsoft.com/office/drawing/2014/main" id="{4FA2C4F2-9018-465F-4812-6E03B932D35D}"/>
              </a:ext>
            </a:extLst>
          </p:cNvPr>
          <p:cNvSpPr txBox="1">
            <a:spLocks/>
          </p:cNvSpPr>
          <p:nvPr/>
        </p:nvSpPr>
        <p:spPr bwMode="auto">
          <a:xfrm>
            <a:off x="1619250" y="5805488"/>
            <a:ext cx="4573588" cy="115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b="1" dirty="0">
                <a:solidFill>
                  <a:srgbClr val="D9D9D9"/>
                </a:solidFill>
              </a:rPr>
              <a:t>Prof. Paulo Caixeta 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 dirty="0">
                <a:solidFill>
                  <a:srgbClr val="D9D9D9"/>
                </a:solidFill>
              </a:rPr>
              <a:t>Profpaulo.oliveira@fiap.com.br</a:t>
            </a: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nb-NO" altLang="pt-BR" sz="1200" dirty="0">
              <a:solidFill>
                <a:srgbClr val="D9D9D9"/>
              </a:solidFill>
            </a:endParaRPr>
          </a:p>
          <a:p>
            <a:pPr lvl="4" algn="r"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nb-NO" altLang="pt-BR" sz="1200">
                <a:solidFill>
                  <a:srgbClr val="D9D9D9"/>
                </a:solidFill>
              </a:rPr>
              <a:t>2026</a:t>
            </a:r>
            <a:endParaRPr lang="nb-NO" altLang="pt-BR" sz="1200" dirty="0">
              <a:solidFill>
                <a:srgbClr val="D9D9D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7DE49495-E857-EB75-FD94-354BC64ABC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Conteúdo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40A1A583-D015-EBC7-4555-E094AE6980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313" y="891358"/>
            <a:ext cx="8424167" cy="525621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Recapitulação</a:t>
            </a:r>
            <a:r>
              <a:rPr lang="en-US" dirty="0"/>
              <a:t>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Demo – Frozen Lake</a:t>
            </a:r>
            <a:r>
              <a:rPr lang="en-US" dirty="0"/>
              <a:t>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Equação de </a:t>
            </a:r>
            <a:r>
              <a:rPr lang="pt-BR" dirty="0" err="1"/>
              <a:t>Bellman</a:t>
            </a:r>
            <a:r>
              <a:rPr lang="pt-BR" dirty="0"/>
              <a:t>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pt-BR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dirty="0"/>
              <a:t>Demo – </a:t>
            </a:r>
            <a:r>
              <a:rPr lang="pt-BR" dirty="0" err="1"/>
              <a:t>Bellman</a:t>
            </a:r>
            <a:r>
              <a:rPr lang="pt-BR" dirty="0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769AED15-A281-2CE1-0648-806A46CA41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CONCEITOS</a:t>
            </a:r>
            <a:r>
              <a:rPr lang="pt-BR" altLang="pt-BR" dirty="0"/>
              <a:t> DO APRENDIZADO POR REFORÇO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AE7F8-3E4E-B45A-A7B7-6F3AA3265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7810172-0072-ABF9-9CB0-7BDFB5F2F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Definição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8ABDBB98-A512-0ADD-CD43-CBE8CB97F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313" y="891358"/>
            <a:ext cx="8424167" cy="5256212"/>
          </a:xfrm>
        </p:spPr>
        <p:txBody>
          <a:bodyPr/>
          <a:lstStyle/>
          <a:p>
            <a:r>
              <a:rPr lang="pt-BR" altLang="pt-BR" sz="2000" dirty="0">
                <a:solidFill>
                  <a:srgbClr val="FF0066"/>
                </a:solidFill>
              </a:rPr>
              <a:t>Aprendizado por reforço </a:t>
            </a:r>
            <a:r>
              <a:rPr lang="pt-BR" altLang="pt-BR" sz="2000" dirty="0"/>
              <a:t>é um paradigma de aprendizado de máquina que se baseia na </a:t>
            </a:r>
            <a:r>
              <a:rPr lang="pt-BR" altLang="pt-BR" sz="2000" dirty="0">
                <a:solidFill>
                  <a:srgbClr val="FF0066"/>
                </a:solidFill>
              </a:rPr>
              <a:t>interação de um agente com um ambiente</a:t>
            </a:r>
            <a:r>
              <a:rPr lang="pt-BR" altLang="pt-BR" sz="2000" dirty="0"/>
              <a:t>, em que o agente aprende a tomar decisões ótimas para </a:t>
            </a:r>
            <a:r>
              <a:rPr lang="pt-BR" altLang="pt-BR" sz="2000" b="1" u="sng" dirty="0">
                <a:solidFill>
                  <a:srgbClr val="FF0066"/>
                </a:solidFill>
              </a:rPr>
              <a:t>maximizar</a:t>
            </a:r>
            <a:r>
              <a:rPr lang="pt-BR" altLang="pt-BR" sz="2000" dirty="0"/>
              <a:t> uma recompensa numérica a </a:t>
            </a:r>
            <a:r>
              <a:rPr lang="pt-BR" altLang="pt-BR" sz="2000" b="1" u="sng" dirty="0">
                <a:solidFill>
                  <a:srgbClr val="FF0066"/>
                </a:solidFill>
              </a:rPr>
              <a:t>longo prazo</a:t>
            </a:r>
            <a:r>
              <a:rPr lang="pt-BR" altLang="pt-BR" sz="2000" dirty="0"/>
              <a:t>.</a:t>
            </a:r>
          </a:p>
          <a:p>
            <a:endParaRPr lang="pt-BR" altLang="pt-BR" sz="2000" dirty="0"/>
          </a:p>
          <a:p>
            <a:r>
              <a:rPr lang="pt-BR" altLang="pt-BR" sz="2000" dirty="0"/>
              <a:t>O agente deve aprender por </a:t>
            </a:r>
            <a:r>
              <a:rPr lang="pt-BR" altLang="pt-BR" sz="2000" dirty="0">
                <a:solidFill>
                  <a:srgbClr val="FF0066"/>
                </a:solidFill>
              </a:rPr>
              <a:t>tentativa</a:t>
            </a:r>
            <a:r>
              <a:rPr lang="pt-BR" altLang="pt-BR" sz="2000" dirty="0"/>
              <a:t> e erro, experimentando </a:t>
            </a:r>
            <a:r>
              <a:rPr lang="pt-BR" altLang="pt-BR" sz="2000" dirty="0">
                <a:solidFill>
                  <a:srgbClr val="FF0066"/>
                </a:solidFill>
              </a:rPr>
              <a:t>ações</a:t>
            </a:r>
            <a:r>
              <a:rPr lang="pt-BR" altLang="pt-BR" sz="2000" dirty="0"/>
              <a:t> e observando as </a:t>
            </a:r>
            <a:r>
              <a:rPr lang="pt-BR" altLang="pt-BR" sz="2000" dirty="0">
                <a:solidFill>
                  <a:srgbClr val="FF0066"/>
                </a:solidFill>
              </a:rPr>
              <a:t>consequências</a:t>
            </a:r>
            <a:r>
              <a:rPr lang="pt-BR" altLang="pt-BR" sz="2000" dirty="0"/>
              <a:t> dessas ações no ambiente, recebendo recompensas positivas ou negativas dependendo de seu desempenho.</a:t>
            </a:r>
          </a:p>
          <a:p>
            <a:endParaRPr lang="pt-BR" altLang="pt-BR" sz="2000" dirty="0"/>
          </a:p>
          <a:p>
            <a:endParaRPr lang="pt-BR" altLang="pt-BR" sz="2000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en-US" sz="1100" dirty="0"/>
              <a:t>[Reinforcement Learning: An Introduction. Richard S. Sutton e Andrew G. Barto]</a:t>
            </a:r>
            <a:endParaRPr lang="pt-BR" altLang="pt-BR" sz="1000" dirty="0"/>
          </a:p>
        </p:txBody>
      </p:sp>
    </p:spTree>
    <p:extLst>
      <p:ext uri="{BB962C8B-B14F-4D97-AF65-F5344CB8AC3E}">
        <p14:creationId xmlns:p14="http://schemas.microsoft.com/office/powerpoint/2010/main" val="17336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6230E0-F89F-162B-B9FE-3AA09BBC6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A0FCEC24-A173-8D91-1611-3D365BA9AF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Características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77BFC7BE-C8D7-71F4-563A-22B022AB47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313" y="891358"/>
            <a:ext cx="8424167" cy="5256212"/>
          </a:xfrm>
        </p:spPr>
        <p:txBody>
          <a:bodyPr/>
          <a:lstStyle/>
          <a:p>
            <a:r>
              <a:rPr lang="pt-BR" altLang="pt-BR" sz="2000" dirty="0"/>
              <a:t>O que torna o aprendizado por reforço diferente de outros paradigmas de aprendizados de máquina?</a:t>
            </a:r>
          </a:p>
          <a:p>
            <a:endParaRPr lang="pt-BR" altLang="pt-BR" sz="2000" dirty="0"/>
          </a:p>
          <a:p>
            <a:r>
              <a:rPr lang="pt-BR" altLang="pt-BR" sz="2000" dirty="0">
                <a:solidFill>
                  <a:srgbClr val="FF0066"/>
                </a:solidFill>
              </a:rPr>
              <a:t>• </a:t>
            </a:r>
            <a:r>
              <a:rPr lang="pt-BR" altLang="pt-BR" sz="2000" dirty="0"/>
              <a:t>O feedback é </a:t>
            </a:r>
            <a:r>
              <a:rPr lang="pt-BR" altLang="pt-BR" sz="2000" dirty="0">
                <a:solidFill>
                  <a:srgbClr val="FF0066"/>
                </a:solidFill>
              </a:rPr>
              <a:t>atrasado, não instantâneo;</a:t>
            </a:r>
          </a:p>
          <a:p>
            <a:endParaRPr lang="pt-BR" altLang="pt-BR" sz="2000" dirty="0">
              <a:solidFill>
                <a:srgbClr val="FF0066"/>
              </a:solidFill>
            </a:endParaRPr>
          </a:p>
          <a:p>
            <a:r>
              <a:rPr lang="pt-BR" altLang="pt-BR" sz="2000" dirty="0">
                <a:solidFill>
                  <a:srgbClr val="FF0066"/>
                </a:solidFill>
              </a:rPr>
              <a:t>• </a:t>
            </a:r>
            <a:r>
              <a:rPr lang="pt-BR" altLang="pt-BR" sz="2000" dirty="0"/>
              <a:t>O tempo </a:t>
            </a:r>
            <a:r>
              <a:rPr lang="pt-BR" altLang="pt-BR" sz="2000" dirty="0">
                <a:solidFill>
                  <a:srgbClr val="FF0066"/>
                </a:solidFill>
              </a:rPr>
              <a:t>realmente importa </a:t>
            </a:r>
            <a:r>
              <a:rPr lang="pt-BR" altLang="pt-BR" sz="2000" dirty="0"/>
              <a:t>(não basta conseguir);</a:t>
            </a:r>
          </a:p>
          <a:p>
            <a:endParaRPr lang="pt-BR" altLang="pt-BR" sz="2000" dirty="0">
              <a:solidFill>
                <a:srgbClr val="FF0066"/>
              </a:solidFill>
            </a:endParaRPr>
          </a:p>
          <a:p>
            <a:r>
              <a:rPr lang="pt-BR" altLang="pt-BR" sz="2000" dirty="0">
                <a:solidFill>
                  <a:srgbClr val="FF0066"/>
                </a:solidFill>
              </a:rPr>
              <a:t>• </a:t>
            </a:r>
            <a:r>
              <a:rPr lang="pt-BR" altLang="pt-BR" sz="2000" dirty="0"/>
              <a:t>As ações do agente </a:t>
            </a:r>
            <a:r>
              <a:rPr lang="pt-BR" altLang="pt-BR" sz="2000" dirty="0">
                <a:solidFill>
                  <a:srgbClr val="FF0066"/>
                </a:solidFill>
              </a:rPr>
              <a:t>afetam os dados subsequentes </a:t>
            </a:r>
            <a:r>
              <a:rPr lang="pt-BR" altLang="pt-BR" sz="2000" dirty="0"/>
              <a:t>que ele recebe.</a:t>
            </a:r>
          </a:p>
          <a:p>
            <a:endParaRPr lang="pt-BR" altLang="pt-BR" sz="2000" dirty="0"/>
          </a:p>
        </p:txBody>
      </p:sp>
    </p:spTree>
    <p:extLst>
      <p:ext uri="{BB962C8B-B14F-4D97-AF65-F5344CB8AC3E}">
        <p14:creationId xmlns:p14="http://schemas.microsoft.com/office/powerpoint/2010/main" val="285709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D5954-EDA9-5516-FD91-2D4EF916C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FC4A653-69FB-BB06-6E8F-B9E9A903D9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Conceitos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18636784-BA22-6667-6D53-42B5743214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1549" y="891358"/>
            <a:ext cx="3992451" cy="5256212"/>
          </a:xfrm>
        </p:spPr>
        <p:txBody>
          <a:bodyPr/>
          <a:lstStyle/>
          <a:p>
            <a:r>
              <a:rPr lang="pt-BR" altLang="pt-BR" sz="2000" dirty="0">
                <a:solidFill>
                  <a:srgbClr val="FF0066"/>
                </a:solidFill>
              </a:rPr>
              <a:t>Agent→ </a:t>
            </a:r>
            <a:r>
              <a:rPr lang="pt-BR" altLang="pt-BR" sz="2000" dirty="0"/>
              <a:t>O aprendiz;</a:t>
            </a:r>
          </a:p>
          <a:p>
            <a:endParaRPr lang="pt-BR" altLang="pt-BR" sz="2000" dirty="0"/>
          </a:p>
          <a:p>
            <a:r>
              <a:rPr lang="pt-BR" altLang="pt-BR" sz="2000" dirty="0" err="1">
                <a:solidFill>
                  <a:srgbClr val="FF0066"/>
                </a:solidFill>
              </a:rPr>
              <a:t>Action</a:t>
            </a:r>
            <a:r>
              <a:rPr lang="pt-BR" altLang="pt-BR" sz="2000" dirty="0">
                <a:solidFill>
                  <a:srgbClr val="FF0066"/>
                </a:solidFill>
              </a:rPr>
              <a:t>→ </a:t>
            </a:r>
            <a:r>
              <a:rPr lang="pt-BR" altLang="pt-BR" sz="2000" dirty="0"/>
              <a:t>O que o Agente faz;</a:t>
            </a:r>
          </a:p>
          <a:p>
            <a:endParaRPr lang="pt-BR" altLang="pt-BR" sz="2000" dirty="0"/>
          </a:p>
          <a:p>
            <a:r>
              <a:rPr lang="pt-BR" altLang="pt-BR" sz="2000" dirty="0" err="1">
                <a:solidFill>
                  <a:srgbClr val="FF0066"/>
                </a:solidFill>
              </a:rPr>
              <a:t>Environment</a:t>
            </a:r>
            <a:r>
              <a:rPr lang="pt-BR" altLang="pt-BR" sz="2000" dirty="0">
                <a:solidFill>
                  <a:srgbClr val="FF0066"/>
                </a:solidFill>
              </a:rPr>
              <a:t>→</a:t>
            </a:r>
            <a:r>
              <a:rPr lang="pt-BR" altLang="pt-BR" sz="2000" dirty="0"/>
              <a:t> O mundo       (tudo fora do agente); </a:t>
            </a:r>
          </a:p>
          <a:p>
            <a:endParaRPr lang="pt-BR" altLang="pt-BR" sz="2000" dirty="0"/>
          </a:p>
          <a:p>
            <a:r>
              <a:rPr lang="pt-BR" altLang="pt-BR" sz="2000" dirty="0" err="1">
                <a:solidFill>
                  <a:srgbClr val="FF0066"/>
                </a:solidFill>
              </a:rPr>
              <a:t>State</a:t>
            </a:r>
            <a:r>
              <a:rPr lang="pt-BR" altLang="pt-BR" sz="2000" dirty="0">
                <a:solidFill>
                  <a:srgbClr val="FF0066"/>
                </a:solidFill>
              </a:rPr>
              <a:t>→ </a:t>
            </a:r>
            <a:r>
              <a:rPr lang="pt-BR" altLang="pt-BR" sz="2000" dirty="0"/>
              <a:t>O conjunto de todas as informações que descrevem precisa e suficientemente a situação no ambiente;</a:t>
            </a:r>
          </a:p>
          <a:p>
            <a:endParaRPr lang="pt-BR" altLang="pt-BR" sz="2000" dirty="0"/>
          </a:p>
          <a:p>
            <a:r>
              <a:rPr lang="pt-BR" altLang="pt-BR" sz="2000" dirty="0" err="1">
                <a:solidFill>
                  <a:srgbClr val="FF0066"/>
                </a:solidFill>
              </a:rPr>
              <a:t>Reward</a:t>
            </a:r>
            <a:r>
              <a:rPr lang="pt-BR" altLang="pt-BR" sz="2000" dirty="0">
                <a:solidFill>
                  <a:srgbClr val="FF0066"/>
                </a:solidFill>
              </a:rPr>
              <a:t>→ </a:t>
            </a:r>
            <a:r>
              <a:rPr lang="pt-BR" altLang="pt-BR" sz="2000" dirty="0"/>
              <a:t>Toda vez que o agente realiza uma ação, ele recebe uma recompensa do ambiente.</a:t>
            </a:r>
          </a:p>
          <a:p>
            <a:endParaRPr lang="pt-BR" altLang="pt-BR" sz="2000" dirty="0"/>
          </a:p>
          <a:p>
            <a:endParaRPr lang="pt-BR" altLang="pt-BR" sz="2000" dirty="0"/>
          </a:p>
          <a:p>
            <a:endParaRPr lang="pt-BR" altLang="pt-BR" sz="2000" dirty="0"/>
          </a:p>
          <a:p>
            <a:endParaRPr lang="pt-BR" altLang="pt-BR" sz="2000" dirty="0"/>
          </a:p>
          <a:p>
            <a:endParaRPr lang="pt-BR" altLang="pt-BR" sz="1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1EF8A80-BC9B-2B2D-273A-F0359F996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5151549" cy="269780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711228F-EE3B-14A2-598B-234F84D6C627}"/>
              </a:ext>
            </a:extLst>
          </p:cNvPr>
          <p:cNvSpPr txBox="1"/>
          <p:nvPr/>
        </p:nvSpPr>
        <p:spPr>
          <a:xfrm>
            <a:off x="-108520" y="4638328"/>
            <a:ext cx="51515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bg1"/>
                </a:solidFill>
              </a:rPr>
              <a:t>Prof. Dr. </a:t>
            </a:r>
            <a:r>
              <a:rPr lang="pt-BR" sz="900" dirty="0" err="1">
                <a:solidFill>
                  <a:schemeClr val="bg1"/>
                </a:solidFill>
              </a:rPr>
              <a:t>Ahirton</a:t>
            </a:r>
            <a:r>
              <a:rPr lang="pt-BR" sz="900" dirty="0">
                <a:solidFill>
                  <a:schemeClr val="bg1"/>
                </a:solidFill>
              </a:rPr>
              <a:t> Lopes</a:t>
            </a:r>
          </a:p>
        </p:txBody>
      </p:sp>
    </p:spTree>
    <p:extLst>
      <p:ext uri="{BB962C8B-B14F-4D97-AF65-F5344CB8AC3E}">
        <p14:creationId xmlns:p14="http://schemas.microsoft.com/office/powerpoint/2010/main" val="379588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3CB59-EDB7-33D3-EF05-7AFE83CAA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14C5E984-C218-4DBC-E953-15FF3E401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Conceitos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190444CA-CEDE-9554-E2BD-DCE188B9C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1549" y="891358"/>
            <a:ext cx="3992451" cy="5256212"/>
          </a:xfrm>
        </p:spPr>
        <p:txBody>
          <a:bodyPr/>
          <a:lstStyle/>
          <a:p>
            <a:r>
              <a:rPr lang="pt-BR" altLang="pt-BR" sz="1800" dirty="0"/>
              <a:t>A cada passo t:</a:t>
            </a:r>
          </a:p>
          <a:p>
            <a:endParaRPr lang="pt-BR" altLang="pt-B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rgbClr val="FF0066"/>
                </a:solidFill>
              </a:rPr>
              <a:t>agente: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Executa ação 𝐴𝑡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Recebe estado 𝑆𝑡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Recebe recompensa escalar 𝑅𝑡</a:t>
            </a:r>
          </a:p>
          <a:p>
            <a:pPr marL="228600" indent="-228600">
              <a:buFont typeface="+mj-lt"/>
              <a:buAutoNum type="arabicPeriod"/>
            </a:pPr>
            <a:endParaRPr lang="pt-BR" altLang="pt-B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rgbClr val="FF0066"/>
                </a:solidFill>
              </a:rPr>
              <a:t>ambiente</a:t>
            </a:r>
            <a:r>
              <a:rPr lang="pt-BR" altLang="pt-BR" sz="1800" dirty="0"/>
              <a:t>: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Recebe ação 𝐴𝑡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Emite estado 𝑆𝑡+1</a:t>
            </a:r>
          </a:p>
          <a:p>
            <a:pPr marL="228600" indent="-228600">
              <a:buFont typeface="+mj-lt"/>
              <a:buAutoNum type="arabicPeriod"/>
            </a:pPr>
            <a:r>
              <a:rPr lang="pt-BR" altLang="pt-BR" sz="1800" dirty="0"/>
              <a:t>Emite recompensa escalar 𝑅𝑡+1</a:t>
            </a:r>
          </a:p>
          <a:p>
            <a:pPr marL="228600" indent="-228600">
              <a:buFont typeface="+mj-lt"/>
              <a:buAutoNum type="arabicPeriod"/>
            </a:pPr>
            <a:endParaRPr lang="pt-BR" altLang="pt-BR" sz="1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altLang="pt-BR" sz="1800" dirty="0">
                <a:solidFill>
                  <a:srgbClr val="FF0066"/>
                </a:solidFill>
              </a:rPr>
              <a:t>t </a:t>
            </a:r>
            <a:r>
              <a:rPr lang="pt-BR" altLang="pt-BR" sz="1800" dirty="0"/>
              <a:t>incrementa a Etapa</a:t>
            </a:r>
          </a:p>
          <a:p>
            <a:pPr marL="228600" indent="-228600">
              <a:buFont typeface="+mj-lt"/>
              <a:buAutoNum type="arabicPeriod"/>
            </a:pPr>
            <a:endParaRPr lang="pt-BR" altLang="pt-BR" sz="1000" dirty="0"/>
          </a:p>
          <a:p>
            <a:pPr marL="228600" indent="-228600">
              <a:buFont typeface="+mj-lt"/>
              <a:buAutoNum type="arabicPeriod"/>
            </a:pPr>
            <a:endParaRPr lang="pt-BR" altLang="pt-BR" sz="1000" dirty="0"/>
          </a:p>
          <a:p>
            <a:pPr marL="228600" indent="-228600">
              <a:buFont typeface="+mj-lt"/>
              <a:buAutoNum type="arabicPeriod"/>
            </a:pPr>
            <a:endParaRPr lang="pt-BR" altLang="pt-BR" sz="1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E0F317B-72ED-24B0-A003-24F57DD048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8840"/>
            <a:ext cx="5151549" cy="269780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BC04D01-65EA-0C9D-7751-21D250DEC454}"/>
              </a:ext>
            </a:extLst>
          </p:cNvPr>
          <p:cNvSpPr txBox="1"/>
          <p:nvPr/>
        </p:nvSpPr>
        <p:spPr>
          <a:xfrm>
            <a:off x="-108520" y="4638328"/>
            <a:ext cx="515154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solidFill>
                  <a:schemeClr val="bg1"/>
                </a:solidFill>
              </a:rPr>
              <a:t>Prof. Dr. </a:t>
            </a:r>
            <a:r>
              <a:rPr lang="pt-BR" sz="900" dirty="0" err="1">
                <a:solidFill>
                  <a:schemeClr val="bg1"/>
                </a:solidFill>
              </a:rPr>
              <a:t>Ahirton</a:t>
            </a:r>
            <a:r>
              <a:rPr lang="pt-BR" sz="900" dirty="0">
                <a:solidFill>
                  <a:schemeClr val="bg1"/>
                </a:solidFill>
              </a:rPr>
              <a:t> Lopes</a:t>
            </a:r>
          </a:p>
        </p:txBody>
      </p:sp>
    </p:spTree>
    <p:extLst>
      <p:ext uri="{BB962C8B-B14F-4D97-AF65-F5344CB8AC3E}">
        <p14:creationId xmlns:p14="http://schemas.microsoft.com/office/powerpoint/2010/main" val="2195010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73FF9-448A-B762-D223-9D4441333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9482B53F-5597-BCC1-68D8-32BD09509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Conceitos - Tomada de decisão </a:t>
            </a:r>
            <a:r>
              <a:rPr lang="pt-BR" altLang="pt-BR" dirty="0">
                <a:solidFill>
                  <a:srgbClr val="FF0066"/>
                </a:solidFill>
              </a:rPr>
              <a:t>sequencial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C1E73253-3E4D-EB2E-4BE2-C1A28FCFC3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6" y="1412776"/>
            <a:ext cx="9108504" cy="6165304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O </a:t>
            </a:r>
            <a:r>
              <a:rPr lang="pt-BR" altLang="pt-BR" sz="1800" dirty="0">
                <a:solidFill>
                  <a:srgbClr val="FF0066"/>
                </a:solidFill>
              </a:rPr>
              <a:t>agente</a:t>
            </a:r>
            <a:r>
              <a:rPr lang="pt-BR" altLang="pt-BR" sz="1800" dirty="0"/>
              <a:t> deve decidir qual ação tomar em cada momento, com base em seu conhecimento </a:t>
            </a:r>
            <a:r>
              <a:rPr lang="pt-BR" altLang="pt-BR" sz="1800" dirty="0">
                <a:solidFill>
                  <a:srgbClr val="FF0066"/>
                </a:solidFill>
              </a:rPr>
              <a:t>atual</a:t>
            </a:r>
            <a:r>
              <a:rPr lang="pt-BR" altLang="pt-BR" sz="1800" dirty="0"/>
              <a:t> e nas possíveis consequências de suas ações no futuro.</a:t>
            </a:r>
          </a:p>
          <a:p>
            <a:endParaRPr lang="pt-BR" alt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Ou seja, em uma tarefa de tomada de decisão sequencial, o agente </a:t>
            </a:r>
            <a:r>
              <a:rPr lang="pt-BR" altLang="pt-BR" sz="1800" dirty="0">
                <a:solidFill>
                  <a:srgbClr val="FF0066"/>
                </a:solidFill>
              </a:rPr>
              <a:t>interage</a:t>
            </a:r>
            <a:r>
              <a:rPr lang="pt-BR" altLang="pt-BR" sz="1800" dirty="0"/>
              <a:t> com o </a:t>
            </a:r>
            <a:r>
              <a:rPr lang="pt-BR" altLang="pt-BR" sz="1800" dirty="0">
                <a:solidFill>
                  <a:srgbClr val="FF0066"/>
                </a:solidFill>
              </a:rPr>
              <a:t>ambiente</a:t>
            </a:r>
            <a:r>
              <a:rPr lang="pt-BR" altLang="pt-BR" sz="1800" dirty="0"/>
              <a:t> em etapas sucessivas, observando o </a:t>
            </a:r>
            <a:r>
              <a:rPr lang="pt-BR" altLang="pt-BR" sz="1800" dirty="0">
                <a:solidFill>
                  <a:srgbClr val="FF0066"/>
                </a:solidFill>
              </a:rPr>
              <a:t>estado</a:t>
            </a:r>
            <a:r>
              <a:rPr lang="pt-BR" altLang="pt-BR" sz="1800" dirty="0"/>
              <a:t> atual do ambiente, tomando uma ação e recebendo uma </a:t>
            </a:r>
            <a:r>
              <a:rPr lang="pt-BR" altLang="pt-BR" sz="1800" dirty="0">
                <a:solidFill>
                  <a:srgbClr val="FF0066"/>
                </a:solidFill>
              </a:rPr>
              <a:t>recompensa</a:t>
            </a:r>
            <a:r>
              <a:rPr lang="pt-BR" altLang="pt-BR" sz="1800" dirty="0"/>
              <a:t>.</a:t>
            </a:r>
          </a:p>
          <a:p>
            <a:endParaRPr lang="pt-BR" alt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Pode-se modelar a tomada de decisão sequencial por um Processo de Decisão de </a:t>
            </a:r>
            <a:r>
              <a:rPr lang="pt-BR" altLang="pt-BR" sz="1800" dirty="0">
                <a:solidFill>
                  <a:srgbClr val="FF0066"/>
                </a:solidFill>
              </a:rPr>
              <a:t>Markov</a:t>
            </a:r>
            <a:r>
              <a:rPr lang="pt-BR" altLang="pt-BR" sz="1800" dirty="0"/>
              <a:t> (MDP)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𝑃[𝑠𝑡+1|𝑠𝑡] = 𝑃[𝑠𝑡+1|𝑠1, … , 𝑠𝑡]</a:t>
            </a:r>
          </a:p>
          <a:p>
            <a:pPr lvl="1"/>
            <a:endParaRPr lang="pt-BR" altLang="pt-BR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altLang="pt-BR" sz="1800" dirty="0"/>
              <a:t>O estado atual do processo </a:t>
            </a:r>
            <a:r>
              <a:rPr lang="pt-BR" altLang="pt-BR" sz="1800" dirty="0">
                <a:solidFill>
                  <a:srgbClr val="FF0066"/>
                </a:solidFill>
              </a:rPr>
              <a:t>contém toda a informação </a:t>
            </a:r>
            <a:r>
              <a:rPr lang="pt-BR" altLang="pt-BR" sz="1800" dirty="0"/>
              <a:t>relevante sobre o passado, e não é necessário considerar a história completa do processo para fazer previsões precisas sobre o futuro - Propriedade de Markov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3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altLang="pt-BR" sz="1300" dirty="0"/>
          </a:p>
          <a:p>
            <a:pPr algn="ctr"/>
            <a:r>
              <a:rPr lang="pt-BR" altLang="pt-BR" sz="1300" dirty="0"/>
              <a:t>“Esta informação já está no preço” (Hipótese do Mercado Eficiente)</a:t>
            </a:r>
          </a:p>
        </p:txBody>
      </p:sp>
    </p:spTree>
    <p:extLst>
      <p:ext uri="{BB962C8B-B14F-4D97-AF65-F5344CB8AC3E}">
        <p14:creationId xmlns:p14="http://schemas.microsoft.com/office/powerpoint/2010/main" val="8402951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04BD7-23F1-E1A5-41FD-0AB489D2C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8E92949E-08F2-A815-21F2-061757B8A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Conceitos - Tomada de decisão </a:t>
            </a:r>
            <a:r>
              <a:rPr lang="pt-BR" altLang="pt-BR" dirty="0">
                <a:solidFill>
                  <a:srgbClr val="FF0066"/>
                </a:solidFill>
              </a:rPr>
              <a:t>sequencial</a:t>
            </a:r>
            <a:endParaRPr lang="pt-BR" alt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C17BA8F-B2C6-B059-8CAE-FC8AEAA7353D}"/>
              </a:ext>
            </a:extLst>
          </p:cNvPr>
          <p:cNvSpPr txBox="1"/>
          <p:nvPr/>
        </p:nvSpPr>
        <p:spPr>
          <a:xfrm>
            <a:off x="3230451" y="5085184"/>
            <a:ext cx="5151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O que vem </a:t>
            </a:r>
            <a:r>
              <a:rPr lang="pt-BR" sz="2000" dirty="0">
                <a:solidFill>
                  <a:srgbClr val="FF0066"/>
                </a:solidFill>
              </a:rPr>
              <a:t>depois</a:t>
            </a:r>
            <a:r>
              <a:rPr lang="pt-BR" sz="2000" dirty="0">
                <a:solidFill>
                  <a:schemeClr val="bg1"/>
                </a:solidFill>
              </a:rPr>
              <a:t>?</a:t>
            </a:r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1053F831-7F0A-F745-7E53-698D07D86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556792"/>
            <a:ext cx="7620000" cy="31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4C938C0-B137-520F-2650-1A6A9C689FA1}"/>
              </a:ext>
            </a:extLst>
          </p:cNvPr>
          <p:cNvSpPr txBox="1"/>
          <p:nvPr/>
        </p:nvSpPr>
        <p:spPr>
          <a:xfrm>
            <a:off x="623865" y="4736258"/>
            <a:ext cx="51515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David Silver</a:t>
            </a:r>
            <a:endParaRPr lang="pt-BR" sz="10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413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F38C-6D05-DC1E-254E-73EC9CD477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58B78258-B8A3-5D45-3747-C194EDD80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Agentes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4871704-DC2A-0132-AFF1-936934F1E781}"/>
              </a:ext>
            </a:extLst>
          </p:cNvPr>
          <p:cNvSpPr txBox="1"/>
          <p:nvPr/>
        </p:nvSpPr>
        <p:spPr>
          <a:xfrm>
            <a:off x="495564" y="1052736"/>
            <a:ext cx="6452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0066"/>
                </a:solidFill>
              </a:rPr>
              <a:t>Principais componentes em um agente em RL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02AF64E-5398-0897-79C3-AA494D70BE15}"/>
              </a:ext>
            </a:extLst>
          </p:cNvPr>
          <p:cNvSpPr txBox="1"/>
          <p:nvPr/>
        </p:nvSpPr>
        <p:spPr>
          <a:xfrm>
            <a:off x="359842" y="2430759"/>
            <a:ext cx="759653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Política</a:t>
            </a:r>
            <a:r>
              <a:rPr lang="pt-BR" sz="2000" dirty="0">
                <a:solidFill>
                  <a:schemeClr val="bg1"/>
                </a:solidFill>
              </a:rPr>
              <a:t>: Função de comportamento do agente;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Função de Valor</a:t>
            </a:r>
            <a:r>
              <a:rPr lang="pt-BR" sz="2000" dirty="0">
                <a:solidFill>
                  <a:schemeClr val="bg1"/>
                </a:solidFill>
              </a:rPr>
              <a:t>: Quão bom é cada estado e/ou ação;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Modelo: </a:t>
            </a:r>
            <a:r>
              <a:rPr lang="pt-BR" sz="2000" dirty="0">
                <a:solidFill>
                  <a:schemeClr val="bg1"/>
                </a:solidFill>
              </a:rPr>
              <a:t>representação do agente do ambiente.</a:t>
            </a:r>
          </a:p>
        </p:txBody>
      </p:sp>
    </p:spTree>
    <p:extLst>
      <p:ext uri="{BB962C8B-B14F-4D97-AF65-F5344CB8AC3E}">
        <p14:creationId xmlns:p14="http://schemas.microsoft.com/office/powerpoint/2010/main" val="150183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B0292-5921-6933-B8C6-4C54EE3F4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39C53466-5855-ED4A-64E7-2920D3F04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Componentes de Agentes: </a:t>
            </a:r>
            <a:r>
              <a:rPr lang="pt-BR" altLang="pt-BR" dirty="0">
                <a:solidFill>
                  <a:srgbClr val="FF0066"/>
                </a:solidFill>
              </a:rPr>
              <a:t>Política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7B04BF7-430C-10FC-2E99-92DE0C225537}"/>
              </a:ext>
            </a:extLst>
          </p:cNvPr>
          <p:cNvSpPr txBox="1"/>
          <p:nvPr/>
        </p:nvSpPr>
        <p:spPr>
          <a:xfrm>
            <a:off x="233982" y="908050"/>
            <a:ext cx="858648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É a </a:t>
            </a:r>
            <a:r>
              <a:rPr lang="pt-BR" sz="2000" dirty="0">
                <a:solidFill>
                  <a:srgbClr val="FF0066"/>
                </a:solidFill>
              </a:rPr>
              <a:t>estratégia</a:t>
            </a:r>
            <a:r>
              <a:rPr lang="pt-BR" sz="2000" dirty="0">
                <a:solidFill>
                  <a:schemeClr val="bg1"/>
                </a:solidFill>
              </a:rPr>
              <a:t> ou comportamento que o agente adota para tomar </a:t>
            </a:r>
            <a:r>
              <a:rPr lang="pt-BR" sz="2000" dirty="0">
                <a:solidFill>
                  <a:srgbClr val="FF0066"/>
                </a:solidFill>
              </a:rPr>
              <a:t>decisões</a:t>
            </a:r>
            <a:r>
              <a:rPr lang="pt-BR" sz="2000" dirty="0">
                <a:solidFill>
                  <a:schemeClr val="bg1"/>
                </a:solidFill>
              </a:rPr>
              <a:t> em um ambiente;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 política determina qual ação o agente escolhe em resposta a um estado específico do ambiente, e pode ser representada por uma função que mapeia cada estado do ambiente para uma distribuição de probabilidade sobre as possíveis ações que o agente pode executar;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Determinística</a:t>
            </a:r>
            <a:r>
              <a:rPr lang="pt-BR" sz="2000" dirty="0">
                <a:solidFill>
                  <a:schemeClr val="bg1"/>
                </a:solidFill>
              </a:rPr>
              <a:t>: sempre escolhe a mesma ação para um determinado estado;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rgbClr val="FF0066"/>
                </a:solidFill>
              </a:rPr>
              <a:t>Estocástica</a:t>
            </a:r>
            <a:r>
              <a:rPr lang="pt-BR" sz="2000" dirty="0">
                <a:solidFill>
                  <a:schemeClr val="bg1"/>
                </a:solidFill>
              </a:rPr>
              <a:t>: escolhe uma ação com base em uma distribuição de probabilidade;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 escolha de uma boa política é um dos </a:t>
            </a:r>
            <a:r>
              <a:rPr lang="pt-BR" sz="2000" dirty="0">
                <a:solidFill>
                  <a:srgbClr val="FF0066"/>
                </a:solidFill>
              </a:rPr>
              <a:t>objetivos principais </a:t>
            </a:r>
            <a:r>
              <a:rPr lang="pt-BR" sz="2000" dirty="0">
                <a:solidFill>
                  <a:schemeClr val="bg1"/>
                </a:solidFill>
              </a:rPr>
              <a:t>do aprendizado por reforço.</a:t>
            </a:r>
          </a:p>
        </p:txBody>
      </p:sp>
    </p:spTree>
    <p:extLst>
      <p:ext uri="{BB962C8B-B14F-4D97-AF65-F5344CB8AC3E}">
        <p14:creationId xmlns:p14="http://schemas.microsoft.com/office/powerpoint/2010/main" val="1248305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17627-19B6-DAB5-6581-D0733BAFA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45D8F838-FA0C-94A5-5C3C-1BB64B4F43D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Componentes de Agentes: </a:t>
            </a:r>
            <a:r>
              <a:rPr lang="pt-BR" altLang="pt-BR" dirty="0">
                <a:solidFill>
                  <a:srgbClr val="FF0066"/>
                </a:solidFill>
              </a:rPr>
              <a:t>Função de Valor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DA24683-2BCF-4865-B081-8A7134359A56}"/>
              </a:ext>
            </a:extLst>
          </p:cNvPr>
          <p:cNvSpPr txBox="1"/>
          <p:nvPr/>
        </p:nvSpPr>
        <p:spPr>
          <a:xfrm>
            <a:off x="278755" y="1268760"/>
            <a:ext cx="858648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 função de valor é usada de modo a </a:t>
            </a:r>
            <a:r>
              <a:rPr lang="pt-BR" sz="2000" dirty="0">
                <a:solidFill>
                  <a:srgbClr val="FF0066"/>
                </a:solidFill>
              </a:rPr>
              <a:t>medir</a:t>
            </a:r>
            <a:r>
              <a:rPr lang="pt-BR" sz="2000" dirty="0">
                <a:solidFill>
                  <a:schemeClr val="bg1"/>
                </a:solidFill>
              </a:rPr>
              <a:t> a qualidade de uma determinada </a:t>
            </a:r>
            <a:r>
              <a:rPr lang="pt-BR" sz="2000" dirty="0">
                <a:solidFill>
                  <a:srgbClr val="FF0066"/>
                </a:solidFill>
              </a:rPr>
              <a:t>ação ou política </a:t>
            </a:r>
            <a:r>
              <a:rPr lang="pt-BR" sz="2000" dirty="0">
                <a:solidFill>
                  <a:schemeClr val="bg1"/>
                </a:solidFill>
              </a:rPr>
              <a:t>em um ambiente, fornecendo uma estimativa de quão bom é estar em um determinado estado ou tomar uma determinada ação.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Função de valor de estado </a:t>
            </a:r>
            <a:r>
              <a:rPr lang="pt-BR" sz="2000" dirty="0">
                <a:solidFill>
                  <a:srgbClr val="FF0066"/>
                </a:solidFill>
              </a:rPr>
              <a:t>(V(s)):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Estima o valor de um estado específico, considerando a recompensa futura que se pode esperar a partir desse estado e seguindo uma determinada política.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Função de valor de ação </a:t>
            </a:r>
            <a:r>
              <a:rPr lang="pt-BR" sz="2000" dirty="0">
                <a:solidFill>
                  <a:srgbClr val="FF0066"/>
                </a:solidFill>
              </a:rPr>
              <a:t>(Q(</a:t>
            </a:r>
            <a:r>
              <a:rPr lang="pt-BR" sz="2000" dirty="0" err="1">
                <a:solidFill>
                  <a:srgbClr val="FF0066"/>
                </a:solidFill>
              </a:rPr>
              <a:t>s,a</a:t>
            </a:r>
            <a:r>
              <a:rPr lang="pt-BR" sz="2000" dirty="0">
                <a:solidFill>
                  <a:srgbClr val="FF0066"/>
                </a:solidFill>
              </a:rPr>
              <a:t>)): </a:t>
            </a:r>
          </a:p>
          <a:p>
            <a:pPr marL="800100" lvl="1" indent="-342900">
              <a:buFont typeface="Courier New" panose="02070309020205020404" pitchFamily="49" charset="0"/>
              <a:buChar char="o"/>
            </a:pPr>
            <a:r>
              <a:rPr lang="pt-BR" sz="2000" dirty="0">
                <a:solidFill>
                  <a:schemeClr val="bg1"/>
                </a:solidFill>
              </a:rPr>
              <a:t>Estima o valor de tomar uma determinada ação em um estado específico, considerando a recompensa futura que se pode esperar a partir desse estado e seguindo uma determinada política.</a:t>
            </a:r>
          </a:p>
        </p:txBody>
      </p:sp>
    </p:spTree>
    <p:extLst>
      <p:ext uri="{BB962C8B-B14F-4D97-AF65-F5344CB8AC3E}">
        <p14:creationId xmlns:p14="http://schemas.microsoft.com/office/powerpoint/2010/main" val="898458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93699-94EA-4542-67CF-D7F350C35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15DFE937-FE2E-CF3E-8CDC-D920EBC6C5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Componentes de Agentes: </a:t>
            </a:r>
            <a:r>
              <a:rPr lang="pt-BR" altLang="pt-BR" dirty="0">
                <a:solidFill>
                  <a:srgbClr val="FF0066"/>
                </a:solidFill>
              </a:rPr>
              <a:t>Modelo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136C48A-0E6D-9788-203C-D4BA3825AB94}"/>
              </a:ext>
            </a:extLst>
          </p:cNvPr>
          <p:cNvSpPr txBox="1"/>
          <p:nvPr/>
        </p:nvSpPr>
        <p:spPr>
          <a:xfrm>
            <a:off x="278755" y="1268760"/>
            <a:ext cx="858648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Um </a:t>
            </a:r>
            <a:r>
              <a:rPr lang="pt-BR" sz="2000" dirty="0">
                <a:solidFill>
                  <a:srgbClr val="FF0066"/>
                </a:solidFill>
              </a:rPr>
              <a:t>modelo</a:t>
            </a:r>
            <a:r>
              <a:rPr lang="pt-BR" sz="2000" dirty="0">
                <a:solidFill>
                  <a:schemeClr val="bg1"/>
                </a:solidFill>
              </a:rPr>
              <a:t> é uma representação do ambiente do agente, que permite </a:t>
            </a:r>
            <a:r>
              <a:rPr lang="pt-BR" sz="2000" dirty="0">
                <a:solidFill>
                  <a:srgbClr val="FF0066"/>
                </a:solidFill>
              </a:rPr>
              <a:t>prever</a:t>
            </a:r>
            <a:r>
              <a:rPr lang="pt-BR" sz="2000" dirty="0">
                <a:solidFill>
                  <a:schemeClr val="bg1"/>
                </a:solidFill>
              </a:rPr>
              <a:t> como o ambiente vai se comportar em resposta às ações do agente;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Um modelo pode ser usado para prever as </a:t>
            </a:r>
            <a:r>
              <a:rPr lang="pt-BR" sz="2000" dirty="0">
                <a:solidFill>
                  <a:srgbClr val="FF0066"/>
                </a:solidFill>
              </a:rPr>
              <a:t>recompensas</a:t>
            </a:r>
            <a:r>
              <a:rPr lang="pt-BR" sz="2000" dirty="0">
                <a:solidFill>
                  <a:schemeClr val="bg1"/>
                </a:solidFill>
              </a:rPr>
              <a:t> que serão recebidas pelo agente em resposta a uma ação específica, ou para prever o próximo estado do ambiente em resposta a uma ação específica.</a:t>
            </a:r>
          </a:p>
        </p:txBody>
      </p:sp>
    </p:spTree>
    <p:extLst>
      <p:ext uri="{BB962C8B-B14F-4D97-AF65-F5344CB8AC3E}">
        <p14:creationId xmlns:p14="http://schemas.microsoft.com/office/powerpoint/2010/main" val="4116540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5F5C0-84F0-5F72-5C5A-92BEF3D0B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C8EF16BE-DDC8-9DFE-E6EF-A30F1D67B2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Casos de uso</a:t>
            </a:r>
            <a:endParaRPr lang="pt-BR" altLang="pt-BR" dirty="0">
              <a:solidFill>
                <a:srgbClr val="FF0066"/>
              </a:solidFill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08D9C4C-675C-4FC9-F69B-895722CEB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764704"/>
            <a:ext cx="7524328" cy="557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22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0075B-CCD7-8C02-9954-52F11872A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E6D26CE2-FC69-7287-172A-538F8668476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  <a:endParaRPr lang="pt-BR" altLang="pt-BR" dirty="0"/>
          </a:p>
        </p:txBody>
      </p:sp>
    </p:spTree>
    <p:extLst>
      <p:ext uri="{BB962C8B-B14F-4D97-AF65-F5344CB8AC3E}">
        <p14:creationId xmlns:p14="http://schemas.microsoft.com/office/powerpoint/2010/main" val="3578050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38EB0-20D6-6060-2671-6525EC1B8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BDC61104-6D65-C44C-5625-FD58CC7F21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AF20717-8B66-8AC7-D1A4-0E693B106CE0}"/>
              </a:ext>
            </a:extLst>
          </p:cNvPr>
          <p:cNvSpPr txBox="1"/>
          <p:nvPr/>
        </p:nvSpPr>
        <p:spPr>
          <a:xfrm>
            <a:off x="278755" y="908050"/>
            <a:ext cx="858648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A grande maioria, dos algoritmos RL modernos são baseados nos princípios do </a:t>
            </a:r>
            <a:r>
              <a:rPr lang="pt-BR" dirty="0" err="1">
                <a:solidFill>
                  <a:schemeClr val="bg1"/>
                </a:solidFill>
              </a:rPr>
              <a:t>Q-learning</a:t>
            </a:r>
            <a:r>
              <a:rPr lang="pt-BR" dirty="0">
                <a:solidFill>
                  <a:schemeClr val="bg1"/>
                </a:solidFill>
              </a:rPr>
              <a:t>: a ideia é avaliar uma "expectativa de recompensa" para cada </a:t>
            </a:r>
            <a:r>
              <a:rPr lang="pt-BR" dirty="0">
                <a:solidFill>
                  <a:srgbClr val="FF0066"/>
                </a:solidFill>
              </a:rPr>
              <a:t>ação</a:t>
            </a:r>
            <a:r>
              <a:rPr lang="pt-BR" dirty="0">
                <a:solidFill>
                  <a:schemeClr val="bg1"/>
                </a:solidFill>
              </a:rPr>
              <a:t> possível.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Se pudermos ter uma boa </a:t>
            </a:r>
            <a:r>
              <a:rPr lang="pt-BR" dirty="0">
                <a:solidFill>
                  <a:srgbClr val="FF0066"/>
                </a:solidFill>
              </a:rPr>
              <a:t>avaliação</a:t>
            </a:r>
            <a:r>
              <a:rPr lang="pt-BR" dirty="0">
                <a:solidFill>
                  <a:schemeClr val="bg1"/>
                </a:solidFill>
              </a:rPr>
              <a:t>, poderemos </a:t>
            </a:r>
            <a:r>
              <a:rPr lang="pt-BR" dirty="0">
                <a:solidFill>
                  <a:srgbClr val="FF0066"/>
                </a:solidFill>
              </a:rPr>
              <a:t>maximizar</a:t>
            </a:r>
            <a:r>
              <a:rPr lang="pt-BR" dirty="0">
                <a:solidFill>
                  <a:schemeClr val="bg1"/>
                </a:solidFill>
              </a:rPr>
              <a:t> a recompensa escolhendo ações com as recompensas máximas avaliadas. A função que fornece essa recompensa esperada é chamada </a:t>
            </a:r>
            <a:r>
              <a:rPr lang="pt-BR" dirty="0">
                <a:solidFill>
                  <a:srgbClr val="FF0066"/>
                </a:solidFill>
              </a:rPr>
              <a:t>Q</a:t>
            </a:r>
            <a:r>
              <a:rPr lang="pt-BR" dirty="0">
                <a:solidFill>
                  <a:schemeClr val="bg1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Por enquanto, assumiremos que podemos ter uma recompensa para qualquer ação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Os índices t mostram que o estado e a ação não são constantes e </a:t>
            </a:r>
            <a:r>
              <a:rPr lang="pt-BR" dirty="0">
                <a:solidFill>
                  <a:srgbClr val="FF0066"/>
                </a:solidFill>
              </a:rPr>
              <a:t>variam</a:t>
            </a:r>
            <a:r>
              <a:rPr lang="pt-BR" dirty="0">
                <a:solidFill>
                  <a:schemeClr val="bg1"/>
                </a:solidFill>
              </a:rPr>
              <a:t>, geralmente com o tempo/ação tomada.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Por outro lado, a função Q e a função de recompensa r são funções únicas que idealmente retornam a 'r recompensa esperada' para </a:t>
            </a:r>
            <a:r>
              <a:rPr lang="pt-BR" dirty="0">
                <a:solidFill>
                  <a:srgbClr val="FF0066"/>
                </a:solidFill>
              </a:rPr>
              <a:t>quaisquer</a:t>
            </a:r>
            <a:r>
              <a:rPr lang="pt-BR" dirty="0">
                <a:solidFill>
                  <a:schemeClr val="bg1"/>
                </a:solidFill>
              </a:rPr>
              <a:t> pares (estado, ação).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DB2EB8F-1210-2292-9430-193620B1C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880" y="3789040"/>
            <a:ext cx="5512238" cy="103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12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6227-44D9-8A02-6D79-A690C7F6C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11B1BAE8-F3AC-9D0F-B3BD-3978042C0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11700FF6-44D9-F404-58A5-401823F15B0A}"/>
              </a:ext>
            </a:extLst>
          </p:cNvPr>
          <p:cNvSpPr txBox="1"/>
          <p:nvPr/>
        </p:nvSpPr>
        <p:spPr>
          <a:xfrm>
            <a:off x="278755" y="908050"/>
            <a:ext cx="8586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Por enquanto, vamos supor que podemos ter uma recompensa que dê uma avaliação objetiva e perfeita de cada estado/ação.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42AD089-4EA4-5761-1593-0D915F5C1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554381"/>
            <a:ext cx="4906371" cy="49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3278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90BCC-EDE9-DBE2-A4F4-7F0B6D0E9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F6663780-4E56-42EE-0D03-C66286D86A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0FDA7B5-52B8-B11F-A1FA-FEDA67C7758E}"/>
              </a:ext>
            </a:extLst>
          </p:cNvPr>
          <p:cNvSpPr txBox="1"/>
          <p:nvPr/>
        </p:nvSpPr>
        <p:spPr>
          <a:xfrm>
            <a:off x="278755" y="908050"/>
            <a:ext cx="858648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Sabemos que os resultados das ações (recompensas) </a:t>
            </a:r>
            <a:r>
              <a:rPr lang="pt-BR" dirty="0">
                <a:solidFill>
                  <a:srgbClr val="FF0066"/>
                </a:solidFill>
              </a:rPr>
              <a:t>variam</a:t>
            </a:r>
            <a:r>
              <a:rPr lang="pt-BR" dirty="0">
                <a:solidFill>
                  <a:schemeClr val="bg1"/>
                </a:solidFill>
              </a:rPr>
              <a:t> dependendo do estado atual em que estamos, caso contrário, o problema seria trivial de resolver.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Se os estados que são relevantes para nossas ações podem ser numerados, uma maneira simples seria construir uma tabela com todos os pares possíveis de estados/ações.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Existem diferentes maneiras de construir tal tabela, dependendo de como podemos interagir com nosso ambiente.</a:t>
            </a:r>
          </a:p>
          <a:p>
            <a:endParaRPr lang="pt-BR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Eventualmente, teríamos um bom "mapa" para nos</a:t>
            </a:r>
            <a:r>
              <a:rPr lang="pt-BR" dirty="0">
                <a:solidFill>
                  <a:srgbClr val="FF0066"/>
                </a:solidFill>
              </a:rPr>
              <a:t> guiar para fazer as melhores ações.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dirty="0">
              <a:solidFill>
                <a:srgbClr val="FF0066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>
                <a:solidFill>
                  <a:schemeClr val="bg1"/>
                </a:solidFill>
              </a:rPr>
              <a:t>Este mapa é chamado de </a:t>
            </a:r>
            <a:r>
              <a:rPr lang="pt-BR" dirty="0">
                <a:solidFill>
                  <a:srgbClr val="FF0066"/>
                </a:solidFill>
              </a:rPr>
              <a:t>Tabela-Q</a:t>
            </a:r>
          </a:p>
        </p:txBody>
      </p:sp>
    </p:spTree>
    <p:extLst>
      <p:ext uri="{BB962C8B-B14F-4D97-AF65-F5344CB8AC3E}">
        <p14:creationId xmlns:p14="http://schemas.microsoft.com/office/powerpoint/2010/main" val="23171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E661-960B-DB27-2DC7-3C4D684FC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22A4312D-138F-94C0-8563-107DBE1710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54EB238-FE92-E3F9-3332-7C86165B0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2"/>
            <a:ext cx="9144000" cy="5023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751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CF960-0052-D12D-1741-DDFFCF59E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5A6725DC-BE30-0FFF-2453-FF2F1F9E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027C3B5-3159-6861-4EE3-8C3B66E6A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979" y="736496"/>
            <a:ext cx="5322041" cy="608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7236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C275E-04A7-0C95-B3D0-E0CD52C7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06EF5F5E-B60B-D081-1E45-BEFA75EC53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27A0E2B-8B15-B86D-BB17-04A9F9D41E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587" y="1896879"/>
            <a:ext cx="7156826" cy="3064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8187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1693C-4AA4-E4AA-D348-235ACABE8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26898FB-8802-3288-2566-B3FD83298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Q-Learning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29B9E60-F9AC-E7AA-E8E4-1AA58488A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05" y="1052736"/>
            <a:ext cx="8411389" cy="554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4128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3887-139B-0967-502D-2CCED683A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B76E89C0-C58B-15AD-C400-5475AC0829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1700808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>
                <a:solidFill>
                  <a:srgbClr val="FF0066"/>
                </a:solidFill>
              </a:rPr>
              <a:t>DEMO – </a:t>
            </a:r>
            <a:r>
              <a:rPr lang="pt-BR" altLang="pt-BR" dirty="0"/>
              <a:t>Frozen Lake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9EAC583-E160-ED00-CD9C-216509923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752" y="2492971"/>
            <a:ext cx="3056496" cy="3078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1181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84F99-7F2A-85A0-9217-4FC817CE4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D1207CD6-D215-C14B-E544-F978F635C56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/>
              <a:t>Equação de </a:t>
            </a:r>
            <a:r>
              <a:rPr lang="pt-BR" altLang="pt-BR" dirty="0" err="1">
                <a:solidFill>
                  <a:srgbClr val="FF0066"/>
                </a:solidFill>
              </a:rPr>
              <a:t>Bellman</a:t>
            </a:r>
            <a:endParaRPr lang="pt-BR" alt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8B5526-2D41-3E00-0628-75F7F5A0AB80}"/>
              </a:ext>
            </a:extLst>
          </p:cNvPr>
          <p:cNvSpPr txBox="1"/>
          <p:nvPr/>
        </p:nvSpPr>
        <p:spPr>
          <a:xfrm>
            <a:off x="0" y="5517232"/>
            <a:ext cx="9144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</a:rPr>
              <a:t>[These slides based on those of Dan Klein and Pieter </a:t>
            </a:r>
            <a:r>
              <a:rPr lang="en-US" sz="1000" dirty="0" err="1">
                <a:solidFill>
                  <a:schemeClr val="bg1"/>
                </a:solidFill>
              </a:rPr>
              <a:t>Abbeel</a:t>
            </a:r>
            <a:r>
              <a:rPr lang="en-US" sz="1000" dirty="0">
                <a:solidFill>
                  <a:schemeClr val="bg1"/>
                </a:solidFill>
              </a:rPr>
              <a:t> for CS188 Intro to AI at UC Berkeley. All CS188 materials are available at http://ai.berkeley.edu.]</a:t>
            </a:r>
            <a:endParaRPr lang="pt-BR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5119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FD19-BCB8-474D-729F-A6B52780E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6E6382B6-0B4D-FFB0-B223-794DF6A039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Agente</a:t>
            </a:r>
            <a:r>
              <a:rPr lang="pt-BR" altLang="pt-BR" dirty="0"/>
              <a:t> e </a:t>
            </a:r>
            <a:r>
              <a:rPr lang="pt-BR" altLang="pt-BR" dirty="0">
                <a:solidFill>
                  <a:srgbClr val="FF0066"/>
                </a:solidFill>
              </a:rPr>
              <a:t>Ambiente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19B6A4D5-6B24-F865-11F2-25F33FC758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1549" y="891358"/>
            <a:ext cx="3992451" cy="525621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sz="2000" dirty="0"/>
              <a:t>Considerem este labirinto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sz="2000" dirty="0"/>
              <a:t>Existem paredes que limitam o movimento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sz="2000" dirty="0"/>
              <a:t>Como o robô pode chegar ao objetivo?</a:t>
            </a:r>
          </a:p>
          <a:p>
            <a:endParaRPr lang="pt-BR" altLang="pt-BR" sz="10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0F5B9CE-2611-86E0-42A2-486F57C45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124744"/>
            <a:ext cx="5151549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850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FF672-1A3B-5DE6-C2CB-4FAE2A1E7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809AC314-6528-4F7D-A41C-779D2369F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>
                <a:solidFill>
                  <a:srgbClr val="FF0066"/>
                </a:solidFill>
              </a:rPr>
              <a:t>Agente</a:t>
            </a:r>
            <a:r>
              <a:rPr lang="pt-BR" altLang="pt-BR"/>
              <a:t> e </a:t>
            </a:r>
            <a:r>
              <a:rPr lang="pt-BR" altLang="pt-BR">
                <a:solidFill>
                  <a:srgbClr val="FF0066"/>
                </a:solidFill>
              </a:rPr>
              <a:t>Ambiente</a:t>
            </a:r>
            <a:endParaRPr lang="pt-BR" altLang="pt-BR" dirty="0">
              <a:solidFill>
                <a:srgbClr val="FF0066"/>
              </a:solidFill>
            </a:endParaRP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2D4DD4CE-C93E-5774-3373-F5CDEBED0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51549" y="891358"/>
            <a:ext cx="3992451" cy="525621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sz="2000"/>
              <a:t>Considerem este labirinto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sz="2000"/>
              <a:t>Existem paredes que limitam o movimento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pt-BR" altLang="pt-BR" sz="20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sz="2000"/>
              <a:t>Como o robô pode chegar ao objetivo?</a:t>
            </a:r>
          </a:p>
          <a:p>
            <a:endParaRPr lang="pt-BR" altLang="pt-BR" sz="10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32187EC-71E6-EB03-D54D-42DF1BFF0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123"/>
            <a:ext cx="5151549" cy="492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595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06436-7054-4AEF-D821-247668275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1F462F8D-C4FE-6E56-D455-BB5D67275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Equação de </a:t>
            </a:r>
            <a:r>
              <a:rPr lang="pt-BR" altLang="pt-BR" u="sng" dirty="0" err="1">
                <a:solidFill>
                  <a:srgbClr val="FF0066"/>
                </a:solidFill>
              </a:rPr>
              <a:t>Bellman</a:t>
            </a:r>
            <a:endParaRPr lang="pt-BR" altLang="pt-BR" u="sng" dirty="0">
              <a:solidFill>
                <a:srgbClr val="FF0066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8DF7E7A-7FF5-6B73-0FC0-3565F8BA6BBB}"/>
              </a:ext>
            </a:extLst>
          </p:cNvPr>
          <p:cNvSpPr txBox="1"/>
          <p:nvPr/>
        </p:nvSpPr>
        <p:spPr>
          <a:xfrm>
            <a:off x="278755" y="908050"/>
            <a:ext cx="8586489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 equação de </a:t>
            </a:r>
            <a:r>
              <a:rPr lang="pt-BR" sz="2000" dirty="0" err="1">
                <a:solidFill>
                  <a:schemeClr val="bg1"/>
                </a:solidFill>
              </a:rPr>
              <a:t>Bellman</a:t>
            </a:r>
            <a:r>
              <a:rPr lang="pt-BR" sz="2000" dirty="0">
                <a:solidFill>
                  <a:schemeClr val="bg1"/>
                </a:solidFill>
              </a:rPr>
              <a:t> é uma ferramenta matemática usada no aprendizado por reforço para calcular o </a:t>
            </a:r>
            <a:r>
              <a:rPr lang="pt-BR" sz="2000" dirty="0">
                <a:solidFill>
                  <a:srgbClr val="FF0066"/>
                </a:solidFill>
              </a:rPr>
              <a:t>valor esperado </a:t>
            </a:r>
            <a:r>
              <a:rPr lang="pt-BR" sz="2000" dirty="0">
                <a:solidFill>
                  <a:schemeClr val="bg1"/>
                </a:solidFill>
              </a:rPr>
              <a:t>de um estado ou ação, que é o </a:t>
            </a:r>
            <a:r>
              <a:rPr lang="pt-BR" sz="2000" dirty="0">
                <a:solidFill>
                  <a:srgbClr val="FF0066"/>
                </a:solidFill>
              </a:rPr>
              <a:t>retorno total </a:t>
            </a:r>
            <a:r>
              <a:rPr lang="pt-BR" sz="2000" dirty="0">
                <a:solidFill>
                  <a:schemeClr val="bg1"/>
                </a:solidFill>
              </a:rPr>
              <a:t>que o agente pode </a:t>
            </a:r>
            <a:r>
              <a:rPr lang="pt-BR" sz="2000" dirty="0">
                <a:solidFill>
                  <a:srgbClr val="FF0066"/>
                </a:solidFill>
              </a:rPr>
              <a:t>esperar</a:t>
            </a:r>
            <a:r>
              <a:rPr lang="pt-BR" sz="2000" dirty="0">
                <a:solidFill>
                  <a:schemeClr val="bg1"/>
                </a:solidFill>
              </a:rPr>
              <a:t> receber a partir desse estado ou ação.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Programação Dinâmica – Simplificar problemas complexos, dividindo-os em subproblemas e resolvendo-os interativamente.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bg1"/>
                </a:solidFill>
              </a:rPr>
              <a:t>A equação de </a:t>
            </a:r>
            <a:r>
              <a:rPr lang="pt-BR" sz="2000" dirty="0" err="1">
                <a:solidFill>
                  <a:schemeClr val="bg1"/>
                </a:solidFill>
              </a:rPr>
              <a:t>Bellman</a:t>
            </a:r>
            <a:r>
              <a:rPr lang="pt-BR" sz="2000" dirty="0">
                <a:solidFill>
                  <a:schemeClr val="bg1"/>
                </a:solidFill>
              </a:rPr>
              <a:t> é </a:t>
            </a:r>
            <a:r>
              <a:rPr lang="pt-BR" sz="2000" dirty="0">
                <a:solidFill>
                  <a:srgbClr val="FF0066"/>
                </a:solidFill>
              </a:rPr>
              <a:t>recursiva</a:t>
            </a:r>
            <a:r>
              <a:rPr lang="pt-BR" sz="2000" dirty="0">
                <a:solidFill>
                  <a:schemeClr val="bg1"/>
                </a:solidFill>
              </a:rPr>
              <a:t> porque usa o valor esperado do próximo estado ou ação para calcular o valor esperado do estado ou ação atual. Isso permite que o agente </a:t>
            </a:r>
            <a:r>
              <a:rPr lang="pt-BR" sz="2000" dirty="0">
                <a:solidFill>
                  <a:srgbClr val="FF0066"/>
                </a:solidFill>
              </a:rPr>
              <a:t>aprenda</a:t>
            </a:r>
            <a:r>
              <a:rPr lang="pt-BR" sz="2000" dirty="0">
                <a:solidFill>
                  <a:schemeClr val="bg1"/>
                </a:solidFill>
              </a:rPr>
              <a:t> a tomar decisões com base em informações sobre o </a:t>
            </a:r>
            <a:r>
              <a:rPr lang="pt-BR" sz="2000" dirty="0">
                <a:solidFill>
                  <a:srgbClr val="FF0066"/>
                </a:solidFill>
              </a:rPr>
              <a:t>futuro</a:t>
            </a:r>
            <a:r>
              <a:rPr lang="pt-BR" sz="2000" dirty="0">
                <a:solidFill>
                  <a:schemeClr val="bg1"/>
                </a:solidFill>
              </a:rPr>
              <a:t>.</a:t>
            </a:r>
            <a:endParaRPr lang="pt-BR" sz="3600" dirty="0">
              <a:solidFill>
                <a:schemeClr val="bg1"/>
              </a:solidFill>
            </a:endParaRPr>
          </a:p>
          <a:p>
            <a:pPr algn="ctr"/>
            <a:r>
              <a:rPr lang="pt-BR" sz="3600" dirty="0">
                <a:solidFill>
                  <a:srgbClr val="FF0066"/>
                </a:solidFill>
              </a:rPr>
              <a:t>𝑉(𝑠) = </a:t>
            </a:r>
            <a:r>
              <a:rPr lang="pt-BR" sz="3600" dirty="0" err="1">
                <a:solidFill>
                  <a:srgbClr val="FF0066"/>
                </a:solidFill>
              </a:rPr>
              <a:t>max</a:t>
            </a:r>
            <a:r>
              <a:rPr lang="pt-BR" sz="3600" dirty="0">
                <a:solidFill>
                  <a:srgbClr val="FF0066"/>
                </a:solidFill>
              </a:rPr>
              <a:t> 𝑎(𝑅(𝑠,𝑎) + 𝛾𝑉(𝑠′)</a:t>
            </a:r>
          </a:p>
          <a:p>
            <a:r>
              <a:rPr lang="pt-BR" sz="2000" dirty="0">
                <a:solidFill>
                  <a:schemeClr val="bg1"/>
                </a:solidFill>
              </a:rPr>
              <a:t>Onde:</a:t>
            </a:r>
          </a:p>
          <a:p>
            <a:r>
              <a:rPr lang="pt-BR" sz="2000" dirty="0" err="1">
                <a:solidFill>
                  <a:schemeClr val="bg1"/>
                </a:solidFill>
              </a:rPr>
              <a:t>s→Estado</a:t>
            </a:r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𝑎→Ação</a:t>
            </a:r>
          </a:p>
          <a:p>
            <a:r>
              <a:rPr lang="pt-BR" sz="2000" dirty="0" err="1">
                <a:solidFill>
                  <a:schemeClr val="bg1"/>
                </a:solidFill>
              </a:rPr>
              <a:t>R→Recompensa</a:t>
            </a:r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𝛾→Desconto</a:t>
            </a:r>
          </a:p>
        </p:txBody>
      </p:sp>
    </p:spTree>
    <p:extLst>
      <p:ext uri="{BB962C8B-B14F-4D97-AF65-F5344CB8AC3E}">
        <p14:creationId xmlns:p14="http://schemas.microsoft.com/office/powerpoint/2010/main" val="14562571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5728C-BD51-8258-F09D-9E7BDB5E6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A4998A0E-16D6-B605-81DF-0A0493658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/>
              <a:t>Equação de </a:t>
            </a:r>
            <a:r>
              <a:rPr lang="pt-BR" altLang="pt-BR" u="sng" dirty="0" err="1">
                <a:solidFill>
                  <a:srgbClr val="FF0066"/>
                </a:solidFill>
              </a:rPr>
              <a:t>Bellman</a:t>
            </a:r>
            <a:r>
              <a:rPr lang="pt-BR" altLang="pt-BR" dirty="0">
                <a:solidFill>
                  <a:srgbClr val="FF0066"/>
                </a:solidFill>
              </a:rPr>
              <a:t> </a:t>
            </a:r>
            <a:r>
              <a:rPr lang="pt-BR" altLang="pt-BR" dirty="0"/>
              <a:t>– mundo hipotético</a:t>
            </a:r>
          </a:p>
        </p:txBody>
      </p:sp>
      <p:sp>
        <p:nvSpPr>
          <p:cNvPr id="16387" name="Subtítulo 4">
            <a:extLst>
              <a:ext uri="{FF2B5EF4-FFF2-40B4-BE49-F238E27FC236}">
                <a16:creationId xmlns:a16="http://schemas.microsoft.com/office/drawing/2014/main" id="{A504DE85-1B7F-4EA3-4829-939411A4D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59917" y="1844824"/>
            <a:ext cx="3992451" cy="5256212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altLang="pt-BR" sz="2000" dirty="0"/>
              <a:t>Num mundo onde eu tenho </a:t>
            </a:r>
            <a:r>
              <a:rPr lang="pt-BR" sz="2000" dirty="0"/>
              <a:t>𝛾 = 1</a:t>
            </a:r>
          </a:p>
          <a:p>
            <a:endParaRPr lang="pt-BR" altLang="pt-BR" sz="2000" dirty="0"/>
          </a:p>
          <a:p>
            <a:endParaRPr lang="pt-BR" altLang="pt-BR" sz="1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791B5F-3221-C2EA-2C64-C74745350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8869"/>
            <a:ext cx="5059917" cy="4697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6276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C7A22-1E6A-82A4-E126-05F9CB83C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BD8E71C8-68E0-D8A6-0834-09E4B3C9A0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200031" cy="792162"/>
          </a:xfrm>
        </p:spPr>
        <p:txBody>
          <a:bodyPr/>
          <a:lstStyle/>
          <a:p>
            <a:r>
              <a:rPr lang="pt-BR" altLang="pt-BR" dirty="0"/>
              <a:t>Equação de </a:t>
            </a:r>
            <a:r>
              <a:rPr lang="pt-BR" altLang="pt-BR" u="sng" dirty="0" err="1">
                <a:solidFill>
                  <a:srgbClr val="FF0066"/>
                </a:solidFill>
              </a:rPr>
              <a:t>Bellman</a:t>
            </a:r>
            <a:r>
              <a:rPr lang="pt-BR" altLang="pt-BR" dirty="0">
                <a:solidFill>
                  <a:srgbClr val="FF0066"/>
                </a:solidFill>
              </a:rPr>
              <a:t> </a:t>
            </a:r>
            <a:r>
              <a:rPr lang="pt-BR" altLang="pt-BR" dirty="0"/>
              <a:t>– caso mais realista</a:t>
            </a:r>
          </a:p>
        </p:txBody>
      </p:sp>
      <p:sp>
        <p:nvSpPr>
          <p:cNvPr id="2" name="Subtítulo 1">
            <a:extLst>
              <a:ext uri="{FF2B5EF4-FFF2-40B4-BE49-F238E27FC236}">
                <a16:creationId xmlns:a16="http://schemas.microsoft.com/office/drawing/2014/main" id="{CA300A37-2DC5-EB5F-26B9-F0756BDD72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C265C6F-9EEF-78E7-63CB-D9309CE6D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1534"/>
            <a:ext cx="9144000" cy="459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903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0C6F1-C385-C9C4-31FB-8EAC70516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19416B74-A35C-5105-38D8-C27138ADE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200031" cy="792162"/>
          </a:xfrm>
        </p:spPr>
        <p:txBody>
          <a:bodyPr/>
          <a:lstStyle/>
          <a:p>
            <a:r>
              <a:rPr lang="pt-BR" altLang="pt-BR" dirty="0"/>
              <a:t>Equação de </a:t>
            </a:r>
            <a:r>
              <a:rPr lang="pt-BR" altLang="pt-BR" u="sng" dirty="0" err="1">
                <a:solidFill>
                  <a:srgbClr val="FF0066"/>
                </a:solidFill>
              </a:rPr>
              <a:t>Bellman</a:t>
            </a:r>
            <a:r>
              <a:rPr lang="pt-BR" altLang="pt-BR" dirty="0">
                <a:solidFill>
                  <a:srgbClr val="FF0066"/>
                </a:solidFill>
              </a:rPr>
              <a:t> </a:t>
            </a:r>
            <a:r>
              <a:rPr lang="pt-BR" altLang="pt-BR" dirty="0"/>
              <a:t>– caso mais realista</a:t>
            </a:r>
          </a:p>
        </p:txBody>
      </p:sp>
      <p:sp>
        <p:nvSpPr>
          <p:cNvPr id="2" name="Subtítulo 1">
            <a:extLst>
              <a:ext uri="{FF2B5EF4-FFF2-40B4-BE49-F238E27FC236}">
                <a16:creationId xmlns:a16="http://schemas.microsoft.com/office/drawing/2014/main" id="{66B53DDC-4947-F4AD-AE1D-6F144D8256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6CB0A9C-BA83-2E5F-CBB4-5216AFD6B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6525"/>
            <a:ext cx="9144000" cy="44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6809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4F995-EE51-2C37-F5CD-954757C1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75CF6DCD-3788-5046-AA36-4764054F70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200031" cy="792162"/>
          </a:xfrm>
        </p:spPr>
        <p:txBody>
          <a:bodyPr/>
          <a:lstStyle/>
          <a:p>
            <a:r>
              <a:rPr lang="pt-BR" altLang="pt-BR" dirty="0"/>
              <a:t>Equação de </a:t>
            </a:r>
            <a:r>
              <a:rPr lang="pt-BR" altLang="pt-BR" u="sng" dirty="0" err="1">
                <a:solidFill>
                  <a:srgbClr val="FF0066"/>
                </a:solidFill>
              </a:rPr>
              <a:t>Bellman</a:t>
            </a:r>
            <a:r>
              <a:rPr lang="pt-BR" altLang="pt-BR" dirty="0">
                <a:solidFill>
                  <a:srgbClr val="FF0066"/>
                </a:solidFill>
              </a:rPr>
              <a:t> </a:t>
            </a:r>
            <a:r>
              <a:rPr lang="pt-BR" altLang="pt-BR" dirty="0"/>
              <a:t>– caso mais realista</a:t>
            </a:r>
          </a:p>
        </p:txBody>
      </p:sp>
      <p:sp>
        <p:nvSpPr>
          <p:cNvPr id="2" name="Subtítulo 1">
            <a:extLst>
              <a:ext uri="{FF2B5EF4-FFF2-40B4-BE49-F238E27FC236}">
                <a16:creationId xmlns:a16="http://schemas.microsoft.com/office/drawing/2014/main" id="{C103BC51-9BD0-C594-08A7-4D37FBE9CD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2352561-EC76-81E4-E164-A9F09FC30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0573"/>
            <a:ext cx="9144000" cy="457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65325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F6C18-2251-5CAB-B0CB-140E9ECEF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5F364108-3D4B-2826-91E0-AB57939531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200031" cy="792162"/>
          </a:xfrm>
        </p:spPr>
        <p:txBody>
          <a:bodyPr/>
          <a:lstStyle/>
          <a:p>
            <a:r>
              <a:rPr lang="pt-BR" altLang="pt-BR" sz="2400" dirty="0"/>
              <a:t>Equação de </a:t>
            </a:r>
            <a:r>
              <a:rPr lang="pt-BR" altLang="pt-BR" sz="2400" u="sng" dirty="0" err="1">
                <a:solidFill>
                  <a:srgbClr val="FF0066"/>
                </a:solidFill>
              </a:rPr>
              <a:t>Bellman</a:t>
            </a:r>
            <a:r>
              <a:rPr lang="pt-BR" altLang="pt-BR" sz="2400" dirty="0">
                <a:solidFill>
                  <a:srgbClr val="FF0066"/>
                </a:solidFill>
              </a:rPr>
              <a:t> </a:t>
            </a:r>
            <a:r>
              <a:rPr lang="pt-BR" altLang="pt-BR" sz="2400" dirty="0"/>
              <a:t>– aplicação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27AE00B-2480-F717-FD62-C9B5EB02C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2827"/>
            <a:ext cx="9144000" cy="5985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639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93918-41DC-59AD-A3AE-411F03A683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4A61BBA8-E139-9229-3E10-E2A24AFA68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200031" cy="792162"/>
          </a:xfrm>
        </p:spPr>
        <p:txBody>
          <a:bodyPr/>
          <a:lstStyle/>
          <a:p>
            <a:r>
              <a:rPr lang="pt-BR" altLang="pt-BR" sz="2400" dirty="0"/>
              <a:t>Equação de </a:t>
            </a:r>
            <a:r>
              <a:rPr lang="pt-BR" altLang="pt-BR" sz="2400" u="sng" dirty="0" err="1">
                <a:solidFill>
                  <a:srgbClr val="FF0066"/>
                </a:solidFill>
              </a:rPr>
              <a:t>Bellman</a:t>
            </a:r>
            <a:r>
              <a:rPr lang="pt-BR" altLang="pt-BR" sz="2400" u="sng" dirty="0">
                <a:solidFill>
                  <a:srgbClr val="FF0066"/>
                </a:solidFill>
              </a:rPr>
              <a:t> </a:t>
            </a:r>
            <a:r>
              <a:rPr lang="pt-BR" altLang="pt-BR" sz="2400" dirty="0"/>
              <a:t>– Aplicação real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8CB7CF6C-3FA8-B415-EFC0-5F9ED67E2411}"/>
              </a:ext>
            </a:extLst>
          </p:cNvPr>
          <p:cNvSpPr txBox="1"/>
          <p:nvPr/>
        </p:nvSpPr>
        <p:spPr>
          <a:xfrm>
            <a:off x="1" y="908050"/>
            <a:ext cx="9144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Tomada de Decisão em um cenário financeiro.</a:t>
            </a:r>
          </a:p>
          <a:p>
            <a:pPr algn="ctr"/>
            <a:r>
              <a:rPr lang="pt-BR" sz="2400" dirty="0">
                <a:solidFill>
                  <a:srgbClr val="FF0066"/>
                </a:solidFill>
              </a:rPr>
              <a:t>Cenário: Investimento em Ações</a:t>
            </a:r>
          </a:p>
          <a:p>
            <a:endParaRPr lang="pt-BR" sz="2400" dirty="0">
              <a:solidFill>
                <a:srgbClr val="FF0066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Suponha que você está gerenciando um portfólio de investimentos em ações e deseja </a:t>
            </a:r>
            <a:r>
              <a:rPr lang="pt-BR" sz="2000" dirty="0">
                <a:solidFill>
                  <a:srgbClr val="FF0066"/>
                </a:solidFill>
              </a:rPr>
              <a:t>maximizar</a:t>
            </a:r>
            <a:r>
              <a:rPr lang="pt-BR" sz="2000" dirty="0">
                <a:solidFill>
                  <a:schemeClr val="bg1"/>
                </a:solidFill>
              </a:rPr>
              <a:t> seu retorno financeiro.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A cada mês, você pode escolher investir em três tipos diferentes de ações: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• Ações de Tecnologia (Tech)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• Ações de Energia (Energy)</a:t>
            </a:r>
          </a:p>
          <a:p>
            <a:pPr algn="ctr"/>
            <a:r>
              <a:rPr lang="pt-BR" sz="2000" dirty="0">
                <a:solidFill>
                  <a:schemeClr val="bg1"/>
                </a:solidFill>
              </a:rPr>
              <a:t>• Ações de Saúde (Health)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Você tem um montante inicial de dinheiro para investir e pode alocar parte desse dinheiro para cada tipo de ação a cada mês.</a:t>
            </a:r>
          </a:p>
        </p:txBody>
      </p:sp>
    </p:spTree>
    <p:extLst>
      <p:ext uri="{BB962C8B-B14F-4D97-AF65-F5344CB8AC3E}">
        <p14:creationId xmlns:p14="http://schemas.microsoft.com/office/powerpoint/2010/main" val="33575099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2D55F-B944-ACE9-052F-37E74D24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377D7E68-4BB9-78A5-417F-18DBB1CE5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200031" cy="792162"/>
          </a:xfrm>
        </p:spPr>
        <p:txBody>
          <a:bodyPr/>
          <a:lstStyle/>
          <a:p>
            <a:r>
              <a:rPr lang="pt-BR" altLang="pt-BR" sz="2400" dirty="0"/>
              <a:t>Equação de </a:t>
            </a:r>
            <a:r>
              <a:rPr lang="pt-BR" altLang="pt-BR" sz="2400" u="sng" dirty="0" err="1">
                <a:solidFill>
                  <a:srgbClr val="FF0066"/>
                </a:solidFill>
              </a:rPr>
              <a:t>Bellman</a:t>
            </a:r>
            <a:r>
              <a:rPr lang="pt-BR" altLang="pt-BR" sz="2400" u="sng" dirty="0">
                <a:solidFill>
                  <a:srgbClr val="FF0066"/>
                </a:solidFill>
              </a:rPr>
              <a:t> </a:t>
            </a:r>
            <a:r>
              <a:rPr lang="pt-BR" altLang="pt-BR" sz="2400" dirty="0"/>
              <a:t>– Aplicação real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79839470-A8BF-491D-D3E8-896004CC8C70}"/>
              </a:ext>
            </a:extLst>
          </p:cNvPr>
          <p:cNvSpPr txBox="1"/>
          <p:nvPr/>
        </p:nvSpPr>
        <p:spPr>
          <a:xfrm>
            <a:off x="1" y="908050"/>
            <a:ext cx="91440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Tomada de Decisão em um cenário financeiro.</a:t>
            </a:r>
          </a:p>
          <a:p>
            <a:pPr algn="ctr"/>
            <a:r>
              <a:rPr lang="pt-BR" sz="2400" dirty="0">
                <a:solidFill>
                  <a:srgbClr val="FF0066"/>
                </a:solidFill>
              </a:rPr>
              <a:t>Cenário: Investimento em Ações</a:t>
            </a:r>
          </a:p>
          <a:p>
            <a:endParaRPr lang="pt-BR" sz="2400" dirty="0">
              <a:solidFill>
                <a:srgbClr val="FF0066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Representação simplificada do problema:</a:t>
            </a:r>
          </a:p>
          <a:p>
            <a:r>
              <a:rPr lang="pt-BR" sz="2000" dirty="0">
                <a:solidFill>
                  <a:schemeClr val="bg1"/>
                </a:solidFill>
              </a:rPr>
              <a:t>• No início, você tem $10,000 disponíveis para investir.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• A cada mês, você pode alocar dinheiro para cada tipo de ação (Tech, Energy, Health).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• Cada tipo de ação tem um retorno médio esperado após um mês, mas também existe um risco associado.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• Seu objetivo é acumular o máximo de dinheiro possível após um período de 6 meses.</a:t>
            </a:r>
            <a:endParaRPr 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727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ECD0D-2694-7F4D-19F6-2BB4F6599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50259A2-9D02-09E7-367B-7161BECFD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200031" cy="792162"/>
          </a:xfrm>
        </p:spPr>
        <p:txBody>
          <a:bodyPr/>
          <a:lstStyle/>
          <a:p>
            <a:r>
              <a:rPr lang="pt-BR" altLang="pt-BR" sz="2400" dirty="0"/>
              <a:t>Equação de </a:t>
            </a:r>
            <a:r>
              <a:rPr lang="pt-BR" altLang="pt-BR" sz="2400" u="sng" dirty="0" err="1">
                <a:solidFill>
                  <a:srgbClr val="FF0066"/>
                </a:solidFill>
              </a:rPr>
              <a:t>Bellman</a:t>
            </a:r>
            <a:r>
              <a:rPr lang="pt-BR" altLang="pt-BR" sz="2400" u="sng" dirty="0">
                <a:solidFill>
                  <a:srgbClr val="FF0066"/>
                </a:solidFill>
              </a:rPr>
              <a:t> </a:t>
            </a:r>
            <a:r>
              <a:rPr lang="pt-BR" altLang="pt-BR" sz="2400" dirty="0"/>
              <a:t>– Aplicação real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0E66990-210F-7DC7-C648-18FCF8EA8D21}"/>
              </a:ext>
            </a:extLst>
          </p:cNvPr>
          <p:cNvSpPr txBox="1"/>
          <p:nvPr/>
        </p:nvSpPr>
        <p:spPr>
          <a:xfrm>
            <a:off x="1" y="908050"/>
            <a:ext cx="9144000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Tomada de Decisão em um cenário financeiro.</a:t>
            </a:r>
          </a:p>
          <a:p>
            <a:pPr algn="ctr"/>
            <a:r>
              <a:rPr lang="pt-BR" sz="2400" dirty="0">
                <a:solidFill>
                  <a:srgbClr val="FF0066"/>
                </a:solidFill>
              </a:rPr>
              <a:t>Cenário: Investimento em Ações</a:t>
            </a:r>
          </a:p>
          <a:p>
            <a:endParaRPr lang="pt-BR" sz="2400" dirty="0">
              <a:solidFill>
                <a:srgbClr val="FF0066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Equação de </a:t>
            </a:r>
            <a:r>
              <a:rPr lang="pt-BR" sz="2400" dirty="0" err="1">
                <a:solidFill>
                  <a:schemeClr val="bg1"/>
                </a:solidFill>
              </a:rPr>
              <a:t>Bellman</a:t>
            </a:r>
            <a:r>
              <a:rPr lang="pt-BR" sz="2400" dirty="0">
                <a:solidFill>
                  <a:schemeClr val="bg1"/>
                </a:solidFill>
              </a:rPr>
              <a:t> nesse cenário: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rgbClr val="FF0066"/>
                </a:solidFill>
              </a:rPr>
              <a:t>Estados: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rgbClr val="FF0066"/>
                </a:solidFill>
              </a:rPr>
              <a:t>Ações</a:t>
            </a:r>
            <a:r>
              <a:rPr lang="pt-BR" sz="2000" dirty="0">
                <a:solidFill>
                  <a:schemeClr val="bg1"/>
                </a:solidFill>
              </a:rPr>
              <a:t>: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rgbClr val="FF0066"/>
                </a:solidFill>
              </a:rPr>
              <a:t>Recompensas</a:t>
            </a:r>
            <a:r>
              <a:rPr lang="pt-BR" sz="2000" dirty="0">
                <a:solidFill>
                  <a:schemeClr val="bg1"/>
                </a:solidFill>
              </a:rPr>
              <a:t>: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rgbClr val="FF0066"/>
                </a:solidFill>
              </a:rPr>
              <a:t>Aplicação:</a:t>
            </a:r>
            <a:endParaRPr 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56826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84661-9878-4EF3-A474-6917299A7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9BFBE9D2-F4C6-95D9-06C4-B81D4EC8B5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200031" cy="792162"/>
          </a:xfrm>
        </p:spPr>
        <p:txBody>
          <a:bodyPr/>
          <a:lstStyle/>
          <a:p>
            <a:r>
              <a:rPr lang="pt-BR" altLang="pt-BR" sz="2400" dirty="0"/>
              <a:t>Equação de </a:t>
            </a:r>
            <a:r>
              <a:rPr lang="pt-BR" altLang="pt-BR" sz="2400" u="sng" dirty="0" err="1">
                <a:solidFill>
                  <a:srgbClr val="FF0066"/>
                </a:solidFill>
              </a:rPr>
              <a:t>Bellman</a:t>
            </a:r>
            <a:r>
              <a:rPr lang="pt-BR" altLang="pt-BR" sz="2400" u="sng" dirty="0">
                <a:solidFill>
                  <a:srgbClr val="FF0066"/>
                </a:solidFill>
              </a:rPr>
              <a:t> </a:t>
            </a:r>
            <a:r>
              <a:rPr lang="pt-BR" altLang="pt-BR" sz="2400" dirty="0"/>
              <a:t>– Aplicação real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CFEA5C6B-7720-7E84-FBE0-AD45FCE51AB0}"/>
              </a:ext>
            </a:extLst>
          </p:cNvPr>
          <p:cNvSpPr txBox="1"/>
          <p:nvPr/>
        </p:nvSpPr>
        <p:spPr>
          <a:xfrm>
            <a:off x="1" y="908050"/>
            <a:ext cx="9144000" cy="59400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</a:rPr>
              <a:t>Tomada de Decisão em um cenário financeiro.</a:t>
            </a:r>
          </a:p>
          <a:p>
            <a:pPr algn="ctr"/>
            <a:r>
              <a:rPr lang="pt-BR" sz="2400" dirty="0">
                <a:solidFill>
                  <a:srgbClr val="FF0066"/>
                </a:solidFill>
              </a:rPr>
              <a:t>Cenário: Investimento em Ações</a:t>
            </a:r>
          </a:p>
          <a:p>
            <a:endParaRPr lang="pt-BR" sz="2400" dirty="0">
              <a:solidFill>
                <a:srgbClr val="FF0066"/>
              </a:solidFill>
            </a:endParaRPr>
          </a:p>
          <a:p>
            <a:r>
              <a:rPr lang="pt-BR" sz="2400" dirty="0">
                <a:solidFill>
                  <a:schemeClr val="bg1"/>
                </a:solidFill>
              </a:rPr>
              <a:t>Equação de </a:t>
            </a:r>
            <a:r>
              <a:rPr lang="pt-BR" sz="2400" dirty="0" err="1">
                <a:solidFill>
                  <a:schemeClr val="bg1"/>
                </a:solidFill>
              </a:rPr>
              <a:t>Bellman</a:t>
            </a:r>
            <a:r>
              <a:rPr lang="pt-BR" sz="2400" dirty="0">
                <a:solidFill>
                  <a:schemeClr val="bg1"/>
                </a:solidFill>
              </a:rPr>
              <a:t> nesse cenário:</a:t>
            </a:r>
          </a:p>
          <a:p>
            <a:endParaRPr lang="pt-BR" sz="24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rgbClr val="FF0066"/>
                </a:solidFill>
              </a:rPr>
              <a:t>Estados</a:t>
            </a:r>
            <a:r>
              <a:rPr lang="pt-BR" sz="2000" dirty="0">
                <a:solidFill>
                  <a:schemeClr val="bg1"/>
                </a:solidFill>
              </a:rPr>
              <a:t>: O estado atual representa </a:t>
            </a:r>
            <a:r>
              <a:rPr lang="pt-BR" sz="2000" dirty="0">
                <a:solidFill>
                  <a:srgbClr val="FF0066"/>
                </a:solidFill>
              </a:rPr>
              <a:t>a quantidade </a:t>
            </a:r>
            <a:r>
              <a:rPr lang="pt-BR" sz="2000" dirty="0">
                <a:solidFill>
                  <a:schemeClr val="bg1"/>
                </a:solidFill>
              </a:rPr>
              <a:t>de dinheiro disponível para investir a cada mês. Isso inclui o </a:t>
            </a:r>
            <a:r>
              <a:rPr lang="pt-BR" sz="2000" dirty="0">
                <a:solidFill>
                  <a:srgbClr val="FF0066"/>
                </a:solidFill>
              </a:rPr>
              <a:t>montante inicial e o resultado dos investimentos anteriores.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rgbClr val="FF0066"/>
                </a:solidFill>
              </a:rPr>
              <a:t>Ações</a:t>
            </a:r>
            <a:r>
              <a:rPr lang="pt-BR" sz="2000" dirty="0">
                <a:solidFill>
                  <a:schemeClr val="bg1"/>
                </a:solidFill>
              </a:rPr>
              <a:t>: As ações possíveis incluem </a:t>
            </a:r>
            <a:r>
              <a:rPr lang="pt-BR" sz="2000" dirty="0">
                <a:solidFill>
                  <a:srgbClr val="FF0066"/>
                </a:solidFill>
              </a:rPr>
              <a:t>alocar dinheiro </a:t>
            </a:r>
            <a:r>
              <a:rPr lang="pt-BR" sz="2000" dirty="0">
                <a:solidFill>
                  <a:schemeClr val="bg1"/>
                </a:solidFill>
              </a:rPr>
              <a:t>para Ações de Tecnologia, Ações de Energia e Ações de Saúde em cada mês.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rgbClr val="FF0066"/>
                </a:solidFill>
              </a:rPr>
              <a:t>Recompensas</a:t>
            </a:r>
            <a:r>
              <a:rPr lang="pt-BR" sz="2000" dirty="0">
                <a:solidFill>
                  <a:schemeClr val="bg1"/>
                </a:solidFill>
              </a:rPr>
              <a:t>: A recompensa em cada mês é o </a:t>
            </a:r>
            <a:r>
              <a:rPr lang="pt-BR" sz="2000" dirty="0">
                <a:solidFill>
                  <a:srgbClr val="FF0066"/>
                </a:solidFill>
              </a:rPr>
              <a:t>retorno financeiro </a:t>
            </a:r>
            <a:r>
              <a:rPr lang="pt-BR" sz="2000" dirty="0">
                <a:solidFill>
                  <a:schemeClr val="bg1"/>
                </a:solidFill>
              </a:rPr>
              <a:t>obtido após os investimentos e pode ser positiva </a:t>
            </a:r>
            <a:r>
              <a:rPr lang="pt-BR" sz="2000" dirty="0">
                <a:solidFill>
                  <a:srgbClr val="FF0066"/>
                </a:solidFill>
              </a:rPr>
              <a:t>ou negativa</a:t>
            </a:r>
            <a:r>
              <a:rPr lang="pt-BR" sz="2000" dirty="0">
                <a:solidFill>
                  <a:schemeClr val="bg1"/>
                </a:solidFill>
              </a:rPr>
              <a:t>, dependendo do desempenho das ações e dos riscos associados.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rgbClr val="FF0066"/>
                </a:solidFill>
              </a:rPr>
              <a:t>Aplicação: </a:t>
            </a:r>
            <a:r>
              <a:rPr lang="pt-BR" sz="2000" dirty="0">
                <a:solidFill>
                  <a:schemeClr val="bg1"/>
                </a:solidFill>
              </a:rPr>
              <a:t>O “plano” define </a:t>
            </a:r>
            <a:r>
              <a:rPr lang="pt-BR" sz="2000" dirty="0">
                <a:solidFill>
                  <a:srgbClr val="FF0066"/>
                </a:solidFill>
              </a:rPr>
              <a:t>como</a:t>
            </a:r>
            <a:r>
              <a:rPr lang="pt-BR" sz="2000" dirty="0">
                <a:solidFill>
                  <a:schemeClr val="bg1"/>
                </a:solidFill>
              </a:rPr>
              <a:t> você decide alocar seu dinheiro em cada mês para cada tipo de ação.</a:t>
            </a:r>
            <a:endParaRPr lang="pt-B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5750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32A5A-EF28-378A-133A-216A4E43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09B538F6-D3D4-6EF0-0F4F-F1EA20FC93B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/>
              <a:t>Demo – </a:t>
            </a:r>
            <a:r>
              <a:rPr lang="pt-BR" altLang="pt-BR" dirty="0" err="1">
                <a:solidFill>
                  <a:srgbClr val="FF0066"/>
                </a:solidFill>
              </a:rPr>
              <a:t>Bellman</a:t>
            </a:r>
            <a:r>
              <a:rPr lang="pt-BR" altLang="pt-BR" dirty="0">
                <a:solidFill>
                  <a:srgbClr val="FF0066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24039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B6272-ECEB-0104-2235-6F19B62D3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ço Reservado para Texto 4">
            <a:extLst>
              <a:ext uri="{FF2B5EF4-FFF2-40B4-BE49-F238E27FC236}">
                <a16:creationId xmlns:a16="http://schemas.microsoft.com/office/drawing/2014/main" id="{CCD3CDA6-76F9-B06C-234B-298828DDE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0" y="3213100"/>
            <a:ext cx="9144000" cy="792163"/>
          </a:xfrm>
        </p:spPr>
        <p:txBody>
          <a:bodyPr>
            <a:normAutofit/>
          </a:bodyPr>
          <a:lstStyle/>
          <a:p>
            <a:r>
              <a:rPr lang="pt-BR" altLang="pt-BR" dirty="0"/>
              <a:t>Projeto </a:t>
            </a:r>
            <a:r>
              <a:rPr lang="pt-BR" altLang="pt-BR" dirty="0">
                <a:solidFill>
                  <a:srgbClr val="FF0066"/>
                </a:solidFill>
              </a:rPr>
              <a:t>Integrado</a:t>
            </a:r>
          </a:p>
        </p:txBody>
      </p:sp>
    </p:spTree>
    <p:extLst>
      <p:ext uri="{BB962C8B-B14F-4D97-AF65-F5344CB8AC3E}">
        <p14:creationId xmlns:p14="http://schemas.microsoft.com/office/powerpoint/2010/main" val="76726987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160DC-2ED2-3C55-EFB9-A241D530A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07C25B9-7920-3262-ABEE-81E8899636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Projeto Integrado – Quantum </a:t>
            </a:r>
            <a:r>
              <a:rPr lang="pt-BR" altLang="pt-BR" dirty="0" err="1">
                <a:solidFill>
                  <a:srgbClr val="FF0066"/>
                </a:solidFill>
              </a:rPr>
              <a:t>Finance</a:t>
            </a:r>
            <a:endParaRPr lang="pt-BR" altLang="pt-BR" dirty="0">
              <a:solidFill>
                <a:srgbClr val="FF0066"/>
              </a:solidFill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93124E4-86F9-02FB-C2D5-2E7F25E635C4}"/>
              </a:ext>
            </a:extLst>
          </p:cNvPr>
          <p:cNvSpPr txBox="1"/>
          <p:nvPr/>
        </p:nvSpPr>
        <p:spPr>
          <a:xfrm>
            <a:off x="278755" y="908050"/>
            <a:ext cx="858648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A </a:t>
            </a:r>
            <a:r>
              <a:rPr lang="pt-BR" sz="1600" dirty="0" err="1">
                <a:solidFill>
                  <a:schemeClr val="bg1"/>
                </a:solidFill>
              </a:rPr>
              <a:t>QuantumFinance</a:t>
            </a:r>
            <a:r>
              <a:rPr lang="pt-BR" sz="1600" dirty="0">
                <a:solidFill>
                  <a:schemeClr val="bg1"/>
                </a:solidFill>
              </a:rPr>
              <a:t> deseja criar um fundo automatizado para operar três ativos</a:t>
            </a:r>
            <a:r>
              <a:rPr lang="pt-BR" sz="1600" b="1" dirty="0">
                <a:solidFill>
                  <a:schemeClr val="bg1"/>
                </a:solidFill>
              </a:rPr>
              <a:t>: Vale, Petrobrás e Brasil </a:t>
            </a:r>
            <a:r>
              <a:rPr lang="pt-BR" sz="1600" b="1" dirty="0" err="1">
                <a:solidFill>
                  <a:schemeClr val="bg1"/>
                </a:solidFill>
              </a:rPr>
              <a:t>Foods</a:t>
            </a:r>
            <a:r>
              <a:rPr lang="pt-BR" sz="1600" b="1" dirty="0">
                <a:solidFill>
                  <a:schemeClr val="bg1"/>
                </a:solidFill>
              </a:rPr>
              <a:t>. </a:t>
            </a:r>
          </a:p>
          <a:p>
            <a:r>
              <a:rPr lang="pt-BR" sz="1600" dirty="0">
                <a:solidFill>
                  <a:schemeClr val="bg1"/>
                </a:solidFill>
              </a:rPr>
              <a:t>O objetivo é desenvolver e simular um agente de </a:t>
            </a:r>
            <a:r>
              <a:rPr lang="pt-BR" sz="1600" dirty="0">
                <a:solidFill>
                  <a:srgbClr val="FF0066"/>
                </a:solidFill>
              </a:rPr>
              <a:t>Reinforcement Learning (RL) </a:t>
            </a:r>
            <a:r>
              <a:rPr lang="pt-BR" sz="1600" dirty="0">
                <a:solidFill>
                  <a:schemeClr val="bg1"/>
                </a:solidFill>
              </a:rPr>
              <a:t>capaz de tomar decisões financeiras, como compra, venda ou manutenção de posição, com base em dados históricos.</a:t>
            </a:r>
          </a:p>
          <a:p>
            <a:pPr algn="ctr"/>
            <a:endParaRPr lang="pt-BR" sz="2400" b="1" dirty="0">
              <a:solidFill>
                <a:schemeClr val="bg1"/>
              </a:solidFill>
            </a:endParaRPr>
          </a:p>
          <a:p>
            <a:pPr algn="ctr"/>
            <a:r>
              <a:rPr lang="pt-BR" sz="2400" b="1" dirty="0">
                <a:solidFill>
                  <a:schemeClr val="bg1"/>
                </a:solidFill>
              </a:rPr>
              <a:t>ENTREGA</a:t>
            </a:r>
            <a:r>
              <a:rPr lang="pt-BR" sz="2400" b="1">
                <a:solidFill>
                  <a:schemeClr val="bg1"/>
                </a:solidFill>
              </a:rPr>
              <a:t>: 03/05</a:t>
            </a:r>
            <a:endParaRPr lang="pt-BR" sz="2400" b="1" dirty="0">
              <a:solidFill>
                <a:schemeClr val="bg1"/>
              </a:solidFill>
            </a:endParaRPr>
          </a:p>
          <a:p>
            <a:endParaRPr lang="pt-BR" sz="1600" dirty="0">
              <a:solidFill>
                <a:schemeClr val="bg1"/>
              </a:solidFill>
            </a:endParaRPr>
          </a:p>
          <a:p>
            <a:r>
              <a:rPr lang="pt-BR" sz="1600" b="1" u="sng" dirty="0">
                <a:solidFill>
                  <a:schemeClr val="bg1"/>
                </a:solidFill>
              </a:rPr>
              <a:t>Tarefas: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0066"/>
                </a:solidFill>
              </a:rPr>
              <a:t>Definir o Problema de RL: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Identificar estados, ações e recompensas no contexto financeiro.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0066"/>
                </a:solidFill>
              </a:rPr>
              <a:t>Implementar ou apresentar exemplo de aplicação do Agente de RL: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Escolher um algoritmo de RL (ex.: Q-Learning ou DQN) e aplicá-lo para treinar o agente utilizando os dados históricos.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0066"/>
                </a:solidFill>
              </a:rPr>
              <a:t>Avaliação do Desempenho: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Descrever ou simular o comportamento do agente e, se possível, analisar os resultados com métricas financeiras relevantes (lucro, </a:t>
            </a:r>
            <a:r>
              <a:rPr lang="pt-BR" sz="1600" dirty="0" err="1">
                <a:solidFill>
                  <a:schemeClr val="bg1"/>
                </a:solidFill>
              </a:rPr>
              <a:t>sharpe</a:t>
            </a:r>
            <a:r>
              <a:rPr lang="pt-BR" sz="1600" dirty="0">
                <a:solidFill>
                  <a:schemeClr val="bg1"/>
                </a:solidFill>
              </a:rPr>
              <a:t> </a:t>
            </a:r>
            <a:r>
              <a:rPr lang="pt-BR" sz="1600" dirty="0" err="1">
                <a:solidFill>
                  <a:schemeClr val="bg1"/>
                </a:solidFill>
              </a:rPr>
              <a:t>ratio</a:t>
            </a:r>
            <a:r>
              <a:rPr lang="pt-BR" sz="1600" dirty="0">
                <a:solidFill>
                  <a:schemeClr val="bg1"/>
                </a:solidFill>
              </a:rPr>
              <a:t>, etc.).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rgbClr val="FF0066"/>
                </a:solidFill>
              </a:rPr>
              <a:t>Entregáveis: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Relatório explicativo com desenho do agente, resultados obtidos e insights;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1600" dirty="0">
                <a:solidFill>
                  <a:schemeClr val="bg1"/>
                </a:solidFill>
              </a:rPr>
              <a:t>Se aplicável, código-fonte com a implementação e simulações realizadas.</a:t>
            </a:r>
          </a:p>
        </p:txBody>
      </p:sp>
    </p:spTree>
    <p:extLst>
      <p:ext uri="{BB962C8B-B14F-4D97-AF65-F5344CB8AC3E}">
        <p14:creationId xmlns:p14="http://schemas.microsoft.com/office/powerpoint/2010/main" val="17386979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29881-8632-4FFC-E43D-159E7EEF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7E7862BA-5EE0-4140-7E15-E4CF8B4FA5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>
                <a:solidFill>
                  <a:srgbClr val="FF0066"/>
                </a:solidFill>
              </a:rPr>
              <a:t>Projeto Integrado – Quantum Finance</a:t>
            </a:r>
            <a:endParaRPr lang="pt-BR" altLang="pt-BR" dirty="0">
              <a:solidFill>
                <a:srgbClr val="FF0066"/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5CB1765-8851-181D-AC92-1C2FC2ED090B}"/>
              </a:ext>
            </a:extLst>
          </p:cNvPr>
          <p:cNvSpPr txBox="1"/>
          <p:nvPr/>
        </p:nvSpPr>
        <p:spPr>
          <a:xfrm>
            <a:off x="-30452" y="836712"/>
            <a:ext cx="3378315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chemeClr val="bg1"/>
                </a:solidFill>
              </a:rPr>
              <a:t>Sobre o </a:t>
            </a:r>
            <a:r>
              <a:rPr lang="pt-BR" sz="2000" dirty="0" err="1">
                <a:solidFill>
                  <a:schemeClr val="bg1"/>
                </a:solidFill>
              </a:rPr>
              <a:t>Dataset</a:t>
            </a:r>
            <a:r>
              <a:rPr lang="pt-BR" sz="2000" dirty="0">
                <a:solidFill>
                  <a:schemeClr val="bg1"/>
                </a:solidFill>
              </a:rPr>
              <a:t>, ele é livre para escolher as fontes e o período histórico. </a:t>
            </a: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</a:rPr>
              <a:t>Uma boa fonte normalmente para dados históricos de ações é o Investing.com</a:t>
            </a: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solidFill>
                  <a:schemeClr val="bg1"/>
                </a:solidFill>
              </a:rPr>
              <a:t>Pesquise e selecione a ação ou índice no site</a:t>
            </a:r>
          </a:p>
          <a:p>
            <a:pPr marL="457200" indent="-457200">
              <a:buFont typeface="+mj-lt"/>
              <a:buAutoNum type="arabicPeriod"/>
            </a:pPr>
            <a:endParaRPr lang="pt-BR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solidFill>
                  <a:schemeClr val="bg1"/>
                </a:solidFill>
              </a:rPr>
              <a:t>Na página de dados históricos, escolha o período desejado </a:t>
            </a:r>
            <a:br>
              <a:rPr lang="pt-BR" dirty="0">
                <a:solidFill>
                  <a:schemeClr val="bg1"/>
                </a:solidFill>
              </a:rPr>
            </a:br>
            <a:endParaRPr lang="pt-BR" dirty="0">
              <a:solidFill>
                <a:schemeClr val="bg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dirty="0">
                <a:solidFill>
                  <a:schemeClr val="bg1"/>
                </a:solidFill>
              </a:rPr>
              <a:t>Você pode ver os dados diretamente na tabela e, geralmente, há opções de download ou exportação disponíveis</a:t>
            </a:r>
          </a:p>
          <a:p>
            <a:pPr marL="457200" indent="-457200">
              <a:buFont typeface="+mj-lt"/>
              <a:buAutoNum type="arabicPeriod"/>
            </a:pPr>
            <a:endParaRPr lang="pt-BR" sz="2400" dirty="0">
              <a:solidFill>
                <a:schemeClr val="bg1"/>
              </a:solidFill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46ED3B5-55BA-3DA9-452C-AFDCB8B2A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676" y="836712"/>
            <a:ext cx="5661324" cy="6021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4256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BCD6E-D4C1-23C9-2422-379F282A0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ítulo 3">
            <a:extLst>
              <a:ext uri="{FF2B5EF4-FFF2-40B4-BE49-F238E27FC236}">
                <a16:creationId xmlns:a16="http://schemas.microsoft.com/office/drawing/2014/main" id="{DC011282-86FA-C09A-A966-F7BC60991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313" y="115888"/>
            <a:ext cx="7127875" cy="792162"/>
          </a:xfrm>
        </p:spPr>
        <p:txBody>
          <a:bodyPr/>
          <a:lstStyle/>
          <a:p>
            <a:r>
              <a:rPr lang="pt-BR" altLang="pt-BR" dirty="0">
                <a:solidFill>
                  <a:srgbClr val="FF0066"/>
                </a:solidFill>
              </a:rPr>
              <a:t>Reinforcement Learning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E20E385-8178-A8F7-5A50-150AE08D5D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866" y="3068960"/>
            <a:ext cx="3562267" cy="3573469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6D58562-B657-A95B-98C5-0473B4306705}"/>
              </a:ext>
            </a:extLst>
          </p:cNvPr>
          <p:cNvSpPr txBox="1"/>
          <p:nvPr/>
        </p:nvSpPr>
        <p:spPr>
          <a:xfrm>
            <a:off x="0" y="1052736"/>
            <a:ext cx="9144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>
                <a:solidFill>
                  <a:schemeClr val="bg1"/>
                </a:solidFill>
              </a:rPr>
              <a:t>Obrigado pela atenção!</a:t>
            </a:r>
          </a:p>
          <a:p>
            <a:pPr algn="ctr"/>
            <a:endParaRPr lang="pt-BR" sz="4400" dirty="0">
              <a:solidFill>
                <a:schemeClr val="bg1"/>
              </a:solidFill>
            </a:endParaRPr>
          </a:p>
          <a:p>
            <a:pPr algn="ctr"/>
            <a:r>
              <a:rPr lang="pt-BR" sz="2800" dirty="0">
                <a:solidFill>
                  <a:schemeClr val="bg1"/>
                </a:solidFill>
              </a:rPr>
              <a:t>Não esquecem de avaliar a aula no nosso </a:t>
            </a:r>
            <a:r>
              <a:rPr lang="pt-BR" sz="2800" dirty="0">
                <a:solidFill>
                  <a:srgbClr val="FF0066"/>
                </a:solidFill>
              </a:rPr>
              <a:t>MBA </a:t>
            </a:r>
            <a:r>
              <a:rPr lang="pt-BR" sz="2800" dirty="0" err="1">
                <a:solidFill>
                  <a:srgbClr val="FF0066"/>
                </a:solidFill>
              </a:rPr>
              <a:t>survey</a:t>
            </a:r>
            <a:r>
              <a:rPr lang="pt-BR" sz="2800" dirty="0">
                <a:solidFill>
                  <a:srgbClr val="FF0066"/>
                </a:solidFill>
              </a:rPr>
              <a:t>!</a:t>
            </a:r>
          </a:p>
          <a:p>
            <a:pPr algn="ctr"/>
            <a:endParaRPr lang="pt-BR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22255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48010B6C-033F-9397-4C8B-F81F2B1ED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4300" y="2565400"/>
            <a:ext cx="4679950" cy="1385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eaLnBrk="1" hangingPunct="1">
              <a:defRPr/>
            </a:pP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Copyright © </a:t>
            </a:r>
            <a:r>
              <a:rPr kumimoji="1" lang="en-US" sz="1400" b="1" dirty="0">
                <a:solidFill>
                  <a:schemeClr val="bg1">
                    <a:lumMod val="85000"/>
                  </a:schemeClr>
                </a:solidFill>
              </a:rPr>
              <a:t>2025  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Prof. Paulo Caixeta</a:t>
            </a:r>
          </a:p>
          <a:p>
            <a:pPr eaLnBrk="1" hangingPunct="1">
              <a:defRPr/>
            </a:pPr>
            <a:endParaRPr kumimoji="1" lang="en-US" sz="1400" dirty="0">
              <a:solidFill>
                <a:schemeClr val="bg1">
                  <a:lumMod val="85000"/>
                </a:schemeClr>
              </a:solidFill>
            </a:endParaRPr>
          </a:p>
          <a:p>
            <a:pPr eaLnBrk="1" hangingPunct="1">
              <a:defRPr/>
            </a:pP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Todos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direitos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reservados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Reprodução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divulgação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total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ou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parcial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deste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documento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é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expressamente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proíbido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sem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o </a:t>
            </a:r>
            <a:r>
              <a:rPr kumimoji="1" lang="pt-BR" sz="1400" dirty="0">
                <a:solidFill>
                  <a:schemeClr val="bg1">
                    <a:lumMod val="85000"/>
                  </a:schemeClr>
                </a:solidFill>
              </a:rPr>
              <a:t>consentimento formal, por escrito,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 do Professor (</a:t>
            </a:r>
            <a:r>
              <a:rPr kumimoji="1" lang="en-US" sz="1400" dirty="0" err="1">
                <a:solidFill>
                  <a:schemeClr val="bg1">
                    <a:lumMod val="85000"/>
                  </a:schemeClr>
                </a:solidFill>
              </a:rPr>
              <a:t>autor</a:t>
            </a:r>
            <a:r>
              <a:rPr kumimoji="1" lang="en-US" sz="1400" dirty="0">
                <a:solidFill>
                  <a:schemeClr val="bg1">
                    <a:lumMod val="85000"/>
                  </a:schemeClr>
                </a:solidFill>
              </a:rPr>
              <a:t>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6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2510</TotalTime>
  <Words>1975</Words>
  <Application>Microsoft Office PowerPoint</Application>
  <PresentationFormat>Apresentação na tela (4:3)</PresentationFormat>
  <Paragraphs>261</Paragraphs>
  <Slides>43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slides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Courier New</vt:lpstr>
      <vt:lpstr>Square721 BT</vt:lpstr>
      <vt:lpstr>Times New Roman</vt:lpstr>
      <vt:lpstr>2_Tema do Office</vt:lpstr>
      <vt:lpstr>6_Personalizar design</vt:lpstr>
      <vt:lpstr>1_Tema do Office</vt:lpstr>
      <vt:lpstr>Apresentação do PowerPoint</vt:lpstr>
      <vt:lpstr>Apresentação do PowerPoint</vt:lpstr>
      <vt:lpstr>Conteúdo</vt:lpstr>
      <vt:lpstr>Apresentação do PowerPoint</vt:lpstr>
      <vt:lpstr>Definição</vt:lpstr>
      <vt:lpstr>Características</vt:lpstr>
      <vt:lpstr>Conceitos</vt:lpstr>
      <vt:lpstr>Conceitos</vt:lpstr>
      <vt:lpstr>Conceitos - Tomada de decisão sequencial</vt:lpstr>
      <vt:lpstr>Conceitos - Tomada de decisão sequencial</vt:lpstr>
      <vt:lpstr>Agentes</vt:lpstr>
      <vt:lpstr>Componentes de Agentes: Política</vt:lpstr>
      <vt:lpstr>Componentes de Agentes: Função de Valor</vt:lpstr>
      <vt:lpstr>Componentes de Agentes: Modelo</vt:lpstr>
      <vt:lpstr>Casos de uso</vt:lpstr>
      <vt:lpstr>Apresentação do PowerPoint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Apresentação do PowerPoint</vt:lpstr>
      <vt:lpstr>Apresentação do PowerPoint</vt:lpstr>
      <vt:lpstr>Agente e Ambiente</vt:lpstr>
      <vt:lpstr>Agente e Ambiente</vt:lpstr>
      <vt:lpstr>Equação de Bellman</vt:lpstr>
      <vt:lpstr>Equação de Bellman – mundo hipotético</vt:lpstr>
      <vt:lpstr>Equação de Bellman – caso mais realista</vt:lpstr>
      <vt:lpstr>Equação de Bellman – caso mais realista</vt:lpstr>
      <vt:lpstr>Equação de Bellman – caso mais realista</vt:lpstr>
      <vt:lpstr>Equação de Bellman – aplicação</vt:lpstr>
      <vt:lpstr>Equação de Bellman – Aplicação real</vt:lpstr>
      <vt:lpstr>Equação de Bellman – Aplicação real</vt:lpstr>
      <vt:lpstr>Equação de Bellman – Aplicação real</vt:lpstr>
      <vt:lpstr>Equação de Bellman – Aplicação real</vt:lpstr>
      <vt:lpstr>Apresentação do PowerPoint</vt:lpstr>
      <vt:lpstr>Apresentação do PowerPoint</vt:lpstr>
      <vt:lpstr>Projeto Integrado – Quantum Finance</vt:lpstr>
      <vt:lpstr>Projeto Integrado – Quantum Finance</vt:lpstr>
      <vt:lpstr>Reinforcement Learning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Susanne Andrade</dc:creator>
  <cp:lastModifiedBy>Paulo C Oliveira</cp:lastModifiedBy>
  <cp:revision>327</cp:revision>
  <cp:lastPrinted>2015-08-20T10:58:19Z</cp:lastPrinted>
  <dcterms:created xsi:type="dcterms:W3CDTF">2012-10-02T15:58:15Z</dcterms:created>
  <dcterms:modified xsi:type="dcterms:W3CDTF">2026-04-15T19:07:49Z</dcterms:modified>
</cp:coreProperties>
</file>