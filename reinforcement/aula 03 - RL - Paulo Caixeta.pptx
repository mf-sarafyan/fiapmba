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</p:sldMasterIdLst>
  <p:notesMasterIdLst>
    <p:notesMasterId r:id="rId63"/>
  </p:notesMasterIdLst>
  <p:handoutMasterIdLst>
    <p:handoutMasterId r:id="rId64"/>
  </p:handoutMasterIdLst>
  <p:sldIdLst>
    <p:sldId id="470" r:id="rId4"/>
    <p:sldId id="471" r:id="rId5"/>
    <p:sldId id="473" r:id="rId6"/>
    <p:sldId id="472" r:id="rId7"/>
    <p:sldId id="482" r:id="rId8"/>
    <p:sldId id="483" r:id="rId9"/>
    <p:sldId id="487" r:id="rId10"/>
    <p:sldId id="490" r:id="rId11"/>
    <p:sldId id="491" r:id="rId12"/>
    <p:sldId id="492" r:id="rId13"/>
    <p:sldId id="494" r:id="rId14"/>
    <p:sldId id="495" r:id="rId15"/>
    <p:sldId id="496" r:id="rId16"/>
    <p:sldId id="497" r:id="rId17"/>
    <p:sldId id="500" r:id="rId18"/>
    <p:sldId id="501" r:id="rId19"/>
    <p:sldId id="502" r:id="rId20"/>
    <p:sldId id="503" r:id="rId21"/>
    <p:sldId id="504" r:id="rId22"/>
    <p:sldId id="505" r:id="rId23"/>
    <p:sldId id="506" r:id="rId24"/>
    <p:sldId id="507" r:id="rId25"/>
    <p:sldId id="521" r:id="rId26"/>
    <p:sldId id="535" r:id="rId27"/>
    <p:sldId id="536" r:id="rId28"/>
    <p:sldId id="537" r:id="rId29"/>
    <p:sldId id="538" r:id="rId30"/>
    <p:sldId id="539" r:id="rId31"/>
    <p:sldId id="540" r:id="rId32"/>
    <p:sldId id="541" r:id="rId33"/>
    <p:sldId id="542" r:id="rId34"/>
    <p:sldId id="534" r:id="rId35"/>
    <p:sldId id="545" r:id="rId36"/>
    <p:sldId id="544" r:id="rId37"/>
    <p:sldId id="546" r:id="rId38"/>
    <p:sldId id="547" r:id="rId39"/>
    <p:sldId id="548" r:id="rId40"/>
    <p:sldId id="549" r:id="rId41"/>
    <p:sldId id="550" r:id="rId42"/>
    <p:sldId id="551" r:id="rId43"/>
    <p:sldId id="552" r:id="rId44"/>
    <p:sldId id="553" r:id="rId45"/>
    <p:sldId id="554" r:id="rId46"/>
    <p:sldId id="555" r:id="rId47"/>
    <p:sldId id="556" r:id="rId48"/>
    <p:sldId id="557" r:id="rId49"/>
    <p:sldId id="558" r:id="rId50"/>
    <p:sldId id="559" r:id="rId51"/>
    <p:sldId id="560" r:id="rId52"/>
    <p:sldId id="561" r:id="rId53"/>
    <p:sldId id="533" r:id="rId54"/>
    <p:sldId id="543" r:id="rId55"/>
    <p:sldId id="562" r:id="rId56"/>
    <p:sldId id="563" r:id="rId57"/>
    <p:sldId id="532" r:id="rId58"/>
    <p:sldId id="522" r:id="rId59"/>
    <p:sldId id="514" r:id="rId60"/>
    <p:sldId id="515" r:id="rId61"/>
    <p:sldId id="444" r:id="rId62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0" autoAdjust="0"/>
    <p:restoredTop sz="98940" autoAdjust="0"/>
  </p:normalViewPr>
  <p:slideViewPr>
    <p:cSldViewPr>
      <p:cViewPr varScale="1">
        <p:scale>
          <a:sx n="122" d="100"/>
          <a:sy n="122" d="100"/>
        </p:scale>
        <p:origin x="1302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19DA04EB-A64F-EDAF-925A-3777DCBB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9CD97429-32FB-98BD-78F0-70D59698AA2E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5002E253-BD59-15F4-CBF9-CB5BF3DD7B1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r>
              <a:rPr lang="pt-BR" altLang="pt-BR"/>
              <a:t>Página - </a:t>
            </a:r>
            <a:fld id="{4678FB55-7743-47D9-89AB-7ABD2D1CC3B1}" type="slidenum">
              <a:rPr lang="pt-BR" altLang="pt-BR"/>
              <a:pPr/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6819238-38F0-A6AC-BC38-9F333C33C8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651925-AFB6-98A3-EFAD-231215AA21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F2105B12-0433-4D82-B4DF-A7A986D10E8A}" type="datetimeFigureOut">
              <a:rPr lang="pt-BR"/>
              <a:pPr>
                <a:defRPr/>
              </a:pPr>
              <a:t>08/04/2026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DBFC9356-E936-81BD-2921-057DDB1E3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2BF5EA26-0608-494E-5894-DEF5E7D4A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9297AA-8744-5609-D19F-50BCBCEC95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780533-4FC2-52F8-D7F3-2D0AD043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fld id="{A36BD8A2-5271-4551-B0D7-8952F12223F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AD97B2A-7E37-2065-3647-51C72D62CD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259C7E1-F666-181D-9124-D010A364D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1389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3404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15748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3555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869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6826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5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586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0694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786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673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131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4545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2007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7554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886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370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23928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28141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0251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jpe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04DFF012-0D2F-3B9A-183F-FD197C8F604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2DF84761-2464-42EE-59B8-CE77C39295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23515DBA-2F64-E775-9E83-D50FE4EBDD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A6EC88DD-E8A3-57F6-FBF1-32CA0E06A88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22" r:id="rId1"/>
    <p:sldLayoutId id="2147485023" r:id="rId2"/>
    <p:sldLayoutId id="2147485024" r:id="rId3"/>
    <p:sldLayoutId id="2147485025" r:id="rId4"/>
    <p:sldLayoutId id="2147485026" r:id="rId5"/>
    <p:sldLayoutId id="2147485027" r:id="rId6"/>
    <p:sldLayoutId id="2147485028" r:id="rId7"/>
    <p:sldLayoutId id="2147485029" r:id="rId8"/>
    <p:sldLayoutId id="2147485030" r:id="rId9"/>
    <p:sldLayoutId id="2147485035" r:id="rId10"/>
    <p:sldLayoutId id="21474850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8E6F7967-E512-4F5F-4E5B-3016238A752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B7B56926-032C-E792-C480-2EB3D53806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9F6003-D600-01A5-93F8-F7C43F9CC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E81409-DF25-4C41-8081-FF5F6EA8F23C}" type="datetimeFigureOut">
              <a:rPr lang="pt-BR"/>
              <a:pPr>
                <a:defRPr/>
              </a:pPr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D9EDB-4ACA-9277-3A31-F321386BE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0A06FD-AC9C-EBCC-0964-C14A4F709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E24C5999-26B5-4C36-97AE-8D929FCBD8E3}" type="slidenum">
              <a:rPr lang="pt-BR" altLang="pt-BR"/>
              <a:pPr/>
              <a:t>‹nº›</a:t>
            </a:fld>
            <a:endParaRPr lang="pt-BR" alt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260921-3A81-9DD5-7EF4-453B5ADF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62257E3A-26E5-4580-D94E-927389BE5D7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8A35E6AC-D70A-6172-E423-DE9F607BC63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36" r:id="rId1"/>
    <p:sldLayoutId id="2147485037" r:id="rId2"/>
    <p:sldLayoutId id="2147485038" r:id="rId3"/>
    <p:sldLayoutId id="2147485039" r:id="rId4"/>
    <p:sldLayoutId id="214748504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30499838-F273-7FC1-741B-8781EE0395F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32" r:id="rId1"/>
    <p:sldLayoutId id="2147485033" r:id="rId2"/>
    <p:sldLayoutId id="2147485034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vidstarsilver.wordpress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alex-frederico-mathias-felix-de-melo-6682b5107_deeplearning-machinelearning-computervision-activity-7373678878483120129-OBeD" TargetMode="External"/><Relationship Id="rId2" Type="http://schemas.openxmlformats.org/officeDocument/2006/relationships/hyperlink" Target="https://poloclub.github.io/cnn-explainer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m 4">
            <a:extLst>
              <a:ext uri="{FF2B5EF4-FFF2-40B4-BE49-F238E27FC236}">
                <a16:creationId xmlns:a16="http://schemas.microsoft.com/office/drawing/2014/main" id="{334AD4A4-E094-ECF5-A21A-383E21B2A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Espaço Reservado para Texto 1">
            <a:extLst>
              <a:ext uri="{FF2B5EF4-FFF2-40B4-BE49-F238E27FC236}">
                <a16:creationId xmlns:a16="http://schemas.microsoft.com/office/drawing/2014/main" id="{054E42A6-282F-A7F2-5376-3A8F983062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924300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dirty="0"/>
              <a:t>MBA em Data Science &amp; Artificial </a:t>
            </a:r>
            <a:r>
              <a:rPr lang="pt-BR" altLang="pt-BR" dirty="0" err="1"/>
              <a:t>Intelligence</a:t>
            </a:r>
            <a:endParaRPr lang="pt-BR" alt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2">
            <a:extLst>
              <a:ext uri="{FF2B5EF4-FFF2-40B4-BE49-F238E27FC236}">
                <a16:creationId xmlns:a16="http://schemas.microsoft.com/office/drawing/2014/main" id="{ADC7C468-EBB7-B5B9-0FA3-F0F5D1A97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Espaço Reservado para Texto 1">
            <a:extLst>
              <a:ext uri="{FF2B5EF4-FFF2-40B4-BE49-F238E27FC236}">
                <a16:creationId xmlns:a16="http://schemas.microsoft.com/office/drawing/2014/main" id="{190B0B74-4982-E55A-BBDF-765BAD6C7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REINFORCEMENT </a:t>
            </a:r>
          </a:p>
          <a:p>
            <a:r>
              <a:rPr lang="pt-BR" altLang="pt-BR" dirty="0"/>
              <a:t>LEARNING</a:t>
            </a:r>
            <a:endParaRPr lang="en-US" altLang="pt-BR" dirty="0"/>
          </a:p>
          <a:p>
            <a:endParaRPr lang="pt-BR" altLang="pt-BR" dirty="0"/>
          </a:p>
        </p:txBody>
      </p:sp>
      <p:sp>
        <p:nvSpPr>
          <p:cNvPr id="14340" name="Espaço Reservado para Texto 4">
            <a:extLst>
              <a:ext uri="{FF2B5EF4-FFF2-40B4-BE49-F238E27FC236}">
                <a16:creationId xmlns:a16="http://schemas.microsoft.com/office/drawing/2014/main" id="{4FA2C4F2-9018-465F-4812-6E03B932D35D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Prof. Paulo Caixeta 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Profpaulo.oliveira@fiap.com.br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7DE49495-E857-EB75-FD94-354BC64AB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Conteúdo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40A1A583-D015-EBC7-4555-E094AE698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891358"/>
            <a:ext cx="8424167" cy="525621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Recapitulação</a:t>
            </a:r>
            <a:r>
              <a:rPr lang="en-US" dirty="0"/>
              <a:t>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Deep Q- Learning</a:t>
            </a:r>
            <a:r>
              <a:rPr lang="en-US" dirty="0"/>
              <a:t>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Demo – Atari </a:t>
            </a:r>
            <a:r>
              <a:rPr lang="pt-BR" dirty="0" err="1"/>
              <a:t>BreakOut</a:t>
            </a:r>
            <a:r>
              <a:rPr lang="pt-BR" dirty="0"/>
              <a:t> 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Demo – </a:t>
            </a:r>
            <a:r>
              <a:rPr lang="pt-BR" dirty="0" err="1"/>
              <a:t>LunarLander</a:t>
            </a:r>
            <a:r>
              <a:rPr lang="pt-BR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Reinforcement Learning from Human Feedback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769AED15-A281-2CE1-0648-806A46CA4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CONCEITOS</a:t>
            </a:r>
            <a:r>
              <a:rPr lang="pt-BR" altLang="pt-BR" dirty="0"/>
              <a:t> DO APRENDIZADO POR REFORÇO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E7F8-3E4E-B45A-A7B7-6F3AA326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7810172-0072-ABF9-9CB0-7BDFB5F2F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Definição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8ABDBB98-A512-0ADD-CD43-CBE8CB97F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891358"/>
            <a:ext cx="8424167" cy="5256212"/>
          </a:xfrm>
        </p:spPr>
        <p:txBody>
          <a:bodyPr/>
          <a:lstStyle/>
          <a:p>
            <a:r>
              <a:rPr lang="pt-BR" altLang="pt-BR" sz="2000" dirty="0">
                <a:solidFill>
                  <a:srgbClr val="FF0066"/>
                </a:solidFill>
              </a:rPr>
              <a:t>Aprendizado por reforço </a:t>
            </a:r>
            <a:r>
              <a:rPr lang="pt-BR" altLang="pt-BR" sz="2000" dirty="0"/>
              <a:t>é um paradigma de aprendizado de máquina que se baseia na </a:t>
            </a:r>
            <a:r>
              <a:rPr lang="pt-BR" altLang="pt-BR" sz="2000" dirty="0">
                <a:solidFill>
                  <a:srgbClr val="FF0066"/>
                </a:solidFill>
              </a:rPr>
              <a:t>interação de um agente com um ambiente</a:t>
            </a:r>
            <a:r>
              <a:rPr lang="pt-BR" altLang="pt-BR" sz="2000" dirty="0"/>
              <a:t>, em que o agente aprende a tomar decisões ótimas para </a:t>
            </a:r>
            <a:r>
              <a:rPr lang="pt-BR" altLang="pt-BR" sz="2000" b="1" u="sng" dirty="0">
                <a:solidFill>
                  <a:srgbClr val="FF0066"/>
                </a:solidFill>
              </a:rPr>
              <a:t>maximizar</a:t>
            </a:r>
            <a:r>
              <a:rPr lang="pt-BR" altLang="pt-BR" sz="2000" dirty="0"/>
              <a:t> uma recompensa numérica a </a:t>
            </a:r>
            <a:r>
              <a:rPr lang="pt-BR" altLang="pt-BR" sz="2000" b="1" u="sng" dirty="0">
                <a:solidFill>
                  <a:srgbClr val="FF0066"/>
                </a:solidFill>
              </a:rPr>
              <a:t>longo prazo</a:t>
            </a:r>
            <a:r>
              <a:rPr lang="pt-BR" altLang="pt-BR" sz="2000" dirty="0"/>
              <a:t>.</a:t>
            </a:r>
          </a:p>
          <a:p>
            <a:endParaRPr lang="pt-BR" altLang="pt-BR" sz="2000" dirty="0"/>
          </a:p>
          <a:p>
            <a:r>
              <a:rPr lang="pt-BR" altLang="pt-BR" sz="2000" dirty="0"/>
              <a:t>O agente deve aprender por </a:t>
            </a:r>
            <a:r>
              <a:rPr lang="pt-BR" altLang="pt-BR" sz="2000" dirty="0">
                <a:solidFill>
                  <a:srgbClr val="FF0066"/>
                </a:solidFill>
              </a:rPr>
              <a:t>tentativa</a:t>
            </a:r>
            <a:r>
              <a:rPr lang="pt-BR" altLang="pt-BR" sz="2000" dirty="0"/>
              <a:t> e erro, experimentando </a:t>
            </a:r>
            <a:r>
              <a:rPr lang="pt-BR" altLang="pt-BR" sz="2000" dirty="0">
                <a:solidFill>
                  <a:srgbClr val="FF0066"/>
                </a:solidFill>
              </a:rPr>
              <a:t>ações</a:t>
            </a:r>
            <a:r>
              <a:rPr lang="pt-BR" altLang="pt-BR" sz="2000" dirty="0"/>
              <a:t> e observando as </a:t>
            </a:r>
            <a:r>
              <a:rPr lang="pt-BR" altLang="pt-BR" sz="2000" dirty="0">
                <a:solidFill>
                  <a:srgbClr val="FF0066"/>
                </a:solidFill>
              </a:rPr>
              <a:t>consequências</a:t>
            </a:r>
            <a:r>
              <a:rPr lang="pt-BR" altLang="pt-BR" sz="2000" dirty="0"/>
              <a:t> dessas ações no ambiente, recebendo recompensas positivas ou negativas dependendo de seu desempenho.</a:t>
            </a:r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en-US" sz="1100" dirty="0"/>
              <a:t>[Reinforcement Learning: An Introduction. Richard S. Sutton e Andrew G. Barto]</a:t>
            </a:r>
            <a:endParaRPr lang="pt-BR" altLang="pt-BR" sz="1000" dirty="0"/>
          </a:p>
        </p:txBody>
      </p:sp>
    </p:spTree>
    <p:extLst>
      <p:ext uri="{BB962C8B-B14F-4D97-AF65-F5344CB8AC3E}">
        <p14:creationId xmlns:p14="http://schemas.microsoft.com/office/powerpoint/2010/main" val="17336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30E0-F89F-162B-B9FE-3AA09BBC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A0FCEC24-A173-8D91-1611-3D365BA9A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Características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77BFC7BE-C8D7-71F4-563A-22B022AB4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891358"/>
            <a:ext cx="8424167" cy="5256212"/>
          </a:xfrm>
        </p:spPr>
        <p:txBody>
          <a:bodyPr/>
          <a:lstStyle/>
          <a:p>
            <a:r>
              <a:rPr lang="pt-BR" altLang="pt-BR" sz="2000" dirty="0"/>
              <a:t>O que torna o aprendizado por reforço diferente de outros paradigmas de aprendizados de máquina?</a:t>
            </a:r>
          </a:p>
          <a:p>
            <a:endParaRPr lang="pt-BR" altLang="pt-BR" sz="2000" dirty="0"/>
          </a:p>
          <a:p>
            <a:r>
              <a:rPr lang="pt-BR" altLang="pt-BR" sz="2000" dirty="0">
                <a:solidFill>
                  <a:srgbClr val="FF0066"/>
                </a:solidFill>
              </a:rPr>
              <a:t>• </a:t>
            </a:r>
            <a:r>
              <a:rPr lang="pt-BR" altLang="pt-BR" sz="2000" dirty="0"/>
              <a:t>O feedback é </a:t>
            </a:r>
            <a:r>
              <a:rPr lang="pt-BR" altLang="pt-BR" sz="2000" dirty="0">
                <a:solidFill>
                  <a:srgbClr val="FF0066"/>
                </a:solidFill>
              </a:rPr>
              <a:t>atrasado, não instantâneo;</a:t>
            </a:r>
          </a:p>
          <a:p>
            <a:endParaRPr lang="pt-BR" altLang="pt-BR" sz="2000" dirty="0">
              <a:solidFill>
                <a:srgbClr val="FF0066"/>
              </a:solidFill>
            </a:endParaRPr>
          </a:p>
          <a:p>
            <a:r>
              <a:rPr lang="pt-BR" altLang="pt-BR" sz="2000" dirty="0">
                <a:solidFill>
                  <a:srgbClr val="FF0066"/>
                </a:solidFill>
              </a:rPr>
              <a:t>• </a:t>
            </a:r>
            <a:r>
              <a:rPr lang="pt-BR" altLang="pt-BR" sz="2000" dirty="0"/>
              <a:t>O tempo </a:t>
            </a:r>
            <a:r>
              <a:rPr lang="pt-BR" altLang="pt-BR" sz="2000" dirty="0">
                <a:solidFill>
                  <a:srgbClr val="FF0066"/>
                </a:solidFill>
              </a:rPr>
              <a:t>realmente importa </a:t>
            </a:r>
            <a:r>
              <a:rPr lang="pt-BR" altLang="pt-BR" sz="2000" dirty="0"/>
              <a:t>(não basta conseguir);</a:t>
            </a:r>
          </a:p>
          <a:p>
            <a:endParaRPr lang="pt-BR" altLang="pt-BR" sz="2000" dirty="0">
              <a:solidFill>
                <a:srgbClr val="FF0066"/>
              </a:solidFill>
            </a:endParaRPr>
          </a:p>
          <a:p>
            <a:r>
              <a:rPr lang="pt-BR" altLang="pt-BR" sz="2000" dirty="0">
                <a:solidFill>
                  <a:srgbClr val="FF0066"/>
                </a:solidFill>
              </a:rPr>
              <a:t>• </a:t>
            </a:r>
            <a:r>
              <a:rPr lang="pt-BR" altLang="pt-BR" sz="2000" dirty="0"/>
              <a:t>As ações do agente </a:t>
            </a:r>
            <a:r>
              <a:rPr lang="pt-BR" altLang="pt-BR" sz="2000" dirty="0">
                <a:solidFill>
                  <a:srgbClr val="FF0066"/>
                </a:solidFill>
              </a:rPr>
              <a:t>afetam os dados subsequentes </a:t>
            </a:r>
            <a:r>
              <a:rPr lang="pt-BR" altLang="pt-BR" sz="2000" dirty="0"/>
              <a:t>que ele recebe.</a:t>
            </a:r>
          </a:p>
          <a:p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285709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5954-EDA9-5516-FD91-2D4EF916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FC4A653-69FB-BB06-6E8F-B9E9A903D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18636784-BA22-6667-6D53-42B574321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549" y="891358"/>
            <a:ext cx="3992451" cy="5256212"/>
          </a:xfrm>
        </p:spPr>
        <p:txBody>
          <a:bodyPr/>
          <a:lstStyle/>
          <a:p>
            <a:r>
              <a:rPr lang="pt-BR" altLang="pt-BR" sz="2000" dirty="0">
                <a:solidFill>
                  <a:srgbClr val="FF0066"/>
                </a:solidFill>
              </a:rPr>
              <a:t>Agent→ </a:t>
            </a:r>
            <a:r>
              <a:rPr lang="pt-BR" altLang="pt-BR" sz="2000" dirty="0"/>
              <a:t>O aprendiz;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Action</a:t>
            </a:r>
            <a:r>
              <a:rPr lang="pt-BR" altLang="pt-BR" sz="2000" dirty="0">
                <a:solidFill>
                  <a:srgbClr val="FF0066"/>
                </a:solidFill>
              </a:rPr>
              <a:t>→ </a:t>
            </a:r>
            <a:r>
              <a:rPr lang="pt-BR" altLang="pt-BR" sz="2000" dirty="0"/>
              <a:t>O que o Agente faz;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Environment</a:t>
            </a:r>
            <a:r>
              <a:rPr lang="pt-BR" altLang="pt-BR" sz="2000" dirty="0">
                <a:solidFill>
                  <a:srgbClr val="FF0066"/>
                </a:solidFill>
              </a:rPr>
              <a:t>→</a:t>
            </a:r>
            <a:r>
              <a:rPr lang="pt-BR" altLang="pt-BR" sz="2000" dirty="0"/>
              <a:t> O mundo       (tudo fora do agente); 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State</a:t>
            </a:r>
            <a:r>
              <a:rPr lang="pt-BR" altLang="pt-BR" sz="2000" dirty="0">
                <a:solidFill>
                  <a:srgbClr val="FF0066"/>
                </a:solidFill>
              </a:rPr>
              <a:t>→ </a:t>
            </a:r>
            <a:r>
              <a:rPr lang="pt-BR" altLang="pt-BR" sz="2000" dirty="0"/>
              <a:t>O conjunto de todas as informações que descrevem precisa e suficientemente a situação no ambiente;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Reward</a:t>
            </a:r>
            <a:r>
              <a:rPr lang="pt-BR" altLang="pt-BR" sz="2000" dirty="0">
                <a:solidFill>
                  <a:srgbClr val="FF0066"/>
                </a:solidFill>
              </a:rPr>
              <a:t>→ </a:t>
            </a:r>
            <a:r>
              <a:rPr lang="pt-BR" altLang="pt-BR" sz="2000" dirty="0"/>
              <a:t>Toda vez que o agente realiza uma ação, ele recebe uma recompensa do ambiente.</a:t>
            </a:r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altLang="pt-BR" sz="1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EF8A80-BC9B-2B2D-273A-F0359F996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5151549" cy="26978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711228F-EE3B-14A2-598B-234F84D6C627}"/>
              </a:ext>
            </a:extLst>
          </p:cNvPr>
          <p:cNvSpPr txBox="1"/>
          <p:nvPr/>
        </p:nvSpPr>
        <p:spPr>
          <a:xfrm>
            <a:off x="-108520" y="4638328"/>
            <a:ext cx="51515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Prof. Dr. </a:t>
            </a:r>
            <a:r>
              <a:rPr lang="pt-BR" sz="900" dirty="0" err="1">
                <a:solidFill>
                  <a:schemeClr val="bg1"/>
                </a:solidFill>
              </a:rPr>
              <a:t>Ahirton</a:t>
            </a:r>
            <a:r>
              <a:rPr lang="pt-BR" sz="900" dirty="0">
                <a:solidFill>
                  <a:schemeClr val="bg1"/>
                </a:solidFill>
              </a:rPr>
              <a:t> Lopes</a:t>
            </a:r>
          </a:p>
        </p:txBody>
      </p:sp>
    </p:spTree>
    <p:extLst>
      <p:ext uri="{BB962C8B-B14F-4D97-AF65-F5344CB8AC3E}">
        <p14:creationId xmlns:p14="http://schemas.microsoft.com/office/powerpoint/2010/main" val="37958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CB59-EDB7-33D3-EF05-7AFE83CA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4C5E984-C218-4DBC-E953-15FF3E401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190444CA-CEDE-9554-E2BD-DCE188B9C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549" y="891358"/>
            <a:ext cx="3992451" cy="5256212"/>
          </a:xfrm>
        </p:spPr>
        <p:txBody>
          <a:bodyPr/>
          <a:lstStyle/>
          <a:p>
            <a:r>
              <a:rPr lang="pt-BR" altLang="pt-BR" sz="1800" dirty="0"/>
              <a:t>A cada passo t:</a:t>
            </a:r>
          </a:p>
          <a:p>
            <a:endParaRPr lang="pt-BR" altLang="pt-B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rgbClr val="FF0066"/>
                </a:solidFill>
              </a:rPr>
              <a:t>agente: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Executa ação 𝐴𝑡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Recebe estado 𝑆𝑡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Recebe recompensa escalar 𝑅𝑡</a:t>
            </a:r>
          </a:p>
          <a:p>
            <a:pPr marL="228600" indent="-228600">
              <a:buFont typeface="+mj-lt"/>
              <a:buAutoNum type="arabicPeriod"/>
            </a:pPr>
            <a:endParaRPr lang="pt-BR" altLang="pt-B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rgbClr val="FF0066"/>
                </a:solidFill>
              </a:rPr>
              <a:t>ambiente</a:t>
            </a:r>
            <a:r>
              <a:rPr lang="pt-BR" altLang="pt-BR" sz="1800" dirty="0"/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Recebe ação 𝐴𝑡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Emite estado 𝑆𝑡+1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Emite recompensa escalar 𝑅𝑡+1</a:t>
            </a:r>
          </a:p>
          <a:p>
            <a:pPr marL="228600" indent="-228600">
              <a:buFont typeface="+mj-lt"/>
              <a:buAutoNum type="arabicPeriod"/>
            </a:pPr>
            <a:endParaRPr lang="pt-BR" altLang="pt-B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rgbClr val="FF0066"/>
                </a:solidFill>
              </a:rPr>
              <a:t>t </a:t>
            </a:r>
            <a:r>
              <a:rPr lang="pt-BR" altLang="pt-BR" sz="1800" dirty="0"/>
              <a:t>incrementa a Etapa</a:t>
            </a:r>
          </a:p>
          <a:p>
            <a:pPr marL="228600" indent="-228600">
              <a:buFont typeface="+mj-lt"/>
              <a:buAutoNum type="arabicPeriod"/>
            </a:pPr>
            <a:endParaRPr lang="pt-BR" altLang="pt-BR" sz="1000" dirty="0"/>
          </a:p>
          <a:p>
            <a:pPr marL="228600" indent="-228600">
              <a:buFont typeface="+mj-lt"/>
              <a:buAutoNum type="arabicPeriod"/>
            </a:pPr>
            <a:endParaRPr lang="pt-BR" altLang="pt-BR" sz="1000" dirty="0"/>
          </a:p>
          <a:p>
            <a:pPr marL="228600" indent="-228600">
              <a:buFont typeface="+mj-lt"/>
              <a:buAutoNum type="arabicPeriod"/>
            </a:pPr>
            <a:endParaRPr lang="pt-BR" altLang="pt-BR" sz="1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F317B-72ED-24B0-A003-24F57DD04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5151549" cy="26978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BC04D01-65EA-0C9D-7751-21D250DEC454}"/>
              </a:ext>
            </a:extLst>
          </p:cNvPr>
          <p:cNvSpPr txBox="1"/>
          <p:nvPr/>
        </p:nvSpPr>
        <p:spPr>
          <a:xfrm>
            <a:off x="-108520" y="4638328"/>
            <a:ext cx="51515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Prof. Dr. </a:t>
            </a:r>
            <a:r>
              <a:rPr lang="pt-BR" sz="900" dirty="0" err="1">
                <a:solidFill>
                  <a:schemeClr val="bg1"/>
                </a:solidFill>
              </a:rPr>
              <a:t>Ahirton</a:t>
            </a:r>
            <a:r>
              <a:rPr lang="pt-BR" sz="900" dirty="0">
                <a:solidFill>
                  <a:schemeClr val="bg1"/>
                </a:solidFill>
              </a:rPr>
              <a:t> Lopes</a:t>
            </a:r>
          </a:p>
        </p:txBody>
      </p:sp>
    </p:spTree>
    <p:extLst>
      <p:ext uri="{BB962C8B-B14F-4D97-AF65-F5344CB8AC3E}">
        <p14:creationId xmlns:p14="http://schemas.microsoft.com/office/powerpoint/2010/main" val="21950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73FF9-448A-B762-D223-9D444133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9482B53F-5597-BCC1-68D8-32BD09509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 - Tomada de decisão </a:t>
            </a:r>
            <a:r>
              <a:rPr lang="pt-BR" altLang="pt-BR" dirty="0">
                <a:solidFill>
                  <a:srgbClr val="FF0066"/>
                </a:solidFill>
              </a:rPr>
              <a:t>sequencial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C1E73253-3E4D-EB2E-4BE2-C1A28FCFC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412776"/>
            <a:ext cx="9108504" cy="61653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O </a:t>
            </a:r>
            <a:r>
              <a:rPr lang="pt-BR" altLang="pt-BR" sz="1800" dirty="0">
                <a:solidFill>
                  <a:srgbClr val="FF0066"/>
                </a:solidFill>
              </a:rPr>
              <a:t>agente</a:t>
            </a:r>
            <a:r>
              <a:rPr lang="pt-BR" altLang="pt-BR" sz="1800" dirty="0"/>
              <a:t> deve decidir qual ação tomar em cada momento, com base em seu conhecimento </a:t>
            </a:r>
            <a:r>
              <a:rPr lang="pt-BR" altLang="pt-BR" sz="1800" dirty="0">
                <a:solidFill>
                  <a:srgbClr val="FF0066"/>
                </a:solidFill>
              </a:rPr>
              <a:t>atual</a:t>
            </a:r>
            <a:r>
              <a:rPr lang="pt-BR" altLang="pt-BR" sz="1800" dirty="0"/>
              <a:t> e nas possíveis consequências de suas ações no futuro.</a:t>
            </a:r>
          </a:p>
          <a:p>
            <a:endParaRPr lang="pt-BR" alt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Ou seja, em uma tarefa de tomada de decisão sequencial, o agente </a:t>
            </a:r>
            <a:r>
              <a:rPr lang="pt-BR" altLang="pt-BR" sz="1800" dirty="0">
                <a:solidFill>
                  <a:srgbClr val="FF0066"/>
                </a:solidFill>
              </a:rPr>
              <a:t>interage</a:t>
            </a:r>
            <a:r>
              <a:rPr lang="pt-BR" altLang="pt-BR" sz="1800" dirty="0"/>
              <a:t> com o </a:t>
            </a:r>
            <a:r>
              <a:rPr lang="pt-BR" altLang="pt-BR" sz="1800" dirty="0">
                <a:solidFill>
                  <a:srgbClr val="FF0066"/>
                </a:solidFill>
              </a:rPr>
              <a:t>ambiente</a:t>
            </a:r>
            <a:r>
              <a:rPr lang="pt-BR" altLang="pt-BR" sz="1800" dirty="0"/>
              <a:t> em etapas sucessivas, observando o </a:t>
            </a:r>
            <a:r>
              <a:rPr lang="pt-BR" altLang="pt-BR" sz="1800" dirty="0">
                <a:solidFill>
                  <a:srgbClr val="FF0066"/>
                </a:solidFill>
              </a:rPr>
              <a:t>estado</a:t>
            </a:r>
            <a:r>
              <a:rPr lang="pt-BR" altLang="pt-BR" sz="1800" dirty="0"/>
              <a:t> atual do ambiente, tomando uma ação e recebendo uma </a:t>
            </a:r>
            <a:r>
              <a:rPr lang="pt-BR" altLang="pt-BR" sz="1800" dirty="0">
                <a:solidFill>
                  <a:srgbClr val="FF0066"/>
                </a:solidFill>
              </a:rPr>
              <a:t>recompensa</a:t>
            </a:r>
            <a:r>
              <a:rPr lang="pt-BR" altLang="pt-BR" sz="1800" dirty="0"/>
              <a:t>.</a:t>
            </a:r>
          </a:p>
          <a:p>
            <a:endParaRPr lang="pt-BR" alt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Pode-se modelar a tomada de decisão sequencial por um Processo de Decisão de </a:t>
            </a:r>
            <a:r>
              <a:rPr lang="pt-BR" altLang="pt-BR" sz="1800" dirty="0">
                <a:solidFill>
                  <a:srgbClr val="FF0066"/>
                </a:solidFill>
              </a:rPr>
              <a:t>Markov</a:t>
            </a:r>
            <a:r>
              <a:rPr lang="pt-BR" altLang="pt-BR" sz="1800" dirty="0"/>
              <a:t> (MDP)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𝑃[𝑠𝑡+1|𝑠𝑡] = 𝑃[𝑠𝑡+1|𝑠1, … , 𝑠𝑡]</a:t>
            </a:r>
          </a:p>
          <a:p>
            <a:pPr lvl="1"/>
            <a:endParaRPr lang="pt-BR" alt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O estado atual do processo </a:t>
            </a:r>
            <a:r>
              <a:rPr lang="pt-BR" altLang="pt-BR" sz="1800" dirty="0">
                <a:solidFill>
                  <a:srgbClr val="FF0066"/>
                </a:solidFill>
              </a:rPr>
              <a:t>contém toda a informação </a:t>
            </a:r>
            <a:r>
              <a:rPr lang="pt-BR" altLang="pt-BR" sz="1800" dirty="0"/>
              <a:t>relevante sobre o passado, e não é necessário considerar a história completa do processo para fazer previsões precisas sobre o futuro - Propriedade de Markov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300" dirty="0"/>
          </a:p>
          <a:p>
            <a:pPr algn="ctr"/>
            <a:r>
              <a:rPr lang="pt-BR" altLang="pt-BR" sz="1300" dirty="0"/>
              <a:t>“Esta informação já está no preço” (Hipótese do Mercado Eficiente)</a:t>
            </a:r>
          </a:p>
        </p:txBody>
      </p:sp>
    </p:spTree>
    <p:extLst>
      <p:ext uri="{BB962C8B-B14F-4D97-AF65-F5344CB8AC3E}">
        <p14:creationId xmlns:p14="http://schemas.microsoft.com/office/powerpoint/2010/main" val="84029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4BD7-23F1-E1A5-41FD-0AB489D2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8E92949E-08F2-A815-21F2-061757B8A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 - Tomada de decisão </a:t>
            </a:r>
            <a:r>
              <a:rPr lang="pt-BR" altLang="pt-BR" dirty="0">
                <a:solidFill>
                  <a:srgbClr val="FF0066"/>
                </a:solidFill>
              </a:rPr>
              <a:t>sequencial</a:t>
            </a:r>
            <a:endParaRPr lang="pt-BR" alt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17BA8F-B2C6-B059-8CAE-FC8AEAA7353D}"/>
              </a:ext>
            </a:extLst>
          </p:cNvPr>
          <p:cNvSpPr txBox="1"/>
          <p:nvPr/>
        </p:nvSpPr>
        <p:spPr>
          <a:xfrm>
            <a:off x="3230451" y="5085184"/>
            <a:ext cx="515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O que vem </a:t>
            </a:r>
            <a:r>
              <a:rPr lang="pt-BR" sz="2000" dirty="0">
                <a:solidFill>
                  <a:srgbClr val="FF0066"/>
                </a:solidFill>
              </a:rPr>
              <a:t>depois</a:t>
            </a:r>
            <a:r>
              <a:rPr lang="pt-BR" sz="20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1053F831-7F0A-F745-7E53-698D07D86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6200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C938C0-B137-520F-2650-1A6A9C689FA1}"/>
              </a:ext>
            </a:extLst>
          </p:cNvPr>
          <p:cNvSpPr txBox="1"/>
          <p:nvPr/>
        </p:nvSpPr>
        <p:spPr>
          <a:xfrm>
            <a:off x="623865" y="4736258"/>
            <a:ext cx="5151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David Silver</a:t>
            </a:r>
            <a:endParaRPr lang="pt-BR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41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F38C-6D05-DC1E-254E-73EC9CD4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58B78258-B8A3-5D45-3747-C194EDD8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Agentes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871704-DC2A-0132-AFF1-936934F1E781}"/>
              </a:ext>
            </a:extLst>
          </p:cNvPr>
          <p:cNvSpPr txBox="1"/>
          <p:nvPr/>
        </p:nvSpPr>
        <p:spPr>
          <a:xfrm>
            <a:off x="495564" y="1052736"/>
            <a:ext cx="645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66"/>
                </a:solidFill>
              </a:rPr>
              <a:t>Principais componentes em um agente em RL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2AF64E-5398-0897-79C3-AA494D70BE15}"/>
              </a:ext>
            </a:extLst>
          </p:cNvPr>
          <p:cNvSpPr txBox="1"/>
          <p:nvPr/>
        </p:nvSpPr>
        <p:spPr>
          <a:xfrm>
            <a:off x="359842" y="2430759"/>
            <a:ext cx="759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Política</a:t>
            </a:r>
            <a:r>
              <a:rPr lang="pt-BR" sz="2000" dirty="0">
                <a:solidFill>
                  <a:schemeClr val="bg1"/>
                </a:solidFill>
              </a:rPr>
              <a:t>: Função de comportamento do agente;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Função de Valor</a:t>
            </a:r>
            <a:r>
              <a:rPr lang="pt-BR" sz="2000" dirty="0">
                <a:solidFill>
                  <a:schemeClr val="bg1"/>
                </a:solidFill>
              </a:rPr>
              <a:t>: Quão bom é cada estado e/ou 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Modelo: </a:t>
            </a:r>
            <a:r>
              <a:rPr lang="pt-BR" sz="2000" dirty="0">
                <a:solidFill>
                  <a:schemeClr val="bg1"/>
                </a:solidFill>
              </a:rPr>
              <a:t>representação do agente do ambiente.</a:t>
            </a:r>
          </a:p>
        </p:txBody>
      </p:sp>
    </p:spTree>
    <p:extLst>
      <p:ext uri="{BB962C8B-B14F-4D97-AF65-F5344CB8AC3E}">
        <p14:creationId xmlns:p14="http://schemas.microsoft.com/office/powerpoint/2010/main" val="15018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0292-5921-6933-B8C6-4C54EE3F4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39C53466-5855-ED4A-64E7-2920D3F04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Componentes de Agentes: </a:t>
            </a:r>
            <a:r>
              <a:rPr lang="pt-BR" altLang="pt-BR" dirty="0">
                <a:solidFill>
                  <a:srgbClr val="FF0066"/>
                </a:solidFill>
              </a:rPr>
              <a:t>Política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7B04BF7-430C-10FC-2E99-92DE0C225537}"/>
              </a:ext>
            </a:extLst>
          </p:cNvPr>
          <p:cNvSpPr txBox="1"/>
          <p:nvPr/>
        </p:nvSpPr>
        <p:spPr>
          <a:xfrm>
            <a:off x="233982" y="908050"/>
            <a:ext cx="858648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É a </a:t>
            </a:r>
            <a:r>
              <a:rPr lang="pt-BR" sz="2000" dirty="0">
                <a:solidFill>
                  <a:srgbClr val="FF0066"/>
                </a:solidFill>
              </a:rPr>
              <a:t>estratégia</a:t>
            </a:r>
            <a:r>
              <a:rPr lang="pt-BR" sz="2000" dirty="0">
                <a:solidFill>
                  <a:schemeClr val="bg1"/>
                </a:solidFill>
              </a:rPr>
              <a:t> ou comportamento que o agente adota para tomar </a:t>
            </a:r>
            <a:r>
              <a:rPr lang="pt-BR" sz="2000" dirty="0">
                <a:solidFill>
                  <a:srgbClr val="FF0066"/>
                </a:solidFill>
              </a:rPr>
              <a:t>decisões</a:t>
            </a:r>
            <a:r>
              <a:rPr lang="pt-BR" sz="2000" dirty="0">
                <a:solidFill>
                  <a:schemeClr val="bg1"/>
                </a:solidFill>
              </a:rPr>
              <a:t> em um ambiente;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política determina qual ação o agente escolhe em resposta a um estado específico do ambiente, e pode ser representada por uma função que mapeia cada estado do ambiente para uma distribuição de probabilidade sobre as possíveis ações que o agente pode executar;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Determinística</a:t>
            </a:r>
            <a:r>
              <a:rPr lang="pt-BR" sz="2000" dirty="0">
                <a:solidFill>
                  <a:schemeClr val="bg1"/>
                </a:solidFill>
              </a:rPr>
              <a:t>: sempre escolhe a mesma ação para um determinado estado;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Estocástica</a:t>
            </a:r>
            <a:r>
              <a:rPr lang="pt-BR" sz="2000" dirty="0">
                <a:solidFill>
                  <a:schemeClr val="bg1"/>
                </a:solidFill>
              </a:rPr>
              <a:t>: escolhe uma ação com base em uma distribuição de probabilidade;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escolha de uma boa política é um dos </a:t>
            </a:r>
            <a:r>
              <a:rPr lang="pt-BR" sz="2000" dirty="0">
                <a:solidFill>
                  <a:srgbClr val="FF0066"/>
                </a:solidFill>
              </a:rPr>
              <a:t>objetivos principais </a:t>
            </a:r>
            <a:r>
              <a:rPr lang="pt-BR" sz="2000" dirty="0">
                <a:solidFill>
                  <a:schemeClr val="bg1"/>
                </a:solidFill>
              </a:rPr>
              <a:t>do aprendizado por reforço.</a:t>
            </a:r>
          </a:p>
        </p:txBody>
      </p:sp>
    </p:spTree>
    <p:extLst>
      <p:ext uri="{BB962C8B-B14F-4D97-AF65-F5344CB8AC3E}">
        <p14:creationId xmlns:p14="http://schemas.microsoft.com/office/powerpoint/2010/main" val="1248305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7627-19B6-DAB5-6581-D0733BAF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45D8F838-FA0C-94A5-5C3C-1BB64B4F4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Componentes de Agentes: </a:t>
            </a:r>
            <a:r>
              <a:rPr lang="pt-BR" altLang="pt-BR" dirty="0">
                <a:solidFill>
                  <a:srgbClr val="FF0066"/>
                </a:solidFill>
              </a:rPr>
              <a:t>Função de Valor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A24683-2BCF-4865-B081-8A7134359A56}"/>
              </a:ext>
            </a:extLst>
          </p:cNvPr>
          <p:cNvSpPr txBox="1"/>
          <p:nvPr/>
        </p:nvSpPr>
        <p:spPr>
          <a:xfrm>
            <a:off x="278755" y="1268760"/>
            <a:ext cx="85864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função de valor é usada de modo a </a:t>
            </a:r>
            <a:r>
              <a:rPr lang="pt-BR" sz="2000" dirty="0">
                <a:solidFill>
                  <a:srgbClr val="FF0066"/>
                </a:solidFill>
              </a:rPr>
              <a:t>medir</a:t>
            </a:r>
            <a:r>
              <a:rPr lang="pt-BR" sz="2000" dirty="0">
                <a:solidFill>
                  <a:schemeClr val="bg1"/>
                </a:solidFill>
              </a:rPr>
              <a:t> a qualidade de uma determinada </a:t>
            </a:r>
            <a:r>
              <a:rPr lang="pt-BR" sz="2000" dirty="0">
                <a:solidFill>
                  <a:srgbClr val="FF0066"/>
                </a:solidFill>
              </a:rPr>
              <a:t>ação ou política </a:t>
            </a:r>
            <a:r>
              <a:rPr lang="pt-BR" sz="2000" dirty="0">
                <a:solidFill>
                  <a:schemeClr val="bg1"/>
                </a:solidFill>
              </a:rPr>
              <a:t>em um ambiente, fornecendo uma estimativa de quão bom é estar em um determinado estado ou tomar uma determinada 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Função de valor de estado </a:t>
            </a:r>
            <a:r>
              <a:rPr lang="pt-BR" sz="2000" dirty="0">
                <a:solidFill>
                  <a:srgbClr val="FF0066"/>
                </a:solidFill>
              </a:rPr>
              <a:t>(V(s)):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Estima o valor de um estado específico, considerando a recompensa futura que se pode esperar a partir desse estado e seguindo uma determinada política.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Função de valor de ação </a:t>
            </a:r>
            <a:r>
              <a:rPr lang="pt-BR" sz="2000" dirty="0">
                <a:solidFill>
                  <a:srgbClr val="FF0066"/>
                </a:solidFill>
              </a:rPr>
              <a:t>(Q(</a:t>
            </a:r>
            <a:r>
              <a:rPr lang="pt-BR" sz="2000" dirty="0" err="1">
                <a:solidFill>
                  <a:srgbClr val="FF0066"/>
                </a:solidFill>
              </a:rPr>
              <a:t>s,a</a:t>
            </a:r>
            <a:r>
              <a:rPr lang="pt-BR" sz="2000" dirty="0">
                <a:solidFill>
                  <a:srgbClr val="FF0066"/>
                </a:solidFill>
              </a:rPr>
              <a:t>)):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Estima o valor de tomar uma determinada ação em um estado específico, considerando a recompensa futura que se pode esperar a partir desse estado e seguindo uma determinada política.</a:t>
            </a:r>
          </a:p>
        </p:txBody>
      </p:sp>
    </p:spTree>
    <p:extLst>
      <p:ext uri="{BB962C8B-B14F-4D97-AF65-F5344CB8AC3E}">
        <p14:creationId xmlns:p14="http://schemas.microsoft.com/office/powerpoint/2010/main" val="89845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93699-94EA-4542-67CF-D7F350C3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5DFE937-FE2E-CF3E-8CDC-D920EBC6C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Componentes de Agentes: </a:t>
            </a:r>
            <a:r>
              <a:rPr lang="pt-BR" altLang="pt-BR" dirty="0">
                <a:solidFill>
                  <a:srgbClr val="FF0066"/>
                </a:solidFill>
              </a:rPr>
              <a:t>Modelo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36C48A-0E6D-9788-203C-D4BA3825AB94}"/>
              </a:ext>
            </a:extLst>
          </p:cNvPr>
          <p:cNvSpPr txBox="1"/>
          <p:nvPr/>
        </p:nvSpPr>
        <p:spPr>
          <a:xfrm>
            <a:off x="278755" y="1268760"/>
            <a:ext cx="85864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Um </a:t>
            </a:r>
            <a:r>
              <a:rPr lang="pt-BR" sz="2000" dirty="0">
                <a:solidFill>
                  <a:srgbClr val="FF0066"/>
                </a:solidFill>
              </a:rPr>
              <a:t>modelo</a:t>
            </a:r>
            <a:r>
              <a:rPr lang="pt-BR" sz="2000" dirty="0">
                <a:solidFill>
                  <a:schemeClr val="bg1"/>
                </a:solidFill>
              </a:rPr>
              <a:t> é uma representação do ambiente do agente, que permite </a:t>
            </a:r>
            <a:r>
              <a:rPr lang="pt-BR" sz="2000" dirty="0">
                <a:solidFill>
                  <a:srgbClr val="FF0066"/>
                </a:solidFill>
              </a:rPr>
              <a:t>prever</a:t>
            </a:r>
            <a:r>
              <a:rPr lang="pt-BR" sz="2000" dirty="0">
                <a:solidFill>
                  <a:schemeClr val="bg1"/>
                </a:solidFill>
              </a:rPr>
              <a:t> como o ambiente vai se comportar em resposta às ações do agente;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Um modelo pode ser usado para prever as </a:t>
            </a:r>
            <a:r>
              <a:rPr lang="pt-BR" sz="2000" dirty="0">
                <a:solidFill>
                  <a:srgbClr val="FF0066"/>
                </a:solidFill>
              </a:rPr>
              <a:t>recompensas</a:t>
            </a:r>
            <a:r>
              <a:rPr lang="pt-BR" sz="2000" dirty="0">
                <a:solidFill>
                  <a:schemeClr val="bg1"/>
                </a:solidFill>
              </a:rPr>
              <a:t> que serão recebidas pelo agente em resposta a uma ação específica, ou para prever o próximo estado do ambiente em resposta a uma ação específica.</a:t>
            </a:r>
          </a:p>
        </p:txBody>
      </p:sp>
    </p:spTree>
    <p:extLst>
      <p:ext uri="{BB962C8B-B14F-4D97-AF65-F5344CB8AC3E}">
        <p14:creationId xmlns:p14="http://schemas.microsoft.com/office/powerpoint/2010/main" val="411654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075B-CCD7-8C02-9954-52F11872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E6D26CE2-FC69-7287-172A-538F86684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578050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8EB0-20D6-6060-2671-6525EC1B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BDC61104-6D65-C44C-5625-FD58CC7F2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F20717-8B66-8AC7-D1A4-0E693B106CE0}"/>
              </a:ext>
            </a:extLst>
          </p:cNvPr>
          <p:cNvSpPr txBox="1"/>
          <p:nvPr/>
        </p:nvSpPr>
        <p:spPr>
          <a:xfrm>
            <a:off x="278755" y="908050"/>
            <a:ext cx="85864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grande maioria, dos algoritmos RL modernos são baseados nos princípios do </a:t>
            </a:r>
            <a:r>
              <a:rPr lang="pt-BR" dirty="0" err="1">
                <a:solidFill>
                  <a:schemeClr val="bg1"/>
                </a:solidFill>
              </a:rPr>
              <a:t>Q-learning</a:t>
            </a:r>
            <a:r>
              <a:rPr lang="pt-BR" dirty="0">
                <a:solidFill>
                  <a:schemeClr val="bg1"/>
                </a:solidFill>
              </a:rPr>
              <a:t>: a ideia é avaliar uma "expectativa de recompensa" para cada </a:t>
            </a:r>
            <a:r>
              <a:rPr lang="pt-BR" dirty="0">
                <a:solidFill>
                  <a:srgbClr val="FF0066"/>
                </a:solidFill>
              </a:rPr>
              <a:t>ação</a:t>
            </a:r>
            <a:r>
              <a:rPr lang="pt-BR" dirty="0">
                <a:solidFill>
                  <a:schemeClr val="bg1"/>
                </a:solidFill>
              </a:rPr>
              <a:t> possível.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Se pudermos ter uma boa </a:t>
            </a:r>
            <a:r>
              <a:rPr lang="pt-BR" dirty="0">
                <a:solidFill>
                  <a:srgbClr val="FF0066"/>
                </a:solidFill>
              </a:rPr>
              <a:t>avaliação</a:t>
            </a:r>
            <a:r>
              <a:rPr lang="pt-BR" dirty="0">
                <a:solidFill>
                  <a:schemeClr val="bg1"/>
                </a:solidFill>
              </a:rPr>
              <a:t>, poderemos </a:t>
            </a:r>
            <a:r>
              <a:rPr lang="pt-BR" dirty="0">
                <a:solidFill>
                  <a:srgbClr val="FF0066"/>
                </a:solidFill>
              </a:rPr>
              <a:t>maximizar</a:t>
            </a:r>
            <a:r>
              <a:rPr lang="pt-BR" dirty="0">
                <a:solidFill>
                  <a:schemeClr val="bg1"/>
                </a:solidFill>
              </a:rPr>
              <a:t> a recompensa escolhendo ações com as recompensas máximas avaliadas. A função que fornece essa recompensa esperada é chamada </a:t>
            </a:r>
            <a:r>
              <a:rPr lang="pt-BR" dirty="0">
                <a:solidFill>
                  <a:srgbClr val="FF0066"/>
                </a:solidFill>
              </a:rPr>
              <a:t>Q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enquanto, assumiremos que podemos ter uma recompensa para qualquer 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Os índices t mostram que o estado e a ação não são constantes e </a:t>
            </a:r>
            <a:r>
              <a:rPr lang="pt-BR" dirty="0">
                <a:solidFill>
                  <a:srgbClr val="FF0066"/>
                </a:solidFill>
              </a:rPr>
              <a:t>variam</a:t>
            </a:r>
            <a:r>
              <a:rPr lang="pt-BR" dirty="0">
                <a:solidFill>
                  <a:schemeClr val="bg1"/>
                </a:solidFill>
              </a:rPr>
              <a:t>, geralmente com o tempo/ação tomada.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outro lado, a função Q e a função de recompensa r são funções únicas que idealmente retornam a 'r recompensa esperada' para </a:t>
            </a:r>
            <a:r>
              <a:rPr lang="pt-BR" dirty="0">
                <a:solidFill>
                  <a:srgbClr val="FF0066"/>
                </a:solidFill>
              </a:rPr>
              <a:t>quaisquer</a:t>
            </a:r>
            <a:r>
              <a:rPr lang="pt-BR" dirty="0">
                <a:solidFill>
                  <a:schemeClr val="bg1"/>
                </a:solidFill>
              </a:rPr>
              <a:t> pares (estado, ação).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B2EB8F-1210-2292-9430-193620B1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80" y="3789040"/>
            <a:ext cx="5512238" cy="10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2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6227-44D9-8A02-6D79-A690C7F6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1B1BAE8-F3AC-9D0F-B3BD-3978042C0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700FF6-44D9-F404-58A5-401823F15B0A}"/>
              </a:ext>
            </a:extLst>
          </p:cNvPr>
          <p:cNvSpPr txBox="1"/>
          <p:nvPr/>
        </p:nvSpPr>
        <p:spPr>
          <a:xfrm>
            <a:off x="278755" y="908050"/>
            <a:ext cx="858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enquanto, vamos supor que podemos ter uma recompensa que dê uma avaliação objetiva e perfeita de cada estado/ação.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2AD089-4EA4-5761-1593-0D915F5C1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554381"/>
            <a:ext cx="4906371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27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0BCC-EDE9-DBE2-A4F4-7F0B6D0E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F6663780-4E56-42EE-0D03-C66286D86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0FDA7B5-52B8-B11F-A1FA-FEDA67C7758E}"/>
              </a:ext>
            </a:extLst>
          </p:cNvPr>
          <p:cNvSpPr txBox="1"/>
          <p:nvPr/>
        </p:nvSpPr>
        <p:spPr>
          <a:xfrm>
            <a:off x="278755" y="908050"/>
            <a:ext cx="85864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Sabemos que os resultados das ações (recompensas) </a:t>
            </a:r>
            <a:r>
              <a:rPr lang="pt-BR" dirty="0">
                <a:solidFill>
                  <a:srgbClr val="FF0066"/>
                </a:solidFill>
              </a:rPr>
              <a:t>variam</a:t>
            </a:r>
            <a:r>
              <a:rPr lang="pt-BR" dirty="0">
                <a:solidFill>
                  <a:schemeClr val="bg1"/>
                </a:solidFill>
              </a:rPr>
              <a:t> dependendo do estado atual em que estamos, caso contrário, o problema seria trivial de resolver.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Se os estados que são relevantes para nossas ações podem ser numerados, uma maneira simples seria construir uma tabela com todos os pares possíveis de estados/ações.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Existem diferentes maneiras de construir tal tabela, dependendo de como podemos interagir com nosso ambiente.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Eventualmente, teríamos um bom "mapa" para nos</a:t>
            </a:r>
            <a:r>
              <a:rPr lang="pt-BR" dirty="0">
                <a:solidFill>
                  <a:srgbClr val="FF0066"/>
                </a:solidFill>
              </a:rPr>
              <a:t> guiar para fazer as melhores ações.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FF006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Este mapa é chamado de </a:t>
            </a:r>
            <a:r>
              <a:rPr lang="pt-BR" dirty="0">
                <a:solidFill>
                  <a:srgbClr val="FF0066"/>
                </a:solidFill>
              </a:rPr>
              <a:t>Tabela-Q</a:t>
            </a:r>
          </a:p>
        </p:txBody>
      </p:sp>
    </p:spTree>
    <p:extLst>
      <p:ext uri="{BB962C8B-B14F-4D97-AF65-F5344CB8AC3E}">
        <p14:creationId xmlns:p14="http://schemas.microsoft.com/office/powerpoint/2010/main" val="23171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E661-960B-DB27-2DC7-3C4D684F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22A4312D-138F-94C0-8563-107DBE171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4EB238-FE92-E3F9-3332-7C86165B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50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51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F960-0052-D12D-1741-DDFFCF59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5A6725DC-BE30-0FFF-2453-FF2F1F9E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27C3B5-3159-6861-4EE3-8C3B66E6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979" y="736496"/>
            <a:ext cx="5322041" cy="608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23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275E-04A7-0C95-B3D0-E0CD52C7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06EF5F5E-B60B-D081-1E45-BEFA75EC5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7A0E2B-8B15-B86D-BB17-04A9F9D4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87" y="1896879"/>
            <a:ext cx="7156826" cy="30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1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693C-4AA4-E4AA-D348-235ACABE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26898FB-8802-3288-2566-B3FD83298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9B9E60-F9AC-E7AA-E8E4-1AA58488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5" y="1052736"/>
            <a:ext cx="8411389" cy="554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12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2A5A-EF28-378A-133A-216A4E43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09B538F6-D3D4-6EF0-0F4F-F1EA20FC93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Deep </a:t>
            </a:r>
            <a:r>
              <a:rPr lang="pt-BR" altLang="pt-BR" dirty="0">
                <a:solidFill>
                  <a:srgbClr val="FF0000"/>
                </a:solidFill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1282403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F1F2-19EE-0EB6-4DF6-B7D2CB93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4F8F1B35-5629-9F88-8F2B-26ED9AC95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Deep-Learning </a:t>
            </a:r>
            <a:r>
              <a:rPr lang="pt-BR" altLang="pt-BR" dirty="0"/>
              <a:t>&amp;</a:t>
            </a:r>
            <a:r>
              <a:rPr lang="pt-BR" altLang="pt-BR" dirty="0">
                <a:solidFill>
                  <a:srgbClr val="FF0066"/>
                </a:solidFill>
              </a:rPr>
              <a:t> Redes Neurais Artificiais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06AFFFB-C710-5B1D-8589-61E4B27D1F1B}"/>
              </a:ext>
            </a:extLst>
          </p:cNvPr>
          <p:cNvSpPr txBox="1"/>
          <p:nvPr/>
        </p:nvSpPr>
        <p:spPr>
          <a:xfrm>
            <a:off x="278755" y="908050"/>
            <a:ext cx="8586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Deep Learning e redes neurais convergem para a mesma ideia: utilizar a modelagem aproximada do neurônio humano para classificação de classes. 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Deep Learning enfatiza as diversas camadas que um modelo possui, especialmente as especializadas em identificação de imagens.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599E46-2F04-03ED-352C-3BF46D5A1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56" y="2509931"/>
            <a:ext cx="7263685" cy="43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00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52BB-F115-1C3E-BD44-2DA3B562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536BF96A-B9EB-C886-A4D6-D2BF228D6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Deep-Learning </a:t>
            </a:r>
            <a:r>
              <a:rPr lang="pt-BR" altLang="pt-BR" dirty="0"/>
              <a:t>&amp;</a:t>
            </a:r>
            <a:r>
              <a:rPr lang="pt-BR" altLang="pt-BR" dirty="0">
                <a:solidFill>
                  <a:srgbClr val="FF0066"/>
                </a:solidFill>
              </a:rPr>
              <a:t> Redes Neurais Artificiais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68D637-2680-64C5-32A8-3C7A1B5DAEC8}"/>
              </a:ext>
            </a:extLst>
          </p:cNvPr>
          <p:cNvSpPr txBox="1"/>
          <p:nvPr/>
        </p:nvSpPr>
        <p:spPr>
          <a:xfrm>
            <a:off x="278755" y="908050"/>
            <a:ext cx="8586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As redes mais simples, como as </a:t>
            </a:r>
            <a:r>
              <a:rPr lang="pt-BR" dirty="0" err="1">
                <a:solidFill>
                  <a:schemeClr val="bg1"/>
                </a:solidFill>
              </a:rPr>
              <a:t>Perceptrons</a:t>
            </a:r>
            <a:r>
              <a:rPr lang="pt-BR" dirty="0">
                <a:solidFill>
                  <a:schemeClr val="bg1"/>
                </a:solidFill>
              </a:rPr>
              <a:t> (MLP) até as mais avançadas, como as redes neurais </a:t>
            </a:r>
            <a:r>
              <a:rPr lang="pt-BR" dirty="0" err="1">
                <a:solidFill>
                  <a:schemeClr val="bg1"/>
                </a:solidFill>
              </a:rPr>
              <a:t>convulacionais</a:t>
            </a:r>
            <a:r>
              <a:rPr lang="pt-BR" dirty="0">
                <a:solidFill>
                  <a:schemeClr val="bg1"/>
                </a:solidFill>
              </a:rPr>
              <a:t>(CNN), utilizam o conceito de </a:t>
            </a:r>
            <a:r>
              <a:rPr lang="pt-BR" dirty="0" err="1">
                <a:solidFill>
                  <a:srgbClr val="FF0066"/>
                </a:solidFill>
              </a:rPr>
              <a:t>backpropagation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325A6C-563B-F12D-6173-2004EC1AC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6872"/>
            <a:ext cx="9144000" cy="313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32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4DB9-2E6E-9685-1100-64299828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A460BF2D-CBA2-15DC-CA55-25E747F89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CNN </a:t>
            </a:r>
            <a:r>
              <a:rPr lang="pt-BR" altLang="pt-BR" dirty="0">
                <a:solidFill>
                  <a:schemeClr val="bg1">
                    <a:lumMod val="95000"/>
                  </a:schemeClr>
                </a:solidFill>
              </a:rPr>
              <a:t>- O melhor dos </a:t>
            </a:r>
            <a:r>
              <a:rPr lang="pt-BR" altLang="pt-BR" dirty="0" err="1">
                <a:solidFill>
                  <a:schemeClr val="bg1">
                    <a:lumMod val="95000"/>
                  </a:schemeClr>
                </a:solidFill>
              </a:rPr>
              <a:t>dos</a:t>
            </a:r>
            <a:r>
              <a:rPr lang="pt-BR" altLang="pt-BR" dirty="0">
                <a:solidFill>
                  <a:schemeClr val="bg1">
                    <a:lumMod val="95000"/>
                  </a:schemeClr>
                </a:solidFill>
              </a:rPr>
              <a:t> dois mundos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933BE47-1C8B-3535-0C9F-59CCF91FA5A3}"/>
              </a:ext>
            </a:extLst>
          </p:cNvPr>
          <p:cNvSpPr txBox="1"/>
          <p:nvPr/>
        </p:nvSpPr>
        <p:spPr>
          <a:xfrm>
            <a:off x="278755" y="908050"/>
            <a:ext cx="8586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Combinado as </a:t>
            </a:r>
            <a:r>
              <a:rPr lang="pt-BR" dirty="0">
                <a:solidFill>
                  <a:srgbClr val="FF0066"/>
                </a:solidFill>
              </a:rPr>
              <a:t>convoluções</a:t>
            </a:r>
            <a:r>
              <a:rPr lang="pt-BR" dirty="0">
                <a:solidFill>
                  <a:schemeClr val="bg1"/>
                </a:solidFill>
              </a:rPr>
              <a:t> para extrair as features e as </a:t>
            </a:r>
            <a:r>
              <a:rPr lang="pt-BR" dirty="0">
                <a:solidFill>
                  <a:srgbClr val="FF0066"/>
                </a:solidFill>
              </a:rPr>
              <a:t>camadas escondidas </a:t>
            </a:r>
            <a:r>
              <a:rPr lang="pt-BR" dirty="0">
                <a:solidFill>
                  <a:schemeClr val="bg1"/>
                </a:solidFill>
              </a:rPr>
              <a:t>para a classificação, foi possível manter nas imagens a informação da características encontrada, o que não era possível utilizando somente a arquitetura </a:t>
            </a:r>
            <a:r>
              <a:rPr lang="pt-BR" dirty="0" err="1">
                <a:solidFill>
                  <a:schemeClr val="bg1"/>
                </a:solidFill>
              </a:rPr>
              <a:t>Perceptron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0A95CD-E46B-98E8-1492-255B263A5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20888"/>
            <a:ext cx="9144000" cy="359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26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15E3-B16B-45A6-EAC3-54D91BCA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95703B7B-AC15-2346-C103-164DF2387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CNN </a:t>
            </a:r>
            <a:r>
              <a:rPr lang="pt-BR" altLang="pt-BR" dirty="0">
                <a:solidFill>
                  <a:schemeClr val="bg1">
                    <a:lumMod val="95000"/>
                  </a:schemeClr>
                </a:solidFill>
              </a:rPr>
              <a:t>- O melhor dos </a:t>
            </a:r>
            <a:r>
              <a:rPr lang="pt-BR" altLang="pt-BR" dirty="0" err="1">
                <a:solidFill>
                  <a:schemeClr val="bg1">
                    <a:lumMod val="95000"/>
                  </a:schemeClr>
                </a:solidFill>
              </a:rPr>
              <a:t>dos</a:t>
            </a:r>
            <a:r>
              <a:rPr lang="pt-BR" altLang="pt-BR" dirty="0">
                <a:solidFill>
                  <a:schemeClr val="bg1">
                    <a:lumMod val="95000"/>
                  </a:schemeClr>
                </a:solidFill>
              </a:rPr>
              <a:t> dois mundos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679B242-5DC2-3074-4267-FCC5D72F7F30}"/>
              </a:ext>
            </a:extLst>
          </p:cNvPr>
          <p:cNvSpPr txBox="1"/>
          <p:nvPr/>
        </p:nvSpPr>
        <p:spPr>
          <a:xfrm>
            <a:off x="278755" y="908050"/>
            <a:ext cx="8586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Nosso exemplo prático empregará o reconhecimento de objetos do cotidiano. 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As imagens de treinamento possuem fundo preto, o que ajuda a não perpetuar ruídos de fundo e o modelo tende a convergir mais rápido.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62637C-C79B-35F8-6FA1-905B323EF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6912"/>
            <a:ext cx="9144000" cy="354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85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AAC1-8CD4-7237-FAC2-A18E83DBD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7B717980-919C-BAE5-1392-E6A310D83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Camada </a:t>
            </a:r>
            <a:r>
              <a:rPr lang="pt-BR" altLang="pt-BR" dirty="0"/>
              <a:t>Convolucional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1664C18-B660-F91E-C82C-1CC6EF443015}"/>
              </a:ext>
            </a:extLst>
          </p:cNvPr>
          <p:cNvSpPr txBox="1"/>
          <p:nvPr/>
        </p:nvSpPr>
        <p:spPr>
          <a:xfrm>
            <a:off x="278755" y="908050"/>
            <a:ext cx="858648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Esta camada tem como objetivo </a:t>
            </a:r>
            <a:r>
              <a:rPr lang="pt-BR" dirty="0">
                <a:solidFill>
                  <a:srgbClr val="FF0066"/>
                </a:solidFill>
              </a:rPr>
              <a:t>reduzir a complexidade </a:t>
            </a:r>
            <a:r>
              <a:rPr lang="pt-BR" dirty="0">
                <a:solidFill>
                  <a:schemeClr val="bg1"/>
                </a:solidFill>
              </a:rPr>
              <a:t>da entrada, por meio de filtros (ou janelas) que passam em toda a matriz (ou imagem). Além da redução de complexidade, estes filtros podem capturar </a:t>
            </a:r>
            <a:r>
              <a:rPr lang="pt-BR" dirty="0">
                <a:solidFill>
                  <a:srgbClr val="FF0066"/>
                </a:solidFill>
              </a:rPr>
              <a:t>bordas, texturas e demais componentes</a:t>
            </a:r>
            <a:r>
              <a:rPr lang="pt-BR" dirty="0">
                <a:solidFill>
                  <a:schemeClr val="bg1"/>
                </a:solidFill>
              </a:rPr>
              <a:t> da imagem.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hlinkClick r:id="rId2"/>
              </a:rPr>
              <a:t>https://poloclub.github.io/cnn-explainer/</a:t>
            </a: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chemeClr val="bg1"/>
                </a:solidFill>
                <a:hlinkClick r:id="rId3"/>
              </a:rPr>
              <a:t>https://www.linkedin.com/posts/alex-frederico-mathias-felix-de-melo-6682b5107_deeplearning-machinelearning-computervision-activity-7373678878483120129-OBeD</a:t>
            </a:r>
            <a:endParaRPr lang="pt-BR" sz="900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0F61E3-6195-A46A-FA7A-45A99C42F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342521"/>
            <a:ext cx="9144000" cy="35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5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A79D-D79D-7F39-0346-05260F95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44EC8887-561D-824C-CDF9-1136DF206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Filtros </a:t>
            </a:r>
            <a:r>
              <a:rPr lang="pt-BR" altLang="pt-BR" dirty="0"/>
              <a:t>Convolucionais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D24B8B-2BD0-B4C2-8558-629C13558C42}"/>
              </a:ext>
            </a:extLst>
          </p:cNvPr>
          <p:cNvSpPr txBox="1"/>
          <p:nvPr/>
        </p:nvSpPr>
        <p:spPr>
          <a:xfrm>
            <a:off x="278755" y="908050"/>
            <a:ext cx="8586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Os </a:t>
            </a:r>
            <a:r>
              <a:rPr lang="pt-BR" dirty="0">
                <a:solidFill>
                  <a:srgbClr val="FF0066"/>
                </a:solidFill>
              </a:rPr>
              <a:t>filtros</a:t>
            </a:r>
            <a:r>
              <a:rPr lang="pt-BR" dirty="0">
                <a:solidFill>
                  <a:schemeClr val="bg1"/>
                </a:solidFill>
              </a:rPr>
              <a:t> convolucionais são os mesmo utilizados em Visão Computacional e ajudam a extrair as características de acordo com o interesse da imagem, como bordas, texturas e suavizações.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8E8E71-1E0B-ACA1-4671-053CB5FA1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48880"/>
            <a:ext cx="9144000" cy="38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49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4154-BA02-3060-E01E-08310268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B3C3E805-043F-D4F9-D80D-2CFBBAF26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/>
              <a:t>Camada de </a:t>
            </a:r>
            <a:r>
              <a:rPr lang="pt-BR" altLang="pt-BR" dirty="0" err="1">
                <a:solidFill>
                  <a:srgbClr val="FF0066"/>
                </a:solidFill>
              </a:rPr>
              <a:t>Pooling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425437A-C35B-83FE-6668-4D6EBA00D8F0}"/>
              </a:ext>
            </a:extLst>
          </p:cNvPr>
          <p:cNvSpPr txBox="1"/>
          <p:nvPr/>
        </p:nvSpPr>
        <p:spPr>
          <a:xfrm>
            <a:off x="278755" y="908050"/>
            <a:ext cx="85864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camada de </a:t>
            </a:r>
            <a:r>
              <a:rPr lang="pt-BR" dirty="0" err="1">
                <a:solidFill>
                  <a:srgbClr val="FF0066"/>
                </a:solidFill>
              </a:rPr>
              <a:t>pooling</a:t>
            </a:r>
            <a:r>
              <a:rPr lang="pt-BR" dirty="0">
                <a:solidFill>
                  <a:schemeClr val="bg1"/>
                </a:solidFill>
              </a:rPr>
              <a:t> reduz a complexidade computacional ao descrever a camada convolucional com </a:t>
            </a:r>
            <a:r>
              <a:rPr lang="pt-BR" dirty="0">
                <a:solidFill>
                  <a:srgbClr val="FF0066"/>
                </a:solidFill>
              </a:rPr>
              <a:t>menor tamanho </a:t>
            </a:r>
            <a:r>
              <a:rPr lang="pt-BR" dirty="0">
                <a:solidFill>
                  <a:schemeClr val="bg1"/>
                </a:solidFill>
              </a:rPr>
              <a:t>espacial. Também ajudam a diminuir o efeito do </a:t>
            </a:r>
            <a:r>
              <a:rPr lang="pt-BR" dirty="0" err="1">
                <a:solidFill>
                  <a:srgbClr val="FF0066"/>
                </a:solidFill>
              </a:rPr>
              <a:t>overfitting</a:t>
            </a:r>
            <a:r>
              <a:rPr lang="pt-BR" dirty="0">
                <a:solidFill>
                  <a:schemeClr val="bg1"/>
                </a:solidFill>
              </a:rPr>
              <a:t> nos modelos. 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Essas camadas geralmente são incluídas após as camadas convolucionais. Podem extrair o valor máximo (</a:t>
            </a:r>
            <a:r>
              <a:rPr lang="pt-BR" i="1" dirty="0" err="1">
                <a:solidFill>
                  <a:srgbClr val="FF0066"/>
                </a:solidFill>
              </a:rPr>
              <a:t>max</a:t>
            </a:r>
            <a:r>
              <a:rPr lang="pt-BR" i="1" dirty="0">
                <a:solidFill>
                  <a:srgbClr val="FF0066"/>
                </a:solidFill>
              </a:rPr>
              <a:t> </a:t>
            </a:r>
            <a:r>
              <a:rPr lang="pt-BR" i="1" dirty="0" err="1">
                <a:solidFill>
                  <a:srgbClr val="FF0066"/>
                </a:solidFill>
              </a:rPr>
              <a:t>pooling</a:t>
            </a:r>
            <a:r>
              <a:rPr lang="pt-BR" i="1" dirty="0">
                <a:solidFill>
                  <a:srgbClr val="FF0066"/>
                </a:solidFill>
              </a:rPr>
              <a:t> </a:t>
            </a:r>
            <a:r>
              <a:rPr lang="pt-BR" dirty="0">
                <a:solidFill>
                  <a:schemeClr val="bg1"/>
                </a:solidFill>
              </a:rPr>
              <a:t>a mais conhecida), médias, soma ou outra operação de agrupamento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5F7A622-3CF1-6814-BAC5-085596A1B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06" y="2939375"/>
            <a:ext cx="7045387" cy="365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75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5969-53E6-0E42-DF87-0B113A85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2E88F023-4929-01E3-0F00-D3443ED94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/>
              <a:t>Camada de </a:t>
            </a:r>
            <a:r>
              <a:rPr lang="pt-BR" altLang="pt-BR" dirty="0" err="1">
                <a:solidFill>
                  <a:srgbClr val="FF0066"/>
                </a:solidFill>
              </a:rPr>
              <a:t>Pooling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9940322-D6D1-ABF2-CC41-F4FADC8D966E}"/>
              </a:ext>
            </a:extLst>
          </p:cNvPr>
          <p:cNvSpPr txBox="1"/>
          <p:nvPr/>
        </p:nvSpPr>
        <p:spPr>
          <a:xfrm>
            <a:off x="278755" y="908050"/>
            <a:ext cx="85864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camada de </a:t>
            </a:r>
            <a:r>
              <a:rPr lang="pt-BR" dirty="0" err="1">
                <a:solidFill>
                  <a:srgbClr val="FF0066"/>
                </a:solidFill>
              </a:rPr>
              <a:t>pooling</a:t>
            </a:r>
            <a:r>
              <a:rPr lang="pt-BR" dirty="0">
                <a:solidFill>
                  <a:schemeClr val="bg1"/>
                </a:solidFill>
              </a:rPr>
              <a:t> reduz a complexidade computacional ao descrever a camada convolucional com </a:t>
            </a:r>
            <a:r>
              <a:rPr lang="pt-BR" dirty="0">
                <a:solidFill>
                  <a:srgbClr val="FF0066"/>
                </a:solidFill>
              </a:rPr>
              <a:t>menor tamanho </a:t>
            </a:r>
            <a:r>
              <a:rPr lang="pt-BR" dirty="0">
                <a:solidFill>
                  <a:schemeClr val="bg1"/>
                </a:solidFill>
              </a:rPr>
              <a:t>espacial. Também ajudam a diminuir o efeito do </a:t>
            </a:r>
            <a:r>
              <a:rPr lang="pt-BR" dirty="0" err="1">
                <a:solidFill>
                  <a:srgbClr val="FF0066"/>
                </a:solidFill>
              </a:rPr>
              <a:t>overfitting</a:t>
            </a:r>
            <a:r>
              <a:rPr lang="pt-BR" dirty="0">
                <a:solidFill>
                  <a:schemeClr val="bg1"/>
                </a:solidFill>
              </a:rPr>
              <a:t> nos modelos. 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Essas camadas geralmente são incluídas após as camadas convolucionais. Podem extrair o valor máximo (</a:t>
            </a:r>
            <a:r>
              <a:rPr lang="pt-BR" i="1" dirty="0" err="1">
                <a:solidFill>
                  <a:srgbClr val="FF0066"/>
                </a:solidFill>
              </a:rPr>
              <a:t>max</a:t>
            </a:r>
            <a:r>
              <a:rPr lang="pt-BR" i="1" dirty="0">
                <a:solidFill>
                  <a:srgbClr val="FF0066"/>
                </a:solidFill>
              </a:rPr>
              <a:t> </a:t>
            </a:r>
            <a:r>
              <a:rPr lang="pt-BR" i="1" dirty="0" err="1">
                <a:solidFill>
                  <a:srgbClr val="FF0066"/>
                </a:solidFill>
              </a:rPr>
              <a:t>pooling</a:t>
            </a:r>
            <a:r>
              <a:rPr lang="pt-BR" i="1" dirty="0">
                <a:solidFill>
                  <a:srgbClr val="FF0066"/>
                </a:solidFill>
              </a:rPr>
              <a:t> </a:t>
            </a:r>
            <a:r>
              <a:rPr lang="pt-BR" dirty="0">
                <a:solidFill>
                  <a:schemeClr val="bg1"/>
                </a:solidFill>
              </a:rPr>
              <a:t>a mais conhecida), médias, soma ou outra operação de agrupamento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DFC96F-7E81-107D-87BE-F32DBA6AE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68961"/>
            <a:ext cx="9144000" cy="36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22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9325-1D81-6495-0CE9-6D6A8253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A140DF1B-A8AF-3DCC-FCC5-117D4A902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>
                <a:solidFill>
                  <a:srgbClr val="FF0066"/>
                </a:solidFill>
              </a:rPr>
              <a:t>Deep</a:t>
            </a:r>
            <a:r>
              <a:rPr lang="pt-BR" altLang="pt-BR" dirty="0"/>
              <a:t> </a:t>
            </a:r>
            <a:r>
              <a:rPr lang="pt-BR" altLang="pt-BR" dirty="0" err="1"/>
              <a:t>Q-Learning</a:t>
            </a:r>
            <a:endParaRPr lang="pt-BR" altLang="pt-BR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293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3708-33D4-9A62-A1BA-E46F18F1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85975A71-4C56-DF92-C077-ED649E3E9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</a:t>
            </a:r>
            <a:r>
              <a:rPr lang="pt-BR" altLang="pt-BR" dirty="0"/>
              <a:t> </a:t>
            </a:r>
            <a:r>
              <a:rPr lang="pt-BR" altLang="pt-BR" dirty="0" err="1"/>
              <a:t>Q-Learning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B5285E1-6008-A31A-0D6C-363E7CCB0609}"/>
              </a:ext>
            </a:extLst>
          </p:cNvPr>
          <p:cNvSpPr txBox="1"/>
          <p:nvPr/>
        </p:nvSpPr>
        <p:spPr>
          <a:xfrm>
            <a:off x="278755" y="908050"/>
            <a:ext cx="8586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Problemas mais simples -&gt; </a:t>
            </a:r>
            <a:r>
              <a:rPr lang="pt-BR" dirty="0" err="1">
                <a:solidFill>
                  <a:srgbClr val="FF0066"/>
                </a:solidFill>
              </a:rPr>
              <a:t>Q-Learning</a:t>
            </a:r>
            <a:endParaRPr lang="pt-BR" dirty="0">
              <a:solidFill>
                <a:srgbClr val="FF0066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Problemas mais complexos -&gt; </a:t>
            </a:r>
            <a:r>
              <a:rPr lang="pt-BR" dirty="0">
                <a:solidFill>
                  <a:srgbClr val="FF0066"/>
                </a:solidFill>
              </a:rPr>
              <a:t>Deep </a:t>
            </a:r>
            <a:r>
              <a:rPr lang="pt-BR" dirty="0" err="1">
                <a:solidFill>
                  <a:srgbClr val="FF0066"/>
                </a:solidFill>
              </a:rPr>
              <a:t>Q-Learning</a:t>
            </a:r>
            <a:endParaRPr lang="pt-BR" dirty="0">
              <a:solidFill>
                <a:srgbClr val="FF0066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455EF2-AA36-6022-6F0E-19D5C0F7F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88840"/>
            <a:ext cx="9144000" cy="19819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3E70A5E-EBBC-AE95-395C-B36D008DF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1088"/>
            <a:ext cx="9144000" cy="234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46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B42E-4110-076C-B7B9-014E0FAD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E796B26E-29BC-1F3C-8AF9-A1E8AE952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</a:t>
            </a:r>
            <a:r>
              <a:rPr lang="pt-BR" altLang="pt-BR" dirty="0"/>
              <a:t> </a:t>
            </a:r>
            <a:r>
              <a:rPr lang="pt-BR" altLang="pt-BR" dirty="0" err="1"/>
              <a:t>Q-Learning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CB0411D-EACA-17A0-50F0-AF2D87FCD248}"/>
              </a:ext>
            </a:extLst>
          </p:cNvPr>
          <p:cNvSpPr txBox="1"/>
          <p:nvPr/>
        </p:nvSpPr>
        <p:spPr>
          <a:xfrm>
            <a:off x="278755" y="908050"/>
            <a:ext cx="8586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Problemas mais simples -&gt; </a:t>
            </a:r>
            <a:r>
              <a:rPr lang="pt-BR" dirty="0" err="1">
                <a:solidFill>
                  <a:srgbClr val="FF0066"/>
                </a:solidFill>
              </a:rPr>
              <a:t>Q-Learning</a:t>
            </a:r>
            <a:endParaRPr lang="pt-BR" dirty="0">
              <a:solidFill>
                <a:srgbClr val="FF0066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Problemas mais complexos -&gt; </a:t>
            </a:r>
            <a:r>
              <a:rPr lang="pt-BR" dirty="0">
                <a:solidFill>
                  <a:srgbClr val="FF0066"/>
                </a:solidFill>
              </a:rPr>
              <a:t>Deep </a:t>
            </a:r>
            <a:r>
              <a:rPr lang="pt-BR" dirty="0" err="1">
                <a:solidFill>
                  <a:srgbClr val="FF0066"/>
                </a:solidFill>
              </a:rPr>
              <a:t>Q-Learning</a:t>
            </a:r>
            <a:endParaRPr lang="pt-BR" dirty="0">
              <a:solidFill>
                <a:srgbClr val="FF0066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690171-8A45-95A1-C5EB-30EA31AF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" y="2852936"/>
            <a:ext cx="9144000" cy="349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43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3814-54C0-9E7D-99FD-304F26A6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32D163B7-D887-73BF-BEA0-0047BCD51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</a:t>
            </a:r>
            <a:r>
              <a:rPr lang="pt-BR" altLang="pt-BR" dirty="0"/>
              <a:t> </a:t>
            </a:r>
            <a:r>
              <a:rPr lang="pt-BR" altLang="pt-BR" dirty="0" err="1"/>
              <a:t>Q-Learning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1870AA-6D65-2D13-E090-8581C6F57AE6}"/>
              </a:ext>
            </a:extLst>
          </p:cNvPr>
          <p:cNvSpPr txBox="1"/>
          <p:nvPr/>
        </p:nvSpPr>
        <p:spPr>
          <a:xfrm>
            <a:off x="278755" y="908050"/>
            <a:ext cx="8586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</a:t>
            </a:r>
            <a:r>
              <a:rPr lang="pt-BR" dirty="0">
                <a:solidFill>
                  <a:srgbClr val="FF0066"/>
                </a:solidFill>
              </a:rPr>
              <a:t>Rede Neural Profunda </a:t>
            </a:r>
            <a:r>
              <a:rPr lang="pt-BR" dirty="0">
                <a:solidFill>
                  <a:schemeClr val="bg1"/>
                </a:solidFill>
              </a:rPr>
              <a:t>Q recebe um conjunto de 4 frames como entrada;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Esses frames passam pela rede e geram um </a:t>
            </a:r>
            <a:r>
              <a:rPr lang="pt-BR" dirty="0">
                <a:solidFill>
                  <a:srgbClr val="FF0066"/>
                </a:solidFill>
              </a:rPr>
              <a:t>vetor de valores-Q </a:t>
            </a:r>
            <a:r>
              <a:rPr lang="pt-BR" dirty="0">
                <a:solidFill>
                  <a:schemeClr val="bg1"/>
                </a:solidFill>
              </a:rPr>
              <a:t>para cada ação possível no estado;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Precisa-se escolher </a:t>
            </a:r>
            <a:r>
              <a:rPr lang="pt-BR" dirty="0">
                <a:solidFill>
                  <a:srgbClr val="FF0066"/>
                </a:solidFill>
              </a:rPr>
              <a:t>o maior </a:t>
            </a:r>
            <a:r>
              <a:rPr lang="pt-BR" dirty="0">
                <a:solidFill>
                  <a:schemeClr val="bg1"/>
                </a:solidFill>
              </a:rPr>
              <a:t>valor-Q do vetor para encontrar a melhor ação.</a:t>
            </a:r>
            <a:endParaRPr lang="pt-BR" dirty="0">
              <a:solidFill>
                <a:srgbClr val="FF0066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E860F5-AB66-D7E3-0ECA-EBE60606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212976"/>
            <a:ext cx="914400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3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964C7-C406-90F5-F364-FE6D1F95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272DA57F-E5AF-4DCE-5B11-970B26C5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b="1" kern="1200" dirty="0">
                <a:solidFill>
                  <a:srgbClr val="FF00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Deep</a:t>
            </a: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pt-BR" altLang="pt-BR" b="1" kern="1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Q-Learning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D005BD-FEF5-AFB0-9878-EED5B1FC2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" y="1427523"/>
            <a:ext cx="4657808" cy="4525962"/>
          </a:xfrm>
          <a:prstGeom prst="rect">
            <a:avLst/>
          </a:prstGeom>
          <a:noFill/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873D379-E31B-CFF7-F1A2-F23A79856F35}"/>
              </a:ext>
            </a:extLst>
          </p:cNvPr>
          <p:cNvSpPr txBox="1"/>
          <p:nvPr/>
        </p:nvSpPr>
        <p:spPr bwMode="auto">
          <a:xfrm>
            <a:off x="4648200" y="1427523"/>
            <a:ext cx="4490594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O </a:t>
            </a:r>
            <a:r>
              <a:rPr lang="pt-BR" sz="2200" dirty="0" err="1">
                <a:solidFill>
                  <a:schemeClr val="bg1"/>
                </a:solidFill>
              </a:rPr>
              <a:t>pré</a:t>
            </a:r>
            <a:r>
              <a:rPr lang="pt-BR" sz="2200" dirty="0">
                <a:solidFill>
                  <a:schemeClr val="bg1"/>
                </a:solidFill>
              </a:rPr>
              <a:t> processamento é uma etapa importante;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Objetivo é </a:t>
            </a:r>
            <a:r>
              <a:rPr lang="pt-BR" sz="2200" dirty="0">
                <a:solidFill>
                  <a:srgbClr val="FF0066"/>
                </a:solidFill>
              </a:rPr>
              <a:t>reduzir a complexidade </a:t>
            </a:r>
            <a:r>
              <a:rPr lang="pt-BR" sz="2200" dirty="0">
                <a:solidFill>
                  <a:schemeClr val="bg1"/>
                </a:solidFill>
              </a:rPr>
              <a:t>de nossos estados para diminuir o tempo de computação necessário para o treinamento;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Primeiro, podemos converter </a:t>
            </a:r>
            <a:r>
              <a:rPr lang="pt-BR" sz="2200" dirty="0">
                <a:solidFill>
                  <a:srgbClr val="FF0066"/>
                </a:solidFill>
              </a:rPr>
              <a:t>em escala de cinza </a:t>
            </a:r>
            <a:r>
              <a:rPr lang="pt-BR" sz="2200" dirty="0">
                <a:solidFill>
                  <a:schemeClr val="bg1"/>
                </a:solidFill>
              </a:rPr>
              <a:t>cada um de nossos estados. 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Economia: pois reduzimos de 3 canais de cores (RGB) para 1 (escala de cinza);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Redução do tamanho do quadro e empilha-se quatro </a:t>
            </a:r>
            <a:r>
              <a:rPr lang="pt-BR" sz="2200" dirty="0" err="1">
                <a:solidFill>
                  <a:schemeClr val="bg1"/>
                </a:solidFill>
              </a:rPr>
              <a:t>sub-quadros</a:t>
            </a:r>
            <a:r>
              <a:rPr lang="pt-BR" sz="2200" dirty="0">
                <a:solidFill>
                  <a:schemeClr val="bg1"/>
                </a:solidFill>
              </a:rPr>
              <a:t> juntos.</a:t>
            </a:r>
          </a:p>
        </p:txBody>
      </p:sp>
    </p:spTree>
    <p:extLst>
      <p:ext uri="{BB962C8B-B14F-4D97-AF65-F5344CB8AC3E}">
        <p14:creationId xmlns:p14="http://schemas.microsoft.com/office/powerpoint/2010/main" val="199545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2E075-58DA-176F-04EE-DA34DD79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9BD491D6-5B9C-A671-96B7-1C1037B84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</a:t>
            </a:r>
            <a:r>
              <a:rPr lang="pt-BR" altLang="pt-BR" dirty="0"/>
              <a:t> </a:t>
            </a:r>
            <a:r>
              <a:rPr lang="pt-BR" altLang="pt-BR" dirty="0" err="1"/>
              <a:t>Q-Learning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D9B5D9-8A37-B044-9385-D43E6456BCA8}"/>
              </a:ext>
            </a:extLst>
          </p:cNvPr>
          <p:cNvSpPr txBox="1"/>
          <p:nvPr/>
        </p:nvSpPr>
        <p:spPr>
          <a:xfrm>
            <a:off x="278755" y="908050"/>
            <a:ext cx="858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que passar um </a:t>
            </a:r>
            <a:r>
              <a:rPr lang="pt-BR" dirty="0" err="1">
                <a:solidFill>
                  <a:schemeClr val="bg1"/>
                </a:solidFill>
              </a:rPr>
              <a:t>stack</a:t>
            </a:r>
            <a:r>
              <a:rPr lang="pt-BR" dirty="0">
                <a:solidFill>
                  <a:schemeClr val="bg1"/>
                </a:solidFill>
              </a:rPr>
              <a:t> de frames?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Problema de limitação temporal -&gt; </a:t>
            </a:r>
            <a:r>
              <a:rPr lang="pt-BR" dirty="0">
                <a:solidFill>
                  <a:srgbClr val="FF0066"/>
                </a:solidFill>
              </a:rPr>
              <a:t>Movimento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B577E9-32BF-1019-B269-D0AA65564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477105"/>
            <a:ext cx="4130108" cy="229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70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5725-BF94-3C67-5D69-1E6046F1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1ABF3D6-5BEB-9EA8-F092-B25443474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15888"/>
            <a:ext cx="7344047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Deep</a:t>
            </a:r>
            <a:r>
              <a:rPr lang="pt-BR" altLang="pt-BR" dirty="0"/>
              <a:t> </a:t>
            </a:r>
            <a:r>
              <a:rPr lang="pt-BR" altLang="pt-BR" dirty="0" err="1"/>
              <a:t>Q-Learning</a:t>
            </a: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381334-3D50-8202-31E8-BA08422B0D0A}"/>
              </a:ext>
            </a:extLst>
          </p:cNvPr>
          <p:cNvSpPr txBox="1"/>
          <p:nvPr/>
        </p:nvSpPr>
        <p:spPr>
          <a:xfrm>
            <a:off x="278755" y="908050"/>
            <a:ext cx="858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que passar um </a:t>
            </a:r>
            <a:r>
              <a:rPr lang="pt-BR" dirty="0" err="1">
                <a:solidFill>
                  <a:schemeClr val="bg1"/>
                </a:solidFill>
              </a:rPr>
              <a:t>stack</a:t>
            </a:r>
            <a:r>
              <a:rPr lang="pt-BR" dirty="0">
                <a:solidFill>
                  <a:schemeClr val="bg1"/>
                </a:solidFill>
              </a:rPr>
              <a:t> de frames?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Problema de limitação temporal -&gt; </a:t>
            </a:r>
            <a:r>
              <a:rPr lang="pt-BR" dirty="0">
                <a:solidFill>
                  <a:srgbClr val="FF0066"/>
                </a:solidFill>
              </a:rPr>
              <a:t>Movimento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AE1182-831C-205C-FDB0-B64A2EB73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3653"/>
            <a:ext cx="9144000" cy="175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02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E976-E14F-8311-24AF-F6DDA5D2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2440900C-9E9C-8AFA-0905-A585FC71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b="1" kern="1200" dirty="0">
                <a:solidFill>
                  <a:srgbClr val="FF00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Deep</a:t>
            </a: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pt-BR" altLang="pt-BR" b="1" kern="1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Q-Learning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E526E-B94F-F56A-8850-E24B736ED343}"/>
              </a:ext>
            </a:extLst>
          </p:cNvPr>
          <p:cNvSpPr txBox="1"/>
          <p:nvPr/>
        </p:nvSpPr>
        <p:spPr bwMode="auto">
          <a:xfrm>
            <a:off x="5206" y="930275"/>
            <a:ext cx="9138794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Os quadros são processados por duas camadas </a:t>
            </a:r>
            <a:r>
              <a:rPr lang="pt-BR" sz="2200" dirty="0">
                <a:solidFill>
                  <a:srgbClr val="FF0066"/>
                </a:solidFill>
              </a:rPr>
              <a:t>convolucionais</a:t>
            </a:r>
            <a:r>
              <a:rPr lang="pt-BR" sz="2200" dirty="0">
                <a:solidFill>
                  <a:schemeClr val="bg1"/>
                </a:solidFill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Cada camada de convolução usará </a:t>
            </a:r>
            <a:r>
              <a:rPr lang="pt-BR" sz="2200" dirty="0" err="1">
                <a:solidFill>
                  <a:srgbClr val="FF0066"/>
                </a:solidFill>
              </a:rPr>
              <a:t>ReLu</a:t>
            </a:r>
            <a:r>
              <a:rPr lang="pt-BR" sz="2200" dirty="0">
                <a:solidFill>
                  <a:schemeClr val="bg1"/>
                </a:solidFill>
              </a:rPr>
              <a:t> como função de ativação;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Usamos uma camada de saída que produz a estimativa de </a:t>
            </a:r>
            <a:r>
              <a:rPr lang="pt-BR" sz="2200" dirty="0">
                <a:solidFill>
                  <a:srgbClr val="FF0066"/>
                </a:solidFill>
              </a:rPr>
              <a:t>Valor-Q</a:t>
            </a:r>
            <a:r>
              <a:rPr lang="pt-BR" sz="2200" dirty="0">
                <a:solidFill>
                  <a:schemeClr val="bg1"/>
                </a:solidFill>
              </a:rPr>
              <a:t> para cada 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FE3358-BFE9-5325-A813-32493219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429000"/>
            <a:ext cx="7263685" cy="335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50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075B-88F5-24D3-17EC-2A83C3B3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0DA6F012-FD68-68F1-0DF5-9DCD3B34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864394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altLang="pt-BR" b="1" kern="1200" dirty="0">
                <a:solidFill>
                  <a:srgbClr val="FF00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Deep</a:t>
            </a: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pt-BR" altLang="pt-BR" b="1" kern="1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Q-Learning</a:t>
            </a: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br>
              <a:rPr lang="pt-BR" b="0" dirty="0"/>
            </a:br>
            <a:r>
              <a:rPr lang="pt-BR" dirty="0"/>
              <a:t>-&gt; Experiência por Replay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A028F0-E810-C41F-1C40-627C387B6791}"/>
              </a:ext>
            </a:extLst>
          </p:cNvPr>
          <p:cNvSpPr txBox="1"/>
          <p:nvPr/>
        </p:nvSpPr>
        <p:spPr bwMode="auto">
          <a:xfrm>
            <a:off x="5206" y="1268760"/>
            <a:ext cx="9138794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O Replay de Experiência é uma técnica-chave em </a:t>
            </a:r>
            <a:r>
              <a:rPr lang="pt-BR" sz="2200" dirty="0" err="1">
                <a:solidFill>
                  <a:schemeClr val="bg1"/>
                </a:solidFill>
              </a:rPr>
              <a:t>DeepQ</a:t>
            </a:r>
            <a:r>
              <a:rPr lang="pt-BR" sz="2200" dirty="0">
                <a:solidFill>
                  <a:schemeClr val="bg1"/>
                </a:solidFill>
              </a:rPr>
              <a:t>-Learning para melhorar a eficiência do treinamento de agentes de aprendizado por reforço;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Buffer de memória → As interações do agente no ambiente e as ações tomadas.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A experiência por replay ajuda em dois possíveis problemas: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66"/>
                </a:solidFill>
              </a:rPr>
              <a:t>Evitar esquecer experiências anteriores;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66"/>
                </a:solidFill>
              </a:rPr>
              <a:t>Reduzir as correlações entre as experiências.</a:t>
            </a:r>
          </a:p>
        </p:txBody>
      </p:sp>
    </p:spTree>
    <p:extLst>
      <p:ext uri="{BB962C8B-B14F-4D97-AF65-F5344CB8AC3E}">
        <p14:creationId xmlns:p14="http://schemas.microsoft.com/office/powerpoint/2010/main" val="3473555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8956-9603-2864-8B0A-E6E765B9E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29965B35-6B4C-E7EA-3897-64825FE4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864394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altLang="pt-BR" b="1" kern="1200" dirty="0">
                <a:solidFill>
                  <a:srgbClr val="FF00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Deep</a:t>
            </a: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pt-BR" altLang="pt-BR" b="1" kern="1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Q-Learning</a:t>
            </a: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br>
              <a:rPr lang="pt-BR" b="0" dirty="0"/>
            </a:br>
            <a:r>
              <a:rPr lang="pt-BR" dirty="0"/>
              <a:t>-&gt; Experiência por Replay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4F4DBB-CF41-9215-1D1C-5E8EFDD900E1}"/>
              </a:ext>
            </a:extLst>
          </p:cNvPr>
          <p:cNvSpPr txBox="1"/>
          <p:nvPr/>
        </p:nvSpPr>
        <p:spPr bwMode="auto">
          <a:xfrm>
            <a:off x="5206" y="1268760"/>
            <a:ext cx="9138794" cy="53288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Vantagens da experiência por replay;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66"/>
                </a:solidFill>
              </a:rPr>
              <a:t>Estabilização</a:t>
            </a:r>
            <a:r>
              <a:rPr lang="pt-BR" sz="2200" dirty="0">
                <a:solidFill>
                  <a:schemeClr val="bg1"/>
                </a:solidFill>
              </a:rPr>
              <a:t> do treinamento: Ao amostrar experiências de forma aleatória, o treinamento se torna mais estável. Evita que o agente aprenda exclusivamente com experiências recentes;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Aprendizado </a:t>
            </a:r>
            <a:r>
              <a:rPr lang="pt-BR" sz="2200" dirty="0">
                <a:solidFill>
                  <a:srgbClr val="FF0066"/>
                </a:solidFill>
              </a:rPr>
              <a:t>offline</a:t>
            </a:r>
            <a:r>
              <a:rPr lang="pt-BR" sz="2200" dirty="0">
                <a:solidFill>
                  <a:schemeClr val="bg1"/>
                </a:solidFill>
              </a:rPr>
              <a:t>: O replay de experiência permite o aprendizado offline, o que significa que as experiências coletadas em um ambiente real podem ser usados posteriormente para treinar o agente em um ambiente simulado.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66"/>
                </a:solidFill>
              </a:rPr>
              <a:t>Reutilização</a:t>
            </a:r>
            <a:r>
              <a:rPr lang="pt-BR" sz="2200" dirty="0">
                <a:solidFill>
                  <a:schemeClr val="bg1">
                    <a:lumMod val="95000"/>
                  </a:schemeClr>
                </a:solidFill>
              </a:rPr>
              <a:t> eficiente dos dados: As experiências são reutilizadas várias vezes, o que aumenta a eficiência do uso dos dados coletados.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>
                    <a:lumMod val="95000"/>
                  </a:schemeClr>
                </a:solidFill>
              </a:rPr>
              <a:t>Melhor </a:t>
            </a:r>
            <a:r>
              <a:rPr lang="pt-BR" sz="2200" dirty="0">
                <a:solidFill>
                  <a:srgbClr val="FF0066"/>
                </a:solidFill>
              </a:rPr>
              <a:t>exploração</a:t>
            </a:r>
            <a:r>
              <a:rPr lang="pt-BR" sz="2200" dirty="0">
                <a:solidFill>
                  <a:schemeClr val="bg1">
                    <a:lumMod val="95000"/>
                  </a:schemeClr>
                </a:solidFill>
              </a:rPr>
              <a:t>: Ao amostrar aleatoriamente o buffer de repetição, os agentes podem explorar uma variedade de cenários, incluindo aqueles que raramente ocorrem no ambiente.</a:t>
            </a:r>
          </a:p>
        </p:txBody>
      </p:sp>
    </p:spTree>
    <p:extLst>
      <p:ext uri="{BB962C8B-B14F-4D97-AF65-F5344CB8AC3E}">
        <p14:creationId xmlns:p14="http://schemas.microsoft.com/office/powerpoint/2010/main" val="1263179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F755-44A9-7E69-0F40-B98855CC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45960D5E-F766-577A-D36D-2A484B8C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b="1" kern="1200" dirty="0">
                <a:solidFill>
                  <a:srgbClr val="FF00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Experiência por Replay</a:t>
            </a:r>
            <a:br>
              <a:rPr lang="pt-BR" altLang="pt-BR" b="1" kern="1200" dirty="0">
                <a:solidFill>
                  <a:srgbClr val="FF00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pt-BR" altLang="pt-BR" b="1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-&gt; Evitar esquecer experiências anteriores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7E036D-E7E0-9829-6A82-94253E676DA4}"/>
              </a:ext>
            </a:extLst>
          </p:cNvPr>
          <p:cNvSpPr txBox="1"/>
          <p:nvPr/>
        </p:nvSpPr>
        <p:spPr bwMode="auto">
          <a:xfrm>
            <a:off x="4156312" y="1427523"/>
            <a:ext cx="4982482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A cada etapa de tempo, recebemos uma tupla </a:t>
            </a:r>
            <a:r>
              <a:rPr lang="pt-BR" sz="2200" dirty="0">
                <a:solidFill>
                  <a:srgbClr val="FF0066"/>
                </a:solidFill>
              </a:rPr>
              <a:t>(estado, ação, recompensa, </a:t>
            </a:r>
            <a:r>
              <a:rPr lang="pt-BR" sz="2200" dirty="0" err="1">
                <a:solidFill>
                  <a:srgbClr val="FF0066"/>
                </a:solidFill>
              </a:rPr>
              <a:t>novo_estado</a:t>
            </a:r>
            <a:r>
              <a:rPr lang="pt-BR" sz="2200" dirty="0">
                <a:solidFill>
                  <a:srgbClr val="FF0066"/>
                </a:solidFill>
              </a:rPr>
              <a:t>)</a:t>
            </a:r>
            <a:r>
              <a:rPr lang="pt-BR" sz="2200" dirty="0">
                <a:solidFill>
                  <a:schemeClr val="bg1"/>
                </a:solidFill>
              </a:rPr>
              <a:t> e o agente aprende;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Nosso problema é que fornecemos amostras </a:t>
            </a:r>
            <a:r>
              <a:rPr lang="pt-BR" sz="2200" dirty="0">
                <a:solidFill>
                  <a:srgbClr val="FF0066"/>
                </a:solidFill>
              </a:rPr>
              <a:t>sequenciais</a:t>
            </a:r>
            <a:r>
              <a:rPr lang="pt-BR" sz="2200" dirty="0">
                <a:solidFill>
                  <a:schemeClr val="bg1"/>
                </a:solidFill>
              </a:rPr>
              <a:t> de interações com o ambiente para nossa rede neural.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Por isso o agente tende a </a:t>
            </a:r>
            <a:r>
              <a:rPr lang="pt-BR" sz="2200" dirty="0">
                <a:solidFill>
                  <a:srgbClr val="FF0066"/>
                </a:solidFill>
              </a:rPr>
              <a:t>esquecer</a:t>
            </a:r>
            <a:r>
              <a:rPr lang="pt-BR" sz="2200" dirty="0">
                <a:solidFill>
                  <a:schemeClr val="bg1"/>
                </a:solidFill>
              </a:rPr>
              <a:t> as experiências anteriores ao sobrescrevê-las com novas experiências.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CEC816-CB76-3537-81E1-12DC4D598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93" y="1427523"/>
            <a:ext cx="3688419" cy="48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59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5AEA6-A2B5-B8AB-4E95-46C54525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94349E23-5CE9-584B-2285-630987B3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373D243-9301-6253-E47C-7A47FD8AE5BE}"/>
              </a:ext>
            </a:extLst>
          </p:cNvPr>
          <p:cNvSpPr txBox="1"/>
          <p:nvPr/>
        </p:nvSpPr>
        <p:spPr bwMode="auto">
          <a:xfrm>
            <a:off x="-5193" y="1052736"/>
            <a:ext cx="9138794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66"/>
                </a:solidFill>
              </a:rPr>
              <a:t>Ideia</a:t>
            </a:r>
            <a:r>
              <a:rPr lang="pt-BR" sz="2200" dirty="0">
                <a:solidFill>
                  <a:schemeClr val="bg1"/>
                </a:solidFill>
              </a:rPr>
              <a:t>: Pode ser mais eficiente aproveitar experiências anteriores, aprendendo com elas várias vezes;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FF0066"/>
                </a:solidFill>
              </a:rPr>
              <a:t>Solução</a:t>
            </a:r>
            <a:r>
              <a:rPr lang="pt-BR" sz="2200" dirty="0">
                <a:solidFill>
                  <a:schemeClr val="bg1"/>
                </a:solidFill>
              </a:rPr>
              <a:t>: criar um </a:t>
            </a:r>
            <a:r>
              <a:rPr lang="pt-BR" sz="2200" i="1" dirty="0">
                <a:solidFill>
                  <a:schemeClr val="bg1"/>
                </a:solidFill>
              </a:rPr>
              <a:t>replay </a:t>
            </a:r>
            <a:r>
              <a:rPr lang="pt-BR" sz="2200" i="1" dirty="0" err="1">
                <a:solidFill>
                  <a:schemeClr val="bg1"/>
                </a:solidFill>
              </a:rPr>
              <a:t>bufferizado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i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Armazenar tuplas de experiência enquanto interage com o ambiente, e depois amostra-se um pequeno lote de tuplas para alimentar a rede neural.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93DF07-49AD-7EBD-D4B2-6552638FE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" y="4149080"/>
            <a:ext cx="9144000" cy="1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326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8430-14A3-0D24-0717-1C612C44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6BDDBC8A-E32A-EC11-C942-7ACA245B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C6D188-9FF1-81FA-2969-09E57A3551EE}"/>
              </a:ext>
            </a:extLst>
          </p:cNvPr>
          <p:cNvSpPr txBox="1"/>
          <p:nvPr/>
        </p:nvSpPr>
        <p:spPr bwMode="auto">
          <a:xfrm>
            <a:off x="5206" y="3573016"/>
            <a:ext cx="9138794" cy="2592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Pense no buffer de reprodução como uma </a:t>
            </a:r>
            <a:r>
              <a:rPr lang="pt-BR" sz="2200" dirty="0">
                <a:solidFill>
                  <a:srgbClr val="FF0066"/>
                </a:solidFill>
              </a:rPr>
              <a:t>pasta onde cada planilha é uma tupla</a:t>
            </a:r>
            <a:r>
              <a:rPr lang="pt-BR" sz="2200" dirty="0">
                <a:solidFill>
                  <a:schemeClr val="bg1"/>
                </a:solidFill>
              </a:rPr>
              <a:t> de experiência;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É alimentado interagindo com o ambiente;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Então escolha de maneira aleatória uma amostra;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Isso evita que a rede aprenda apenas o que fez imediatamente.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AC06F75-AE20-3A82-4FB7-4CD35778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99" y="1045096"/>
            <a:ext cx="9144000" cy="1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832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4FEE-B79B-5E18-EB34-E49BB179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0B75F2A4-C5D6-F9A9-D844-089D138D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BF4BA9C-325E-7AAD-D613-9F628314A2A7}"/>
              </a:ext>
            </a:extLst>
          </p:cNvPr>
          <p:cNvSpPr txBox="1"/>
          <p:nvPr/>
        </p:nvSpPr>
        <p:spPr bwMode="auto">
          <a:xfrm>
            <a:off x="0" y="980728"/>
            <a:ext cx="9138794" cy="2592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• Temos outro </a:t>
            </a:r>
            <a:r>
              <a:rPr lang="pt-BR" sz="2200" dirty="0">
                <a:solidFill>
                  <a:srgbClr val="FF0066"/>
                </a:solidFill>
              </a:rPr>
              <a:t>problema</a:t>
            </a:r>
            <a:r>
              <a:rPr lang="pt-BR" sz="2200" dirty="0">
                <a:solidFill>
                  <a:schemeClr val="bg1"/>
                </a:solidFill>
              </a:rPr>
              <a:t> – sabemos que toda ação afeta o próximo estado. Isso gera uma sequência de tuplas de experiência que podem ser altamente correlacionadas.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• Se treinarmos a rede em ordem sequencial, corremos o risco de nosso agente ser </a:t>
            </a:r>
            <a:r>
              <a:rPr lang="pt-BR" sz="2200" dirty="0">
                <a:solidFill>
                  <a:srgbClr val="FF0066"/>
                </a:solidFill>
              </a:rPr>
              <a:t>influenciado</a:t>
            </a:r>
            <a:r>
              <a:rPr lang="pt-BR" sz="2200" dirty="0">
                <a:solidFill>
                  <a:schemeClr val="bg1"/>
                </a:solidFill>
              </a:rPr>
              <a:t> pelo efeito dessa correlação.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F04154-0296-4830-A92A-3C3422E8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" y="3212976"/>
            <a:ext cx="5722695" cy="372245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C5CB7FB-7C4E-40A4-D4A6-60D3E99DF939}"/>
              </a:ext>
            </a:extLst>
          </p:cNvPr>
          <p:cNvSpPr txBox="1"/>
          <p:nvPr/>
        </p:nvSpPr>
        <p:spPr bwMode="auto">
          <a:xfrm>
            <a:off x="5724128" y="3212976"/>
            <a:ext cx="3306146" cy="36450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• </a:t>
            </a:r>
            <a:r>
              <a:rPr lang="pt-BR" sz="2200" dirty="0">
                <a:solidFill>
                  <a:srgbClr val="FF0066"/>
                </a:solidFill>
              </a:rPr>
              <a:t>Exemplo</a:t>
            </a:r>
            <a:r>
              <a:rPr lang="pt-BR" sz="2200" dirty="0">
                <a:solidFill>
                  <a:schemeClr val="bg1"/>
                </a:solidFill>
              </a:rPr>
              <a:t>: Digamos que jogamos um jogo de tiro, onde um monstro pode aparecer à esquerda ou à direita.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pt-BR" sz="2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sz="2200" dirty="0">
                <a:solidFill>
                  <a:schemeClr val="bg1"/>
                </a:solidFill>
              </a:rPr>
              <a:t>• O </a:t>
            </a:r>
            <a:r>
              <a:rPr lang="pt-BR" sz="2200" dirty="0">
                <a:solidFill>
                  <a:srgbClr val="FF0066"/>
                </a:solidFill>
              </a:rPr>
              <a:t>objetivo</a:t>
            </a:r>
            <a:r>
              <a:rPr lang="pt-BR" sz="2200" dirty="0">
                <a:solidFill>
                  <a:schemeClr val="bg1"/>
                </a:solidFill>
              </a:rPr>
              <a:t> do nosso agente é atirar no monstro. Tem duas armas e duas ações: atirar para a esquerda ou atirar para a direita.</a:t>
            </a:r>
          </a:p>
        </p:txBody>
      </p:sp>
    </p:spTree>
    <p:extLst>
      <p:ext uri="{BB962C8B-B14F-4D97-AF65-F5344CB8AC3E}">
        <p14:creationId xmlns:p14="http://schemas.microsoft.com/office/powerpoint/2010/main" val="3632575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1B85-44FE-BFF7-ED27-92ACB274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AFEFED84-BA20-A1F5-0502-4AC4623D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E29A2B6-5E5D-D980-1A7B-EA6BC649BFF5}"/>
              </a:ext>
            </a:extLst>
          </p:cNvPr>
          <p:cNvSpPr txBox="1"/>
          <p:nvPr/>
        </p:nvSpPr>
        <p:spPr bwMode="auto">
          <a:xfrm>
            <a:off x="0" y="980727"/>
            <a:ext cx="9138794" cy="331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Aprendizado </a:t>
            </a:r>
            <a:r>
              <a:rPr lang="pt-BR" sz="2000" dirty="0">
                <a:solidFill>
                  <a:srgbClr val="FF0066"/>
                </a:solidFill>
              </a:rPr>
              <a:t>apenas</a:t>
            </a:r>
            <a:r>
              <a:rPr lang="pt-BR" sz="2000" dirty="0">
                <a:solidFill>
                  <a:schemeClr val="bg1"/>
                </a:solidFill>
              </a:rPr>
              <a:t> por experiência ordenada: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Digamos que sabemos que se atirarmos em um monstro, a probabilidade de que o próximo monstro venha da mesma direção é de 70%. 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No nosso caso, essa será a correlação entre nossas tuplas de experiências.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Vamos começar o treinamento. Nosso agente vê o monstro à direita e atira nele com a arma do lado direto. </a:t>
            </a:r>
            <a:r>
              <a:rPr lang="pt-BR" sz="2000" dirty="0">
                <a:solidFill>
                  <a:srgbClr val="FF0066"/>
                </a:solidFill>
              </a:rPr>
              <a:t>Acertou!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FF0066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Então o próximo monstro também vem da direita (com 70% de probabilidade), e o agente atirará com a arma do lado direito. </a:t>
            </a:r>
            <a:r>
              <a:rPr lang="pt-BR" sz="2000" dirty="0">
                <a:solidFill>
                  <a:srgbClr val="FF0066"/>
                </a:solidFill>
              </a:rPr>
              <a:t>Novamente, acertou!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C3A1878-0FA3-C8CD-42C6-D8753CC1F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4326213"/>
            <a:ext cx="4494652" cy="253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18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9214-1274-4BC3-1510-8A187312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58E7BDC-8957-DD9C-98FF-97CFD8E6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459A3FB-B74F-87EA-5138-BDE492F47486}"/>
              </a:ext>
            </a:extLst>
          </p:cNvPr>
          <p:cNvSpPr txBox="1"/>
          <p:nvPr/>
        </p:nvSpPr>
        <p:spPr bwMode="auto">
          <a:xfrm>
            <a:off x="0" y="980727"/>
            <a:ext cx="9138794" cy="331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O </a:t>
            </a:r>
            <a:r>
              <a:rPr lang="pt-BR" sz="2000" dirty="0">
                <a:solidFill>
                  <a:srgbClr val="FF0066"/>
                </a:solidFill>
              </a:rPr>
              <a:t>problema</a:t>
            </a:r>
            <a:r>
              <a:rPr lang="pt-BR" sz="2000" dirty="0">
                <a:solidFill>
                  <a:schemeClr val="bg1"/>
                </a:solidFill>
              </a:rPr>
              <a:t> é...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essa abordagem aumenta o valor de usar a arma do lado direito em todo o espaço de estados.</a:t>
            </a:r>
            <a:endParaRPr lang="pt-BR" sz="2000" dirty="0">
              <a:solidFill>
                <a:srgbClr val="FF0066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9A5658-CCCA-DE96-E822-6AD2318C6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25" y="2060848"/>
            <a:ext cx="7959144" cy="463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84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C952-C2AB-83D2-B62C-6425C8A2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E6EFE2F6-0FB5-E823-6D62-340CB43E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8428282-A4C0-797E-FEBD-E3F656FB26D4}"/>
              </a:ext>
            </a:extLst>
          </p:cNvPr>
          <p:cNvSpPr txBox="1"/>
          <p:nvPr/>
        </p:nvSpPr>
        <p:spPr bwMode="auto">
          <a:xfrm>
            <a:off x="0" y="980727"/>
            <a:ext cx="9138794" cy="331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Se o nosso agente não experimentar muitos exemplos de amostras do lado esquerdo (já que provavelmente apenas 30% virão da esquerda), nosso agente só terminará escolhendo a direita, </a:t>
            </a:r>
            <a:r>
              <a:rPr lang="pt-BR" sz="2000" dirty="0">
                <a:solidFill>
                  <a:srgbClr val="FF0066"/>
                </a:solidFill>
              </a:rPr>
              <a:t>independentemente</a:t>
            </a:r>
            <a:r>
              <a:rPr lang="pt-BR" sz="2000" dirty="0">
                <a:solidFill>
                  <a:schemeClr val="bg1"/>
                </a:solidFill>
              </a:rPr>
              <a:t> de onde o monstro venha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ERROU!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A7CD99-C28D-6070-8A87-A84DDFA96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899" y="2879633"/>
            <a:ext cx="6952202" cy="395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12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B170-6F32-394A-4062-103E5F92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B1E05B48-D598-0906-7DEB-AF94E7CF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D021E0A-08DE-B975-75FB-646D1B24BB68}"/>
              </a:ext>
            </a:extLst>
          </p:cNvPr>
          <p:cNvSpPr txBox="1"/>
          <p:nvPr/>
        </p:nvSpPr>
        <p:spPr bwMode="auto">
          <a:xfrm>
            <a:off x="0" y="980727"/>
            <a:ext cx="9138794" cy="51845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Temos duas estratégias paralelas para lidar com esse problema: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Primeiro, devemos </a:t>
            </a:r>
            <a:r>
              <a:rPr lang="pt-BR" sz="2000" dirty="0">
                <a:solidFill>
                  <a:srgbClr val="FF0066"/>
                </a:solidFill>
              </a:rPr>
              <a:t>parar de aprender </a:t>
            </a:r>
            <a:r>
              <a:rPr lang="pt-BR" sz="2000" dirty="0">
                <a:solidFill>
                  <a:schemeClr val="bg1"/>
                </a:solidFill>
              </a:rPr>
              <a:t>enquanto interagimos com o ambiente. 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Devemos tentar coisas </a:t>
            </a:r>
            <a:r>
              <a:rPr lang="pt-BR" sz="2000" dirty="0">
                <a:solidFill>
                  <a:srgbClr val="FF0066"/>
                </a:solidFill>
              </a:rPr>
              <a:t>diferentes</a:t>
            </a:r>
            <a:r>
              <a:rPr lang="pt-BR" sz="2000" dirty="0">
                <a:solidFill>
                  <a:schemeClr val="bg1"/>
                </a:solidFill>
              </a:rPr>
              <a:t> e jogar um pouco de maneira aleatória de modo a </a:t>
            </a:r>
            <a:r>
              <a:rPr lang="pt-BR" sz="2000" dirty="0">
                <a:solidFill>
                  <a:srgbClr val="FF0066"/>
                </a:solidFill>
              </a:rPr>
              <a:t>explorar</a:t>
            </a:r>
            <a:r>
              <a:rPr lang="pt-BR" sz="2000" dirty="0">
                <a:solidFill>
                  <a:schemeClr val="bg1"/>
                </a:solidFill>
              </a:rPr>
              <a:t> o espaço de estados. 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Podemos </a:t>
            </a:r>
            <a:r>
              <a:rPr lang="pt-BR" sz="2000" dirty="0">
                <a:solidFill>
                  <a:srgbClr val="FF0066"/>
                </a:solidFill>
              </a:rPr>
              <a:t>salvar</a:t>
            </a:r>
            <a:r>
              <a:rPr lang="pt-BR" sz="2000" dirty="0">
                <a:solidFill>
                  <a:schemeClr val="bg1"/>
                </a:solidFill>
              </a:rPr>
              <a:t> essas experiências no buffer de repetição.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Então, podemos </a:t>
            </a:r>
            <a:r>
              <a:rPr lang="pt-BR" sz="2000" dirty="0">
                <a:solidFill>
                  <a:srgbClr val="FF0066"/>
                </a:solidFill>
              </a:rPr>
              <a:t>relembrar</a:t>
            </a:r>
            <a:r>
              <a:rPr lang="pt-BR" sz="2000" dirty="0">
                <a:solidFill>
                  <a:schemeClr val="bg1"/>
                </a:solidFill>
              </a:rPr>
              <a:t> essas experiências e aprender com elas.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 Depois disso, voltamos a jogar com a função de valor atualizada.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Consequência: melhor </a:t>
            </a:r>
            <a:r>
              <a:rPr lang="pt-BR" sz="2000" dirty="0">
                <a:solidFill>
                  <a:srgbClr val="FF0066"/>
                </a:solidFill>
              </a:rPr>
              <a:t>conjunto de exemplos</a:t>
            </a:r>
            <a:r>
              <a:rPr lang="pt-BR" sz="2000" dirty="0">
                <a:solidFill>
                  <a:schemeClr val="bg1"/>
                </a:solidFill>
              </a:rPr>
              <a:t> - generalizar os padrões desses exemplos, lembrando-os em qualquer ordem.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Isso ajuda a evitar a </a:t>
            </a:r>
            <a:r>
              <a:rPr lang="pt-BR" sz="2000" dirty="0">
                <a:solidFill>
                  <a:srgbClr val="FF0066"/>
                </a:solidFill>
              </a:rPr>
              <a:t>fixação</a:t>
            </a:r>
            <a:r>
              <a:rPr lang="pt-BR" sz="2000" dirty="0">
                <a:solidFill>
                  <a:schemeClr val="bg1"/>
                </a:solidFill>
              </a:rPr>
              <a:t> em uma região do espaço de estados. Evita o reforço da mesma ação repetidas vezes.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Esta abordagem pode ser vista como uma forma de Aprendizagem </a:t>
            </a:r>
            <a:r>
              <a:rPr lang="pt-BR" sz="2000" dirty="0">
                <a:solidFill>
                  <a:srgbClr val="FF0066"/>
                </a:solidFill>
              </a:rPr>
              <a:t>Supervisionada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  <a:endParaRPr lang="pt-BR" sz="20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7260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F813-B853-2F8E-4FCC-D20A5E9D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8FAE47D3-2AD1-8A65-265C-39AD7064B4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Demo – </a:t>
            </a:r>
            <a:r>
              <a:rPr lang="pt-BR" altLang="pt-BR" dirty="0" err="1">
                <a:solidFill>
                  <a:srgbClr val="FF0066"/>
                </a:solidFill>
              </a:rPr>
              <a:t>BreakOut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5677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B758-A5B9-65E4-483E-20F3159D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885DF283-D209-2A8D-9E17-9A25EA8A4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Demo – 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  <a:r>
              <a:rPr lang="pt-BR" altLang="pt-BR" dirty="0" err="1">
                <a:solidFill>
                  <a:srgbClr val="FF0066"/>
                </a:solidFill>
              </a:rPr>
              <a:t>LunarLander</a:t>
            </a:r>
            <a:r>
              <a:rPr lang="pt-BR" altLang="pt-BR">
                <a:solidFill>
                  <a:srgbClr val="FF0066"/>
                </a:solidFill>
              </a:rPr>
              <a:t> </a:t>
            </a:r>
            <a:endParaRPr lang="pt-BR" altLang="pt-BR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9380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1D21D-12EF-AEBB-8D06-0F4BC8E4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C1CF8509-44EE-E54B-EC0F-363B52BCDB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 fontScale="85000" lnSpcReduction="20000"/>
          </a:bodyPr>
          <a:lstStyle/>
          <a:p>
            <a:r>
              <a:rPr lang="en-US" altLang="pt-BR" dirty="0"/>
              <a:t>Reinforcement Learning – Casos de Uso</a:t>
            </a:r>
          </a:p>
          <a:p>
            <a:r>
              <a:rPr lang="en-US" altLang="pt-BR" dirty="0">
                <a:solidFill>
                  <a:srgbClr val="FF0066"/>
                </a:solidFill>
              </a:rPr>
              <a:t>Reinforcement Learning from Human Feedback</a:t>
            </a:r>
            <a:endParaRPr lang="pt-BR" altLang="pt-BR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7522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58D3-B949-864A-8DB2-D3162751A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6BF3946B-986F-9825-F618-1879D298A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A84241-A835-FBF0-7E21-252B355DB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" y="1196752"/>
            <a:ext cx="9015211" cy="5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240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D8AC-7AF4-0D4E-C05B-2091E05F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C01B8F12-2D07-6F18-E5A2-38986ED4D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dirty="0">
                <a:solidFill>
                  <a:srgbClr val="FF0066"/>
                </a:solidFill>
              </a:rPr>
              <a:t>Experiência por Replay</a:t>
            </a:r>
            <a:br>
              <a:rPr lang="pt-BR" altLang="pt-BR" dirty="0">
                <a:solidFill>
                  <a:srgbClr val="FF0066"/>
                </a:solidFill>
              </a:rPr>
            </a:br>
            <a:r>
              <a:rPr lang="pt-BR" altLang="pt-BR" dirty="0"/>
              <a:t>-&gt; Evitar esquecer experiências anteriores</a:t>
            </a:r>
            <a:endParaRPr lang="pt-BR" altLang="pt-BR" b="1" kern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6A0433-8C86-F0BF-49E2-978B57E8D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" y="1340768"/>
            <a:ext cx="9015211" cy="50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734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6272-ECEB-0104-2235-6F19B62D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CCD3CDA6-76F9-B06C-234B-298828DDE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Projeto </a:t>
            </a:r>
            <a:r>
              <a:rPr lang="pt-BR" altLang="pt-BR" dirty="0">
                <a:solidFill>
                  <a:srgbClr val="FF0066"/>
                </a:solidFill>
              </a:rPr>
              <a:t>Integrado</a:t>
            </a:r>
          </a:p>
        </p:txBody>
      </p:sp>
    </p:spTree>
    <p:extLst>
      <p:ext uri="{BB962C8B-B14F-4D97-AF65-F5344CB8AC3E}">
        <p14:creationId xmlns:p14="http://schemas.microsoft.com/office/powerpoint/2010/main" val="7672698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60DC-2ED2-3C55-EFB9-A241D530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07C25B9-7920-3262-ABEE-81E889963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Projeto Integrado – Quantum </a:t>
            </a:r>
            <a:r>
              <a:rPr lang="pt-BR" altLang="pt-BR" dirty="0" err="1">
                <a:solidFill>
                  <a:srgbClr val="FF0066"/>
                </a:solidFill>
              </a:rPr>
              <a:t>Finance</a:t>
            </a:r>
            <a:endParaRPr lang="pt-BR" altLang="pt-BR" dirty="0">
              <a:solidFill>
                <a:srgbClr val="FF0066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3124E4-86F9-02FB-C2D5-2E7F25E635C4}"/>
              </a:ext>
            </a:extLst>
          </p:cNvPr>
          <p:cNvSpPr txBox="1"/>
          <p:nvPr/>
        </p:nvSpPr>
        <p:spPr>
          <a:xfrm>
            <a:off x="278755" y="908050"/>
            <a:ext cx="858648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A </a:t>
            </a:r>
            <a:r>
              <a:rPr lang="pt-BR" sz="1600" dirty="0" err="1">
                <a:solidFill>
                  <a:schemeClr val="bg1"/>
                </a:solidFill>
              </a:rPr>
              <a:t>QuantumFinance</a:t>
            </a:r>
            <a:r>
              <a:rPr lang="pt-BR" sz="1600" dirty="0">
                <a:solidFill>
                  <a:schemeClr val="bg1"/>
                </a:solidFill>
              </a:rPr>
              <a:t> deseja criar um fundo automatizado para operar três ativos</a:t>
            </a:r>
            <a:r>
              <a:rPr lang="pt-BR" sz="1600" b="1" dirty="0">
                <a:solidFill>
                  <a:schemeClr val="bg1"/>
                </a:solidFill>
              </a:rPr>
              <a:t>: Vale, Petrobrás e Brasil </a:t>
            </a:r>
            <a:r>
              <a:rPr lang="pt-BR" sz="1600" b="1" dirty="0" err="1">
                <a:solidFill>
                  <a:schemeClr val="bg1"/>
                </a:solidFill>
              </a:rPr>
              <a:t>Foods</a:t>
            </a:r>
            <a:r>
              <a:rPr lang="pt-BR" sz="1600" b="1" dirty="0">
                <a:solidFill>
                  <a:schemeClr val="bg1"/>
                </a:solidFill>
              </a:rPr>
              <a:t>. </a:t>
            </a:r>
          </a:p>
          <a:p>
            <a:r>
              <a:rPr lang="pt-BR" sz="1600" dirty="0">
                <a:solidFill>
                  <a:schemeClr val="bg1"/>
                </a:solidFill>
              </a:rPr>
              <a:t>O objetivo é desenvolver e simular um agente de </a:t>
            </a:r>
            <a:r>
              <a:rPr lang="pt-BR" sz="1600" dirty="0">
                <a:solidFill>
                  <a:srgbClr val="FF0066"/>
                </a:solidFill>
              </a:rPr>
              <a:t>Reinforcement Learning (RL) </a:t>
            </a:r>
            <a:r>
              <a:rPr lang="pt-BR" sz="1600" dirty="0">
                <a:solidFill>
                  <a:schemeClr val="bg1"/>
                </a:solidFill>
              </a:rPr>
              <a:t>capaz de tomar decisões financeiras, como compra, venda ou manutenção de posição, com base em dados históricos.</a:t>
            </a: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ENTREGA</a:t>
            </a:r>
            <a:r>
              <a:rPr lang="pt-BR" sz="2400" b="1">
                <a:solidFill>
                  <a:schemeClr val="bg1"/>
                </a:solidFill>
              </a:rPr>
              <a:t>: 03/05</a:t>
            </a:r>
            <a:endParaRPr lang="pt-BR" sz="2400" b="1" dirty="0">
              <a:solidFill>
                <a:schemeClr val="bg1"/>
              </a:solidFill>
            </a:endParaRP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b="1" u="sng" dirty="0">
                <a:solidFill>
                  <a:schemeClr val="bg1"/>
                </a:solidFill>
              </a:rPr>
              <a:t>Tarefas: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Definir o Problema de RL: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Identificar estados, ações e recompensas no contexto financeiro.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Implementar ou apresentar exemplo de aplicação do Agente de RL: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Escolher um algoritmo de RL (ex.: Q-Learning ou DQN) e aplicá-lo para treinar o agente utilizando os dados históricos.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Avaliação do Desempenho: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Descrever ou simular o comportamento do agente e, se possível, analisar os resultados com métricas financeiras relevantes (lucro, </a:t>
            </a:r>
            <a:r>
              <a:rPr lang="pt-BR" sz="1600" dirty="0" err="1">
                <a:solidFill>
                  <a:schemeClr val="bg1"/>
                </a:solidFill>
              </a:rPr>
              <a:t>sharpe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ratio</a:t>
            </a:r>
            <a:r>
              <a:rPr lang="pt-BR" sz="1600" dirty="0">
                <a:solidFill>
                  <a:schemeClr val="bg1"/>
                </a:solidFill>
              </a:rPr>
              <a:t>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Entregáveis: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Relatório explicativo com desenho do agente, resultados obtidos e insights;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Se aplicável, código-fonte com a implementação e simulações realizadas.</a:t>
            </a:r>
          </a:p>
        </p:txBody>
      </p:sp>
    </p:spTree>
    <p:extLst>
      <p:ext uri="{BB962C8B-B14F-4D97-AF65-F5344CB8AC3E}">
        <p14:creationId xmlns:p14="http://schemas.microsoft.com/office/powerpoint/2010/main" val="17386979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9881-8632-4FFC-E43D-159E7EEF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7E7862BA-5EE0-4140-7E15-E4CF8B4FA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>
                <a:solidFill>
                  <a:srgbClr val="FF0066"/>
                </a:solidFill>
              </a:rPr>
              <a:t>Projeto Integrado – Quantum Finance</a:t>
            </a:r>
            <a:endParaRPr lang="pt-BR" altLang="pt-BR" dirty="0">
              <a:solidFill>
                <a:srgbClr val="FF0066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CB1765-8851-181D-AC92-1C2FC2ED090B}"/>
              </a:ext>
            </a:extLst>
          </p:cNvPr>
          <p:cNvSpPr txBox="1"/>
          <p:nvPr/>
        </p:nvSpPr>
        <p:spPr>
          <a:xfrm>
            <a:off x="-30452" y="836712"/>
            <a:ext cx="337831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Sobre o </a:t>
            </a:r>
            <a:r>
              <a:rPr lang="pt-BR" sz="2000" dirty="0" err="1">
                <a:solidFill>
                  <a:schemeClr val="bg1"/>
                </a:solidFill>
              </a:rPr>
              <a:t>Dataset</a:t>
            </a:r>
            <a:r>
              <a:rPr lang="pt-BR" sz="2000" dirty="0">
                <a:solidFill>
                  <a:schemeClr val="bg1"/>
                </a:solidFill>
              </a:rPr>
              <a:t>, ele é livre para escolher as fontes e o período histórico.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Uma boa fonte normalmente para dados históricos de ações é o Investing.com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Pesquise e selecione a ação ou índice no site</a:t>
            </a:r>
          </a:p>
          <a:p>
            <a:pPr marL="457200" indent="-457200">
              <a:buFont typeface="+mj-lt"/>
              <a:buAutoNum type="arabicPeriod"/>
            </a:pPr>
            <a:endParaRPr lang="pt-BR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Na página de dados históricos, escolha o período desejado </a:t>
            </a: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Você pode ver os dados diretamente na tabela e, geralmente, há opções de download ou exportação disponíveis</a:t>
            </a:r>
          </a:p>
          <a:p>
            <a:pPr marL="457200" indent="-457200">
              <a:buFont typeface="+mj-lt"/>
              <a:buAutoNum type="arabicPeriod"/>
            </a:pPr>
            <a:endParaRPr lang="pt-BR" sz="2400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46ED3B5-55BA-3DA9-452C-AFDCB8B2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676" y="836712"/>
            <a:ext cx="5661324" cy="60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256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CD6E-D4C1-23C9-2422-379F282A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C011282-86FA-C09A-A966-F7BC60991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Reinforcement 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E20E385-8178-A8F7-5A50-150AE08D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866" y="3068960"/>
            <a:ext cx="3562267" cy="357346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6D58562-B657-A95B-98C5-0473B4306705}"/>
              </a:ext>
            </a:extLst>
          </p:cNvPr>
          <p:cNvSpPr txBox="1"/>
          <p:nvPr/>
        </p:nvSpPr>
        <p:spPr>
          <a:xfrm>
            <a:off x="0" y="1052736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Obrigado pela atenção!</a:t>
            </a:r>
          </a:p>
          <a:p>
            <a:pPr algn="ctr"/>
            <a:endParaRPr lang="pt-BR" sz="4400" dirty="0">
              <a:solidFill>
                <a:schemeClr val="bg1"/>
              </a:solidFill>
            </a:endParaRP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Não esquecem de avaliar a aula no nosso </a:t>
            </a:r>
            <a:r>
              <a:rPr lang="pt-BR" sz="2800" dirty="0">
                <a:solidFill>
                  <a:srgbClr val="FF0066"/>
                </a:solidFill>
              </a:rPr>
              <a:t>MBA </a:t>
            </a:r>
            <a:r>
              <a:rPr lang="pt-BR" sz="2800" dirty="0" err="1">
                <a:solidFill>
                  <a:srgbClr val="FF0066"/>
                </a:solidFill>
              </a:rPr>
              <a:t>survey</a:t>
            </a:r>
            <a:r>
              <a:rPr lang="pt-BR" sz="2800" dirty="0">
                <a:solidFill>
                  <a:srgbClr val="FF0066"/>
                </a:solidFill>
              </a:rPr>
              <a:t>!</a:t>
            </a:r>
          </a:p>
          <a:p>
            <a:pPr algn="ctr"/>
            <a:endParaRPr lang="pt-BR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255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48010B6C-033F-9397-4C8B-F81F2B1E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2025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Paulo Caixeta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2700</TotalTime>
  <Words>2829</Words>
  <Application>Microsoft Office PowerPoint</Application>
  <PresentationFormat>Apresentação na tela (4:3)</PresentationFormat>
  <Paragraphs>326</Paragraphs>
  <Slides>59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Courier New</vt:lpstr>
      <vt:lpstr>Square721 BT</vt:lpstr>
      <vt:lpstr>Times New Roman</vt:lpstr>
      <vt:lpstr>2_Tema do Office</vt:lpstr>
      <vt:lpstr>6_Personalizar design</vt:lpstr>
      <vt:lpstr>1_Tema do Office</vt:lpstr>
      <vt:lpstr>Apresentação do PowerPoint</vt:lpstr>
      <vt:lpstr>Apresentação do PowerPoint</vt:lpstr>
      <vt:lpstr>Conteúdo</vt:lpstr>
      <vt:lpstr>Apresentação do PowerPoint</vt:lpstr>
      <vt:lpstr>Definição</vt:lpstr>
      <vt:lpstr>Características</vt:lpstr>
      <vt:lpstr>Conceitos</vt:lpstr>
      <vt:lpstr>Conceitos</vt:lpstr>
      <vt:lpstr>Conceitos - Tomada de decisão sequencial</vt:lpstr>
      <vt:lpstr>Conceitos - Tomada de decisão sequencial</vt:lpstr>
      <vt:lpstr>Agentes</vt:lpstr>
      <vt:lpstr>Componentes de Agentes: Política</vt:lpstr>
      <vt:lpstr>Componentes de Agentes: Função de Valor</vt:lpstr>
      <vt:lpstr>Componentes de Agentes: Modelo</vt:lpstr>
      <vt:lpstr>Apresentação do PowerPoint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Apresentação do PowerPoint</vt:lpstr>
      <vt:lpstr>Deep-Learning &amp; Redes Neurais Artificiais</vt:lpstr>
      <vt:lpstr>Deep-Learning &amp; Redes Neurais Artificiais</vt:lpstr>
      <vt:lpstr>CNN - O melhor dos dos dois mundos</vt:lpstr>
      <vt:lpstr>CNN - O melhor dos dos dois mundos</vt:lpstr>
      <vt:lpstr>Camada Convolucional</vt:lpstr>
      <vt:lpstr>Filtros Convolucionais</vt:lpstr>
      <vt:lpstr>Camada de Pooling</vt:lpstr>
      <vt:lpstr>Camada de Pooling</vt:lpstr>
      <vt:lpstr>Apresentação do PowerPoint</vt:lpstr>
      <vt:lpstr>Deep Q-Learning</vt:lpstr>
      <vt:lpstr>Deep Q-Learning</vt:lpstr>
      <vt:lpstr>Deep Q-Learning</vt:lpstr>
      <vt:lpstr>Deep Q-Learning</vt:lpstr>
      <vt:lpstr>Deep Q-Learning</vt:lpstr>
      <vt:lpstr>Deep Q-Learning</vt:lpstr>
      <vt:lpstr>Deep Q-Learning</vt:lpstr>
      <vt:lpstr>Deep Q-Learning  -&gt; Experiência por Replay</vt:lpstr>
      <vt:lpstr>Deep Q-Learning  -&gt; Experiência por Replay</vt:lpstr>
      <vt:lpstr>Experiência por Replay -&gt; Evitar esquecer experiências anteriores</vt:lpstr>
      <vt:lpstr>Experiência por Replay -&gt; Evitar esquecer experiências anteriores</vt:lpstr>
      <vt:lpstr>Experiência por Replay -&gt; Evitar esquecer experiências anteriores</vt:lpstr>
      <vt:lpstr>Experiência por Replay -&gt; Evitar esquecer experiências anteriores</vt:lpstr>
      <vt:lpstr>Experiência por Replay -&gt; Evitar esquecer experiências anteriores</vt:lpstr>
      <vt:lpstr>Experiência por Replay -&gt; Evitar esquecer experiências anteriores</vt:lpstr>
      <vt:lpstr>Experiência por Replay -&gt; Evitar esquecer experiências anteriores</vt:lpstr>
      <vt:lpstr>Experiência por Replay -&gt; Evitar esquecer experiências anteriores</vt:lpstr>
      <vt:lpstr>Apresentação do PowerPoint</vt:lpstr>
      <vt:lpstr>Apresentação do PowerPoint</vt:lpstr>
      <vt:lpstr>Apresentação do PowerPoint</vt:lpstr>
      <vt:lpstr>Experiência por Replay -&gt; Evitar esquecer experiências anteriores</vt:lpstr>
      <vt:lpstr>Experiência por Replay -&gt; Evitar esquecer experiências anteriores</vt:lpstr>
      <vt:lpstr>Apresentação do PowerPoint</vt:lpstr>
      <vt:lpstr>Projeto Integrado – Quantum Finance</vt:lpstr>
      <vt:lpstr>Projeto Integrado – Quantum Finance</vt:lpstr>
      <vt:lpstr>Reinforcement Learning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Paulo C Oliveira</cp:lastModifiedBy>
  <cp:revision>337</cp:revision>
  <cp:lastPrinted>2015-08-20T10:58:19Z</cp:lastPrinted>
  <dcterms:created xsi:type="dcterms:W3CDTF">2012-10-02T15:58:15Z</dcterms:created>
  <dcterms:modified xsi:type="dcterms:W3CDTF">2026-04-08T20:48:18Z</dcterms:modified>
</cp:coreProperties>
</file>